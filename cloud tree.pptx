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Default Extension="jpg" ContentType="image/jp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Relationship Id="rId98" Type="http://schemas.openxmlformats.org/officeDocument/2006/relationships/slide" Target="slides/slide93.xml"/><Relationship Id="rId99" Type="http://schemas.openxmlformats.org/officeDocument/2006/relationships/slide" Target="slides/slide94.xml"/><Relationship Id="rId100" Type="http://schemas.openxmlformats.org/officeDocument/2006/relationships/slide" Target="slides/slide95.xml"/><Relationship Id="rId101" Type="http://schemas.openxmlformats.org/officeDocument/2006/relationships/slide" Target="slides/slide96.xml"/><Relationship Id="rId102" Type="http://schemas.openxmlformats.org/officeDocument/2006/relationships/slide" Target="slides/slide97.xml"/><Relationship Id="rId103" Type="http://schemas.openxmlformats.org/officeDocument/2006/relationships/slide" Target="slides/slide98.xml"/><Relationship Id="rId104" Type="http://schemas.openxmlformats.org/officeDocument/2006/relationships/slide" Target="slides/slide99.xml"/><Relationship Id="rId105" Type="http://schemas.openxmlformats.org/officeDocument/2006/relationships/slide" Target="slides/slide100.xml"/><Relationship Id="rId106" Type="http://schemas.openxmlformats.org/officeDocument/2006/relationships/slide" Target="slides/slide101.xml"/><Relationship Id="rId107" Type="http://schemas.openxmlformats.org/officeDocument/2006/relationships/slide" Target="slides/slide102.xml"/><Relationship Id="rId108" Type="http://schemas.openxmlformats.org/officeDocument/2006/relationships/slide" Target="slides/slide103.xml"/><Relationship Id="rId109" Type="http://schemas.openxmlformats.org/officeDocument/2006/relationships/slide" Target="slides/slide104.xml"/><Relationship Id="rId110" Type="http://schemas.openxmlformats.org/officeDocument/2006/relationships/slide" Target="slides/slide105.xml"/><Relationship Id="rId111" Type="http://schemas.openxmlformats.org/officeDocument/2006/relationships/slide" Target="slides/slide106.xml"/><Relationship Id="rId112" Type="http://schemas.openxmlformats.org/officeDocument/2006/relationships/slide" Target="slides/slide107.xml"/><Relationship Id="rId113" Type="http://schemas.openxmlformats.org/officeDocument/2006/relationships/slide" Target="slides/slide108.xml"/><Relationship Id="rId114" Type="http://schemas.openxmlformats.org/officeDocument/2006/relationships/slide" Target="slides/slide109.xml"/><Relationship Id="rId115" Type="http://schemas.openxmlformats.org/officeDocument/2006/relationships/slide" Target="slides/slide110.xml"/><Relationship Id="rId116" Type="http://schemas.openxmlformats.org/officeDocument/2006/relationships/slide" Target="slides/slide111.xml"/><Relationship Id="rId117" Type="http://schemas.openxmlformats.org/officeDocument/2006/relationships/slide" Target="slides/slide112.xml"/><Relationship Id="rId118" Type="http://schemas.openxmlformats.org/officeDocument/2006/relationships/slide" Target="slides/slide113.xml"/><Relationship Id="rId119" Type="http://schemas.openxmlformats.org/officeDocument/2006/relationships/slide" Target="slides/slide114.xml"/><Relationship Id="rId120" Type="http://schemas.openxmlformats.org/officeDocument/2006/relationships/slide" Target="slides/slide115.xml"/><Relationship Id="rId121" Type="http://schemas.openxmlformats.org/officeDocument/2006/relationships/slide" Target="slides/slide116.xml"/><Relationship Id="rId122" Type="http://schemas.openxmlformats.org/officeDocument/2006/relationships/slide" Target="slides/slide117.xml"/><Relationship Id="rId123" Type="http://schemas.openxmlformats.org/officeDocument/2006/relationships/slide" Target="slides/slide118.xml"/><Relationship Id="rId124" Type="http://schemas.openxmlformats.org/officeDocument/2006/relationships/slide" Target="slides/slide119.xml"/><Relationship Id="rId125" Type="http://schemas.openxmlformats.org/officeDocument/2006/relationships/slide" Target="slides/slide120.xml"/><Relationship Id="rId126" Type="http://schemas.openxmlformats.org/officeDocument/2006/relationships/slide" Target="slides/slide121.xml"/><Relationship Id="rId127" Type="http://schemas.openxmlformats.org/officeDocument/2006/relationships/slide" Target="slides/slide122.xml"/><Relationship Id="rId128" Type="http://schemas.openxmlformats.org/officeDocument/2006/relationships/slide" Target="slides/slide123.xml"/><Relationship Id="rId129" Type="http://schemas.openxmlformats.org/officeDocument/2006/relationships/slide" Target="slides/slide124.xml"/><Relationship Id="rId130" Type="http://schemas.openxmlformats.org/officeDocument/2006/relationships/slide" Target="slides/slide125.xml"/><Relationship Id="rId131" Type="http://schemas.openxmlformats.org/officeDocument/2006/relationships/slide" Target="slides/slide126.xml"/><Relationship Id="rId132" Type="http://schemas.openxmlformats.org/officeDocument/2006/relationships/slide" Target="slides/slide127.xml"/><Relationship Id="rId133" Type="http://schemas.openxmlformats.org/officeDocument/2006/relationships/slide" Target="slides/slide128.xml"/><Relationship Id="rId134" Type="http://schemas.openxmlformats.org/officeDocument/2006/relationships/slide" Target="slides/slide129.xml"/><Relationship Id="rId135" Type="http://schemas.openxmlformats.org/officeDocument/2006/relationships/slide" Target="slides/slide130.xml"/><Relationship Id="rId136" Type="http://schemas.openxmlformats.org/officeDocument/2006/relationships/slide" Target="slides/slide131.xml"/><Relationship Id="rId137" Type="http://schemas.openxmlformats.org/officeDocument/2006/relationships/slide" Target="slides/slide132.xml"/><Relationship Id="rId138" Type="http://schemas.openxmlformats.org/officeDocument/2006/relationships/slide" Target="slides/slide133.xml"/><Relationship Id="rId139" Type="http://schemas.openxmlformats.org/officeDocument/2006/relationships/slide" Target="slides/slide134.xml"/><Relationship Id="rId140" Type="http://schemas.openxmlformats.org/officeDocument/2006/relationships/slide" Target="slides/slide135.xml"/><Relationship Id="rId141" Type="http://schemas.openxmlformats.org/officeDocument/2006/relationships/slide" Target="slides/slide136.xml"/><Relationship Id="rId142" Type="http://schemas.openxmlformats.org/officeDocument/2006/relationships/slide" Target="slides/slide137.xml"/><Relationship Id="rId143" Type="http://schemas.openxmlformats.org/officeDocument/2006/relationships/slide" Target="slides/slide138.xml"/><Relationship Id="rId144" Type="http://schemas.openxmlformats.org/officeDocument/2006/relationships/slide" Target="slides/slide139.xml"/><Relationship Id="rId145" Type="http://schemas.openxmlformats.org/officeDocument/2006/relationships/slide" Target="slides/slide140.xml"/><Relationship Id="rId146" Type="http://schemas.openxmlformats.org/officeDocument/2006/relationships/slide" Target="slides/slide141.xml"/><Relationship Id="rId147" Type="http://schemas.openxmlformats.org/officeDocument/2006/relationships/slide" Target="slides/slide142.xml"/><Relationship Id="rId148" Type="http://schemas.openxmlformats.org/officeDocument/2006/relationships/slide" Target="slides/slide143.xml"/><Relationship Id="rId149" Type="http://schemas.openxmlformats.org/officeDocument/2006/relationships/slide" Target="slides/slide144.xml"/><Relationship Id="rId150" Type="http://schemas.openxmlformats.org/officeDocument/2006/relationships/slide" Target="slides/slide145.xml"/><Relationship Id="rId151" Type="http://schemas.openxmlformats.org/officeDocument/2006/relationships/slide" Target="slides/slide146.xml"/><Relationship Id="rId152" Type="http://schemas.openxmlformats.org/officeDocument/2006/relationships/slide" Target="slides/slide147.xml"/><Relationship Id="rId153" Type="http://schemas.openxmlformats.org/officeDocument/2006/relationships/slide" Target="slides/slide148.xml"/><Relationship Id="rId154" Type="http://schemas.openxmlformats.org/officeDocument/2006/relationships/slide" Target="slides/slide149.xml"/><Relationship Id="rId155" Type="http://schemas.openxmlformats.org/officeDocument/2006/relationships/slide" Target="slides/slide150.xml"/><Relationship Id="rId156" Type="http://schemas.openxmlformats.org/officeDocument/2006/relationships/slide" Target="slides/slide151.xml"/><Relationship Id="rId157" Type="http://schemas.openxmlformats.org/officeDocument/2006/relationships/slide" Target="slides/slide152.xml"/><Relationship Id="rId158" Type="http://schemas.openxmlformats.org/officeDocument/2006/relationships/slide" Target="slides/slide153.xml"/><Relationship Id="rId159" Type="http://schemas.openxmlformats.org/officeDocument/2006/relationships/slide" Target="slides/slide154.xml"/><Relationship Id="rId160" Type="http://schemas.openxmlformats.org/officeDocument/2006/relationships/slide" Target="slides/slide155.xml"/><Relationship Id="rId161" Type="http://schemas.openxmlformats.org/officeDocument/2006/relationships/slide" Target="slides/slide156.xml"/><Relationship Id="rId162" Type="http://schemas.openxmlformats.org/officeDocument/2006/relationships/slide" Target="slides/slide157.xml"/><Relationship Id="rId163" Type="http://schemas.openxmlformats.org/officeDocument/2006/relationships/slide" Target="slides/slide158.xml"/><Relationship Id="rId164" Type="http://schemas.openxmlformats.org/officeDocument/2006/relationships/slide" Target="slides/slide159.xml"/><Relationship Id="rId165" Type="http://schemas.openxmlformats.org/officeDocument/2006/relationships/slide" Target="slides/slide160.xml"/><Relationship Id="rId166" Type="http://schemas.openxmlformats.org/officeDocument/2006/relationships/slide" Target="slides/slide161.xml"/><Relationship Id="rId167" Type="http://schemas.openxmlformats.org/officeDocument/2006/relationships/slide" Target="slides/slide162.xml"/><Relationship Id="rId168" Type="http://schemas.openxmlformats.org/officeDocument/2006/relationships/slide" Target="slides/slide163.xml"/><Relationship Id="rId169" Type="http://schemas.openxmlformats.org/officeDocument/2006/relationships/slide" Target="slides/slide164.xml"/><Relationship Id="rId170" Type="http://schemas.openxmlformats.org/officeDocument/2006/relationships/slide" Target="slides/slide165.xml"/><Relationship Id="rId171" Type="http://schemas.openxmlformats.org/officeDocument/2006/relationships/slide" Target="slides/slide166.xml"/><Relationship Id="rId172" Type="http://schemas.openxmlformats.org/officeDocument/2006/relationships/slide" Target="slides/slide167.xml"/><Relationship Id="rId173" Type="http://schemas.openxmlformats.org/officeDocument/2006/relationships/slide" Target="slides/slide168.xml"/><Relationship Id="rId174" Type="http://schemas.openxmlformats.org/officeDocument/2006/relationships/slide" Target="slides/slide169.xml"/><Relationship Id="rId175" Type="http://schemas.openxmlformats.org/officeDocument/2006/relationships/slide" Target="slides/slide170.xml"/><Relationship Id="rId176" Type="http://schemas.openxmlformats.org/officeDocument/2006/relationships/slide" Target="slides/slide171.xml"/><Relationship Id="rId177" Type="http://schemas.openxmlformats.org/officeDocument/2006/relationships/slide" Target="slides/slide17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8739" y="-63880"/>
            <a:ext cx="12034520" cy="7727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C000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739" y="1335151"/>
            <a:ext cx="8046720" cy="3380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27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jpg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jpg"/><Relationship Id="rId3" Type="http://schemas.openxmlformats.org/officeDocument/2006/relationships/image" Target="../media/image31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/Relationships>
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/Relationships>
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Relationship Id="rId3" Type="http://schemas.openxmlformats.org/officeDocument/2006/relationships/image" Target="../media/image44.jpg"/></Relationships>

</file>

<file path=ppt/slides/_rels/slide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/Relationships>

</file>

<file path=ppt/slides/_rels/slide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/Relationships>

</file>

<file path=ppt/slides/_rels/slide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jpg"/></Relationships>

</file>

<file path=ppt/slides/_rels/slide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jpg"/><Relationship Id="rId3" Type="http://schemas.openxmlformats.org/officeDocument/2006/relationships/image" Target="../media/image49.jpg"/><Relationship Id="rId4" Type="http://schemas.openxmlformats.org/officeDocument/2006/relationships/image" Target="../media/image47.jpg"/></Relationships>

</file>

<file path=ppt/slides/_rels/slide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png"/></Relationships>

</file>

<file path=ppt/slides/_rels/slide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jpg"/></Relationships>

</file>

<file path=ppt/slides/_rels/slide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jpg"/></Relationships>

</file>

<file path=ppt/slides/_rels/slide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jpg"/></Relationships>

</file>

<file path=ppt/slides/_rels/slide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jpg"/></Relationships>

</file>

<file path=ppt/slides/_rels/slide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jpg"/></Relationships>

</file>

<file path=ppt/slides/_rels/slide7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6.jpg"/></Relationships>

</file>

<file path=ppt/slides/_rels/slide7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jpg"/></Relationships>

</file>

<file path=ppt/slides/_rels/slide7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8.jpg"/></Relationships>

</file>

<file path=ppt/slides/_rels/slide7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jpg"/></Relationships>

</file>

<file path=ppt/slides/_rels/slide7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.jpg"/></Relationships>

</file>

<file path=ppt/slides/_rels/slide8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jpg"/></Relationships>

</file>

<file path=ppt/slides/_rels/slide8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jpg"/></Relationships>

</file>

<file path=ppt/slides/_rels/slide8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/Relationships>

</file>

<file path=ppt/slides/_rels/slide8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/Relationships>

</file>

<file path=ppt/slides/_rels/slide9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jpg"/></Relationships>

</file>

<file path=ppt/slides/_rels/slide9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7.jpg"/></Relationships>

</file>

<file path=ppt/slides/_rels/slide9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jpg"/><Relationship Id="rId3" Type="http://schemas.openxmlformats.org/officeDocument/2006/relationships/image" Target="../media/image69.jpg"/></Relationships>
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jpg"/></Relationships>
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0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image" Target="../media/image71.jpg"/></Relationships>

</file>

<file path=ppt/slides/_rels/slide1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Relationship Id="rId3" Type="http://schemas.openxmlformats.org/officeDocument/2006/relationships/image" Target="../media/image71.jpg"/></Relationships>

</file>

<file path=ppt/slides/_rels/slide1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72.jpg"/></Relationships>

</file>

<file path=ppt/slides/_rels/slide1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jpg"/></Relationships>

</file>

<file path=ppt/slides/_rels/slide1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jpg"/></Relationships>

</file>

<file path=ppt/slides/_rels/slide1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5.jpg"/></Relationships>

</file>

<file path=ppt/slides/_rels/slide1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jpg"/></Relationships>

</file>

<file path=ppt/slides/_rels/slide1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jpg"/><Relationship Id="rId3" Type="http://schemas.openxmlformats.org/officeDocument/2006/relationships/image" Target="../media/image78.png"/></Relationships>

</file>

<file path=ppt/slides/_rels/slide1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jpg"/><Relationship Id="rId3" Type="http://schemas.openxmlformats.org/officeDocument/2006/relationships/image" Target="../media/image79.png"/></Relationships>

</file>

<file path=ppt/slides/_rels/slide1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png"/></Relationships>

</file>

<file path=ppt/slides/_rels/slide1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jpg"/></Relationships>

</file>

<file path=ppt/slides/_rels/slide1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jpg"/></Relationships>

</file>

<file path=ppt/slides/_rels/slide1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jpg"/></Relationships>

</file>

<file path=ppt/slides/_rels/slide1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jpg"/></Relationships>

</file>

<file path=ppt/slides/_rels/slide1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jpg"/></Relationships>

</file>

<file path=ppt/slides/_rels/slide1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1.jpg"/></Relationships>

</file>

<file path=ppt/slides/_rels/slide1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jpg"/></Relationships>

</file>

<file path=ppt/slides/_rels/slide15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jpg"/></Relationships>

</file>

<file path=ppt/slides/_rels/slide16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3.jpg"/></Relationships>

</file>

<file path=ppt/slides/_rels/slide16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4.png"/></Relationships>

</file>

<file path=ppt/slides/_rels/slide16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5.png"/></Relationships>

</file>

<file path=ppt/slides/_rels/slide16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3132" y="448944"/>
            <a:ext cx="6817550" cy="47976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338829" y="590753"/>
            <a:ext cx="5514975" cy="2120265"/>
          </a:xfrm>
          <a:prstGeom prst="rect"/>
        </p:spPr>
        <p:txBody>
          <a:bodyPr wrap="square" lIns="0" tIns="125730" rIns="0" bIns="0" rtlCol="0" vert="horz">
            <a:spAutoFit/>
          </a:bodyPr>
          <a:lstStyle/>
          <a:p>
            <a:pPr marL="12700" marR="5080" indent="1188720">
              <a:lnSpc>
                <a:spcPts val="7850"/>
              </a:lnSpc>
              <a:spcBef>
                <a:spcPts val="990"/>
              </a:spcBef>
            </a:pPr>
            <a:r>
              <a:rPr dirty="0" sz="7200" spc="-10">
                <a:solidFill>
                  <a:srgbClr val="001F5F"/>
                </a:solidFill>
                <a:latin typeface="Tahoma"/>
                <a:cs typeface="Tahoma"/>
              </a:rPr>
              <a:t>CLOUD </a:t>
            </a:r>
            <a:r>
              <a:rPr dirty="0" sz="7200" spc="-315">
                <a:solidFill>
                  <a:srgbClr val="001F5F"/>
                </a:solidFill>
                <a:latin typeface="Tahoma"/>
                <a:cs typeface="Tahoma"/>
              </a:rPr>
              <a:t>COMPUTING</a:t>
            </a:r>
            <a:endParaRPr sz="7200">
              <a:latin typeface="Tahoma"/>
              <a:cs typeface="Tahoma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4527930" y="2753995"/>
            <a:ext cx="31349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60" b="1">
                <a:latin typeface="Tahoma"/>
                <a:cs typeface="Tahoma"/>
              </a:rPr>
              <a:t>(21CS7PECCT)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2343657" y="3802760"/>
            <a:ext cx="7503159" cy="2891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0"/>
              </a:spcBef>
            </a:pPr>
            <a:r>
              <a:rPr dirty="0" sz="2400" spc="-140" b="1">
                <a:solidFill>
                  <a:srgbClr val="00391A"/>
                </a:solidFill>
                <a:latin typeface="Tahoma"/>
                <a:cs typeface="Tahoma"/>
              </a:rPr>
              <a:t>Dr.Rajeshwari</a:t>
            </a:r>
            <a:r>
              <a:rPr dirty="0" sz="2400" spc="5" b="1">
                <a:solidFill>
                  <a:srgbClr val="00391A"/>
                </a:solidFill>
                <a:latin typeface="Tahoma"/>
                <a:cs typeface="Tahoma"/>
              </a:rPr>
              <a:t> </a:t>
            </a:r>
            <a:r>
              <a:rPr dirty="0" sz="2400" spc="-265" b="1">
                <a:solidFill>
                  <a:srgbClr val="00391A"/>
                </a:solidFill>
                <a:latin typeface="Tahoma"/>
                <a:cs typeface="Tahoma"/>
              </a:rPr>
              <a:t>B</a:t>
            </a:r>
            <a:r>
              <a:rPr dirty="0" sz="2400" spc="15" b="1">
                <a:solidFill>
                  <a:srgbClr val="00391A"/>
                </a:solidFill>
                <a:latin typeface="Tahoma"/>
                <a:cs typeface="Tahoma"/>
              </a:rPr>
              <a:t> </a:t>
            </a:r>
            <a:r>
              <a:rPr dirty="0" sz="2400" spc="-340" b="1">
                <a:solidFill>
                  <a:srgbClr val="00391A"/>
                </a:solidFill>
                <a:latin typeface="Tahoma"/>
                <a:cs typeface="Tahoma"/>
              </a:rPr>
              <a:t>S</a:t>
            </a:r>
            <a:endParaRPr sz="2400">
              <a:latin typeface="Tahoma"/>
              <a:cs typeface="Tahoma"/>
            </a:endParaRPr>
          </a:p>
          <a:p>
            <a:pPr algn="ctr" marL="1905">
              <a:lnSpc>
                <a:spcPct val="100000"/>
              </a:lnSpc>
              <a:spcBef>
                <a:spcPts val="2039"/>
              </a:spcBef>
            </a:pPr>
            <a:r>
              <a:rPr dirty="0" sz="2400" spc="-130" b="1">
                <a:solidFill>
                  <a:srgbClr val="00391A"/>
                </a:solidFill>
                <a:latin typeface="Tahoma"/>
                <a:cs typeface="Tahoma"/>
              </a:rPr>
              <a:t>Assistant</a:t>
            </a:r>
            <a:r>
              <a:rPr dirty="0" sz="2400" spc="20" b="1">
                <a:solidFill>
                  <a:srgbClr val="00391A"/>
                </a:solidFill>
                <a:latin typeface="Tahoma"/>
                <a:cs typeface="Tahoma"/>
              </a:rPr>
              <a:t> </a:t>
            </a:r>
            <a:r>
              <a:rPr dirty="0" sz="2400" spc="-25" b="1">
                <a:solidFill>
                  <a:srgbClr val="00391A"/>
                </a:solidFill>
                <a:latin typeface="Tahoma"/>
                <a:cs typeface="Tahoma"/>
              </a:rPr>
              <a:t>Professor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039"/>
              </a:spcBef>
            </a:pPr>
            <a:r>
              <a:rPr dirty="0" sz="2400" spc="-70" b="1">
                <a:solidFill>
                  <a:srgbClr val="00391A"/>
                </a:solidFill>
                <a:latin typeface="Tahoma"/>
                <a:cs typeface="Tahoma"/>
              </a:rPr>
              <a:t>Department</a:t>
            </a:r>
            <a:r>
              <a:rPr dirty="0" sz="2400" spc="-40" b="1">
                <a:solidFill>
                  <a:srgbClr val="00391A"/>
                </a:solidFill>
                <a:latin typeface="Tahoma"/>
                <a:cs typeface="Tahoma"/>
              </a:rPr>
              <a:t> </a:t>
            </a:r>
            <a:r>
              <a:rPr dirty="0" sz="2400" spc="-50" b="1">
                <a:solidFill>
                  <a:srgbClr val="00391A"/>
                </a:solidFill>
                <a:latin typeface="Tahoma"/>
                <a:cs typeface="Tahoma"/>
              </a:rPr>
              <a:t>of</a:t>
            </a:r>
            <a:r>
              <a:rPr dirty="0" sz="2400" spc="-20" b="1">
                <a:solidFill>
                  <a:srgbClr val="00391A"/>
                </a:solidFill>
                <a:latin typeface="Tahoma"/>
                <a:cs typeface="Tahoma"/>
              </a:rPr>
              <a:t> </a:t>
            </a:r>
            <a:r>
              <a:rPr dirty="0" sz="2400" spc="-25" b="1">
                <a:solidFill>
                  <a:srgbClr val="00391A"/>
                </a:solidFill>
                <a:latin typeface="Tahoma"/>
                <a:cs typeface="Tahoma"/>
              </a:rPr>
              <a:t>Computer</a:t>
            </a:r>
            <a:r>
              <a:rPr dirty="0" sz="2400" spc="-35" b="1">
                <a:solidFill>
                  <a:srgbClr val="00391A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391A"/>
                </a:solidFill>
                <a:latin typeface="Tahoma"/>
                <a:cs typeface="Tahoma"/>
              </a:rPr>
              <a:t>Science</a:t>
            </a:r>
            <a:r>
              <a:rPr dirty="0" sz="2400" spc="-20" b="1">
                <a:solidFill>
                  <a:srgbClr val="00391A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391A"/>
                </a:solidFill>
                <a:latin typeface="Tahoma"/>
                <a:cs typeface="Tahoma"/>
              </a:rPr>
              <a:t>and</a:t>
            </a:r>
            <a:r>
              <a:rPr dirty="0" sz="2400" spc="-30" b="1">
                <a:solidFill>
                  <a:srgbClr val="00391A"/>
                </a:solidFill>
                <a:latin typeface="Tahoma"/>
                <a:cs typeface="Tahoma"/>
              </a:rPr>
              <a:t> </a:t>
            </a:r>
            <a:r>
              <a:rPr dirty="0" sz="2400" spc="-35" b="1">
                <a:solidFill>
                  <a:srgbClr val="00391A"/>
                </a:solidFill>
                <a:latin typeface="Tahoma"/>
                <a:cs typeface="Tahoma"/>
              </a:rPr>
              <a:t>Engineering</a:t>
            </a:r>
            <a:endParaRPr sz="2400">
              <a:latin typeface="Tahoma"/>
              <a:cs typeface="Tahoma"/>
            </a:endParaRPr>
          </a:p>
          <a:p>
            <a:pPr marL="3004185" marR="1628139" indent="-1370330">
              <a:lnSpc>
                <a:spcPct val="170800"/>
              </a:lnSpc>
            </a:pPr>
            <a:r>
              <a:rPr dirty="0" sz="2400" spc="-135" b="1">
                <a:solidFill>
                  <a:srgbClr val="00391A"/>
                </a:solidFill>
                <a:latin typeface="Tahoma"/>
                <a:cs typeface="Tahoma"/>
              </a:rPr>
              <a:t>B.M.S</a:t>
            </a:r>
            <a:r>
              <a:rPr dirty="0" sz="2400" spc="35" b="1">
                <a:solidFill>
                  <a:srgbClr val="00391A"/>
                </a:solidFill>
                <a:latin typeface="Tahoma"/>
                <a:cs typeface="Tahoma"/>
              </a:rPr>
              <a:t> </a:t>
            </a:r>
            <a:r>
              <a:rPr dirty="0" sz="2400" b="1">
                <a:solidFill>
                  <a:srgbClr val="00391A"/>
                </a:solidFill>
                <a:latin typeface="Tahoma"/>
                <a:cs typeface="Tahoma"/>
              </a:rPr>
              <a:t>College</a:t>
            </a:r>
            <a:r>
              <a:rPr dirty="0" sz="2400" spc="35" b="1">
                <a:solidFill>
                  <a:srgbClr val="00391A"/>
                </a:solidFill>
                <a:latin typeface="Tahoma"/>
                <a:cs typeface="Tahoma"/>
              </a:rPr>
              <a:t> </a:t>
            </a:r>
            <a:r>
              <a:rPr dirty="0" sz="2400" spc="-85" b="1">
                <a:solidFill>
                  <a:srgbClr val="00391A"/>
                </a:solidFill>
                <a:latin typeface="Tahoma"/>
                <a:cs typeface="Tahoma"/>
              </a:rPr>
              <a:t>of</a:t>
            </a:r>
            <a:r>
              <a:rPr dirty="0" sz="2400" spc="25" b="1">
                <a:solidFill>
                  <a:srgbClr val="00391A"/>
                </a:solidFill>
                <a:latin typeface="Tahoma"/>
                <a:cs typeface="Tahoma"/>
              </a:rPr>
              <a:t> </a:t>
            </a:r>
            <a:r>
              <a:rPr dirty="0" sz="2400" spc="-65" b="1">
                <a:solidFill>
                  <a:srgbClr val="00391A"/>
                </a:solidFill>
                <a:latin typeface="Tahoma"/>
                <a:cs typeface="Tahoma"/>
              </a:rPr>
              <a:t>Engineering </a:t>
            </a:r>
            <a:r>
              <a:rPr dirty="0" sz="2400" spc="-10" b="1">
                <a:solidFill>
                  <a:srgbClr val="00391A"/>
                </a:solidFill>
                <a:latin typeface="Tahoma"/>
                <a:cs typeface="Tahoma"/>
              </a:rPr>
              <a:t>Bengaluru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3542" rIns="0" bIns="0" rtlCol="0" vert="horz">
            <a:spAutoFit/>
          </a:bodyPr>
          <a:lstStyle/>
          <a:p>
            <a:pPr marL="4171315">
              <a:lnSpc>
                <a:spcPct val="100000"/>
              </a:lnSpc>
              <a:spcBef>
                <a:spcPts val="100"/>
              </a:spcBef>
            </a:pPr>
            <a:r>
              <a:rPr dirty="0" spc="-35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7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COMPUTING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0796" y="679704"/>
            <a:ext cx="9200869" cy="495452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3542" rIns="0" bIns="0" rtlCol="0" vert="horz">
            <a:spAutoFit/>
          </a:bodyPr>
          <a:lstStyle/>
          <a:p>
            <a:pPr marL="4171315">
              <a:lnSpc>
                <a:spcPct val="100000"/>
              </a:lnSpc>
              <a:spcBef>
                <a:spcPts val="100"/>
              </a:spcBef>
            </a:pPr>
            <a:r>
              <a:rPr dirty="0" spc="-35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7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COMPUTING</a:t>
            </a:r>
          </a:p>
        </p:txBody>
      </p:sp>
      <p:grpSp>
        <p:nvGrpSpPr>
          <p:cNvPr id="3" name="object 3" descr=""/>
          <p:cNvGrpSpPr/>
          <p:nvPr/>
        </p:nvGrpSpPr>
        <p:grpSpPr>
          <a:xfrm>
            <a:off x="1266022" y="1802892"/>
            <a:ext cx="8542020" cy="4555490"/>
            <a:chOff x="1266022" y="1802892"/>
            <a:chExt cx="8542020" cy="455549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6022" y="4076700"/>
              <a:ext cx="8541706" cy="2281428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7257" y="1802892"/>
              <a:ext cx="8488246" cy="227380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3542" rIns="0" bIns="0" rtlCol="0" vert="horz">
            <a:spAutoFit/>
          </a:bodyPr>
          <a:lstStyle/>
          <a:p>
            <a:pPr marL="4171315">
              <a:lnSpc>
                <a:spcPct val="100000"/>
              </a:lnSpc>
              <a:spcBef>
                <a:spcPts val="100"/>
              </a:spcBef>
            </a:pPr>
            <a:r>
              <a:rPr dirty="0" spc="-35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7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COMPUTING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9541" y="1581911"/>
            <a:ext cx="7657276" cy="307531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3542" rIns="0" bIns="0" rtlCol="0" vert="horz">
            <a:spAutoFit/>
          </a:bodyPr>
          <a:lstStyle/>
          <a:p>
            <a:pPr marL="4171315">
              <a:lnSpc>
                <a:spcPct val="100000"/>
              </a:lnSpc>
              <a:spcBef>
                <a:spcPts val="100"/>
              </a:spcBef>
            </a:pPr>
            <a:r>
              <a:rPr dirty="0" spc="-35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7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COMPUTING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8175" y="1394142"/>
            <a:ext cx="8662416" cy="48466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7482" y="76961"/>
            <a:ext cx="3723004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5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7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COMPUTING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689356"/>
            <a:ext cx="12035155" cy="13779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Calibri"/>
                <a:cs typeface="Calibri"/>
              </a:rPr>
              <a:t>Cloud</a:t>
            </a:r>
            <a:r>
              <a:rPr dirty="0" sz="1800" spc="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computing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service</a:t>
            </a:r>
            <a:r>
              <a:rPr dirty="0" sz="1800" spc="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provisioning</a:t>
            </a:r>
            <a:r>
              <a:rPr dirty="0" sz="1800" spc="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technique</a:t>
            </a:r>
            <a:r>
              <a:rPr dirty="0" sz="1800" spc="4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where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computing</a:t>
            </a:r>
            <a:r>
              <a:rPr dirty="0" sz="1800" spc="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resources</a:t>
            </a:r>
            <a:r>
              <a:rPr dirty="0" sz="1800" spc="4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like</a:t>
            </a:r>
            <a:r>
              <a:rPr dirty="0" sz="1800" spc="5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hardware</a:t>
            </a:r>
            <a:r>
              <a:rPr dirty="0" sz="1800" spc="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such</a:t>
            </a:r>
            <a:r>
              <a:rPr dirty="0" sz="1800" spc="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as</a:t>
            </a:r>
            <a:r>
              <a:rPr dirty="0" sz="1800" spc="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servers</a:t>
            </a:r>
            <a:r>
              <a:rPr dirty="0" sz="1800" spc="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4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storage </a:t>
            </a:r>
            <a:r>
              <a:rPr dirty="0" sz="1800" b="1">
                <a:latin typeface="Calibri"/>
                <a:cs typeface="Calibri"/>
              </a:rPr>
              <a:t>devices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software's</a:t>
            </a:r>
            <a:r>
              <a:rPr dirty="0" sz="1800" spc="7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7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complete</a:t>
            </a:r>
            <a:r>
              <a:rPr dirty="0" sz="1800" spc="8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platform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developing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applications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provided</a:t>
            </a:r>
            <a:r>
              <a:rPr dirty="0" sz="1800" spc="7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as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service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8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providers</a:t>
            </a:r>
            <a:r>
              <a:rPr dirty="0" sz="1800" spc="75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to</a:t>
            </a:r>
            <a:endParaRPr sz="1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80"/>
              </a:spcBef>
            </a:pP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10" b="1">
                <a:latin typeface="Calibri"/>
                <a:cs typeface="Calibri"/>
              </a:rPr>
              <a:t> customers</a:t>
            </a:r>
            <a:r>
              <a:rPr dirty="0" sz="2400" spc="-1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671572" y="2241804"/>
            <a:ext cx="6932930" cy="4058920"/>
            <a:chOff x="2671572" y="2241804"/>
            <a:chExt cx="6932930" cy="405892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71572" y="2241804"/>
              <a:ext cx="6597396" cy="2857500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72783" y="5099304"/>
              <a:ext cx="6731443" cy="120091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6740" rIns="0" bIns="0" rtlCol="0" vert="horz">
            <a:spAutoFit/>
          </a:bodyPr>
          <a:lstStyle/>
          <a:p>
            <a:pPr marL="3409315">
              <a:lnSpc>
                <a:spcPct val="100000"/>
              </a:lnSpc>
              <a:spcBef>
                <a:spcPts val="100"/>
              </a:spcBef>
            </a:pPr>
            <a:r>
              <a:rPr dirty="0" spc="-35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4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5" b="0">
                <a:solidFill>
                  <a:srgbClr val="000000"/>
                </a:solidFill>
                <a:latin typeface="Calibri Light"/>
                <a:cs typeface="Calibri Light"/>
              </a:rPr>
              <a:t>COMPUTING</a:t>
            </a:r>
            <a:r>
              <a:rPr dirty="0" spc="-16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(Cont…)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716661"/>
            <a:ext cx="12035155" cy="848360"/>
          </a:xfrm>
          <a:prstGeom prst="rect">
            <a:avLst/>
          </a:prstGeom>
        </p:spPr>
        <p:txBody>
          <a:bodyPr wrap="square" lIns="0" tIns="149860" rIns="0" bIns="0" rtlCol="0" vert="horz">
            <a:spAutoFit/>
          </a:bodyPr>
          <a:lstStyle/>
          <a:p>
            <a:pPr marL="376555" indent="-363855">
              <a:lnSpc>
                <a:spcPct val="100000"/>
              </a:lnSpc>
              <a:spcBef>
                <a:spcPts val="1180"/>
              </a:spcBef>
              <a:buFont typeface="Arial MT"/>
              <a:buChar char="•"/>
              <a:tabLst>
                <a:tab pos="376555" algn="l"/>
              </a:tabLst>
            </a:pPr>
            <a:r>
              <a:rPr dirty="0" sz="1800">
                <a:latin typeface="Calibri"/>
                <a:cs typeface="Calibri"/>
              </a:rPr>
              <a:t>Customers</a:t>
            </a:r>
            <a:r>
              <a:rPr dirty="0" sz="1800" spc="42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can</a:t>
            </a:r>
            <a:r>
              <a:rPr dirty="0" sz="1800" spc="4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use</a:t>
            </a:r>
            <a:r>
              <a:rPr dirty="0" sz="1800" spc="434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these</a:t>
            </a:r>
            <a:r>
              <a:rPr dirty="0" sz="1800" spc="4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resources</a:t>
            </a:r>
            <a:r>
              <a:rPr dirty="0" sz="1800" spc="4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as</a:t>
            </a:r>
            <a:r>
              <a:rPr dirty="0" sz="1800" spc="4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4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when</a:t>
            </a:r>
            <a:r>
              <a:rPr dirty="0" sz="1800" spc="434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needed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 spc="41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can</a:t>
            </a:r>
            <a:r>
              <a:rPr dirty="0" sz="1800" spc="4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increase</a:t>
            </a:r>
            <a:r>
              <a:rPr dirty="0" sz="1800" spc="434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or</a:t>
            </a:r>
            <a:r>
              <a:rPr dirty="0" sz="1800" spc="40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decrease</a:t>
            </a:r>
            <a:r>
              <a:rPr dirty="0" sz="1800" spc="434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resource</a:t>
            </a:r>
            <a:r>
              <a:rPr dirty="0" sz="1800" spc="4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capacities</a:t>
            </a:r>
            <a:r>
              <a:rPr dirty="0" sz="1800" spc="41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dynamically</a:t>
            </a:r>
            <a:endParaRPr sz="1800">
              <a:latin typeface="Calibri"/>
              <a:cs typeface="Calibri"/>
            </a:endParaRPr>
          </a:p>
          <a:p>
            <a:pPr marL="376555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Calibri"/>
                <a:cs typeface="Calibri"/>
              </a:rPr>
              <a:t>according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their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requirements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pay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only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how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much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resource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were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used</a:t>
            </a:r>
            <a:r>
              <a:rPr dirty="0" sz="1800" spc="-1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2561082"/>
            <a:ext cx="12035155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6555" marR="5080" indent="-36449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76555" algn="l"/>
              </a:tabLst>
            </a:pPr>
            <a:r>
              <a:rPr dirty="0" sz="1800">
                <a:latin typeface="Calibri"/>
                <a:cs typeface="Calibri"/>
              </a:rPr>
              <a:t>Customers</a:t>
            </a:r>
            <a:r>
              <a:rPr dirty="0" sz="1800" spc="16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no</a:t>
            </a:r>
            <a:r>
              <a:rPr dirty="0" sz="1800" spc="1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need</a:t>
            </a:r>
            <a:r>
              <a:rPr dirty="0" sz="1800" spc="1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1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invest</a:t>
            </a:r>
            <a:r>
              <a:rPr dirty="0" sz="1800" spc="1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money</a:t>
            </a:r>
            <a:r>
              <a:rPr dirty="0" sz="1800" spc="1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1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purchase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 spc="16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manage</a:t>
            </a:r>
            <a:r>
              <a:rPr dirty="0" sz="1800" spc="17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17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scale</a:t>
            </a:r>
            <a:r>
              <a:rPr dirty="0" sz="1800" spc="1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infrastructures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 spc="16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software</a:t>
            </a:r>
            <a:r>
              <a:rPr dirty="0" sz="1800" spc="1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upgradation</a:t>
            </a:r>
            <a:r>
              <a:rPr dirty="0" sz="1800" spc="17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170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software licensing.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407797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7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Service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Models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64" y="757173"/>
            <a:ext cx="9357360" cy="11461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5285" indent="-36258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75285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services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provided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cloud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providers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broadly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classified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into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three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categories: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lvl="1" marL="1263650" indent="-537845">
              <a:lnSpc>
                <a:spcPct val="100000"/>
              </a:lnSpc>
              <a:buFont typeface="Wingdings"/>
              <a:buChar char=""/>
              <a:tabLst>
                <a:tab pos="1263650" algn="l"/>
              </a:tabLst>
            </a:pPr>
            <a:r>
              <a:rPr dirty="0" sz="1800" spc="-10" b="1">
                <a:latin typeface="Calibri"/>
                <a:cs typeface="Calibri"/>
              </a:rPr>
              <a:t>Infrastructure-as-a-</a:t>
            </a:r>
            <a:r>
              <a:rPr dirty="0" sz="1800" b="1">
                <a:latin typeface="Calibri"/>
                <a:cs typeface="Calibri"/>
              </a:rPr>
              <a:t>Service</a:t>
            </a:r>
            <a:r>
              <a:rPr dirty="0" sz="1800" spc="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(IaaS)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93495" y="2828925"/>
            <a:ext cx="32391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0545" indent="-53784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550545" algn="l"/>
              </a:tabLst>
            </a:pPr>
            <a:r>
              <a:rPr dirty="0" sz="1800" spc="-10" b="1">
                <a:latin typeface="Calibri"/>
                <a:cs typeface="Calibri"/>
              </a:rPr>
              <a:t>Platform-as-a-</a:t>
            </a:r>
            <a:r>
              <a:rPr dirty="0" sz="1800" b="1">
                <a:latin typeface="Calibri"/>
                <a:cs typeface="Calibri"/>
              </a:rPr>
              <a:t>Service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(PaaS)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93495" y="4052392"/>
            <a:ext cx="32639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0545" indent="-53784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550545" algn="l"/>
              </a:tabLst>
            </a:pPr>
            <a:r>
              <a:rPr dirty="0" sz="1800" spc="-10" b="1">
                <a:latin typeface="Calibri"/>
                <a:cs typeface="Calibri"/>
              </a:rPr>
              <a:t>Software-as-a-</a:t>
            </a:r>
            <a:r>
              <a:rPr dirty="0" sz="1800" b="1">
                <a:latin typeface="Calibri"/>
                <a:cs typeface="Calibri"/>
              </a:rPr>
              <a:t>Service</a:t>
            </a:r>
            <a:r>
              <a:rPr dirty="0" sz="1800" spc="1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(SaaS)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4517" y="46735"/>
            <a:ext cx="39077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7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Service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Models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659129"/>
            <a:ext cx="12034520" cy="1260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76555" marR="5080" indent="-36449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76555" algn="l"/>
              </a:tabLst>
            </a:pPr>
            <a:r>
              <a:rPr dirty="0" sz="1800" spc="-10" b="1">
                <a:latin typeface="Calibri"/>
                <a:cs typeface="Calibri"/>
              </a:rPr>
              <a:t>Infrastructure-as-a-</a:t>
            </a:r>
            <a:r>
              <a:rPr dirty="0" sz="1800" b="1">
                <a:latin typeface="Calibri"/>
                <a:cs typeface="Calibri"/>
              </a:rPr>
              <a:t>Service</a:t>
            </a:r>
            <a:r>
              <a:rPr dirty="0" sz="1800" spc="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(IaaS):</a:t>
            </a:r>
            <a:r>
              <a:rPr dirty="0" sz="1800" spc="1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Infrastructure-</a:t>
            </a:r>
            <a:r>
              <a:rPr dirty="0" sz="1800">
                <a:latin typeface="Calibri"/>
                <a:cs typeface="Calibri"/>
              </a:rPr>
              <a:t>as-</a:t>
            </a:r>
            <a:r>
              <a:rPr dirty="0" sz="1800" spc="-20">
                <a:latin typeface="Calibri"/>
                <a:cs typeface="Calibri"/>
              </a:rPr>
              <a:t>a-</a:t>
            </a:r>
            <a:r>
              <a:rPr dirty="0" sz="1800">
                <a:latin typeface="Calibri"/>
                <a:cs typeface="Calibri"/>
              </a:rPr>
              <a:t>Service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model,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service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provider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owns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hardware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equipment's </a:t>
            </a:r>
            <a:r>
              <a:rPr dirty="0" sz="1800">
                <a:latin typeface="Calibri"/>
                <a:cs typeface="Calibri"/>
              </a:rPr>
              <a:t>such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Servers,</a:t>
            </a:r>
            <a:r>
              <a:rPr dirty="0" sz="1800" spc="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Storage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Network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provided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as</a:t>
            </a:r>
            <a:r>
              <a:rPr dirty="0" sz="1800" spc="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services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clients.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client</a:t>
            </a:r>
            <a:r>
              <a:rPr dirty="0" sz="1800" spc="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uses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these</a:t>
            </a:r>
            <a:r>
              <a:rPr dirty="0" sz="1800" spc="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equipment's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pays</a:t>
            </a:r>
            <a:r>
              <a:rPr dirty="0" sz="1800" spc="5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on </a:t>
            </a:r>
            <a:r>
              <a:rPr dirty="0" sz="1800" spc="-10" b="1">
                <a:latin typeface="Calibri"/>
                <a:cs typeface="Calibri"/>
              </a:rPr>
              <a:t>per-</a:t>
            </a:r>
            <a:r>
              <a:rPr dirty="0" sz="1800" b="1">
                <a:latin typeface="Calibri"/>
                <a:cs typeface="Calibri"/>
              </a:rPr>
              <a:t>use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basis.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74752" y="5962599"/>
            <a:ext cx="66725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32105" algn="l"/>
              </a:tabLst>
            </a:pPr>
            <a:r>
              <a:rPr dirty="0" sz="1800">
                <a:latin typeface="Calibri"/>
                <a:cs typeface="Calibri"/>
              </a:rPr>
              <a:t>E.g.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Amazon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Elastic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Compute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(EC2)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Simple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Storage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Service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(S3).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50592" y="1978152"/>
            <a:ext cx="6329171" cy="35844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4517" y="49479"/>
            <a:ext cx="390779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7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Service</a:t>
            </a:r>
            <a:r>
              <a:rPr dirty="0" spc="-17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Models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666648"/>
            <a:ext cx="12035790" cy="2357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74015" marR="5080" indent="-361950">
              <a:lnSpc>
                <a:spcPct val="140000"/>
              </a:lnSpc>
              <a:spcBef>
                <a:spcPts val="100"/>
              </a:spcBef>
              <a:buFont typeface="Arial MT"/>
              <a:buChar char="•"/>
              <a:tabLst>
                <a:tab pos="376555" algn="l"/>
              </a:tabLst>
            </a:pPr>
            <a:r>
              <a:rPr dirty="0" sz="1900" spc="-25" b="1">
                <a:latin typeface="Calibri"/>
                <a:cs typeface="Calibri"/>
              </a:rPr>
              <a:t>Platform-</a:t>
            </a:r>
            <a:r>
              <a:rPr dirty="0" sz="1900" spc="-10" b="1">
                <a:latin typeface="Calibri"/>
                <a:cs typeface="Calibri"/>
              </a:rPr>
              <a:t>as-a-</a:t>
            </a:r>
            <a:r>
              <a:rPr dirty="0" sz="1900" b="1">
                <a:latin typeface="Calibri"/>
                <a:cs typeface="Calibri"/>
              </a:rPr>
              <a:t>Service</a:t>
            </a:r>
            <a:r>
              <a:rPr dirty="0" sz="1900" spc="90" b="1">
                <a:latin typeface="Calibri"/>
                <a:cs typeface="Calibri"/>
              </a:rPr>
              <a:t>  </a:t>
            </a:r>
            <a:r>
              <a:rPr dirty="0" sz="1900" b="1">
                <a:latin typeface="Calibri"/>
                <a:cs typeface="Calibri"/>
              </a:rPr>
              <a:t>(PaaS):</a:t>
            </a:r>
            <a:r>
              <a:rPr dirty="0" sz="1900" spc="90" b="1">
                <a:latin typeface="Calibri"/>
                <a:cs typeface="Calibri"/>
              </a:rPr>
              <a:t>  </a:t>
            </a:r>
            <a:r>
              <a:rPr dirty="0" sz="1900">
                <a:latin typeface="Calibri"/>
                <a:cs typeface="Calibri"/>
              </a:rPr>
              <a:t>In</a:t>
            </a:r>
            <a:r>
              <a:rPr dirty="0" sz="1900" spc="85">
                <a:latin typeface="Calibri"/>
                <a:cs typeface="Calibri"/>
              </a:rPr>
              <a:t>  </a:t>
            </a:r>
            <a:r>
              <a:rPr dirty="0" sz="1900" spc="-20">
                <a:latin typeface="Calibri"/>
                <a:cs typeface="Calibri"/>
              </a:rPr>
              <a:t>Platform-</a:t>
            </a:r>
            <a:r>
              <a:rPr dirty="0" sz="1900" spc="-10">
                <a:latin typeface="Calibri"/>
                <a:cs typeface="Calibri"/>
              </a:rPr>
              <a:t>as-</a:t>
            </a:r>
            <a:r>
              <a:rPr dirty="0" sz="1900" spc="-20">
                <a:latin typeface="Calibri"/>
                <a:cs typeface="Calibri"/>
              </a:rPr>
              <a:t>a-</a:t>
            </a:r>
            <a:r>
              <a:rPr dirty="0" sz="1900">
                <a:latin typeface="Calibri"/>
                <a:cs typeface="Calibri"/>
              </a:rPr>
              <a:t>Service</a:t>
            </a:r>
            <a:r>
              <a:rPr dirty="0" sz="1900" spc="85">
                <a:latin typeface="Calibri"/>
                <a:cs typeface="Calibri"/>
              </a:rPr>
              <a:t>  </a:t>
            </a:r>
            <a:r>
              <a:rPr dirty="0" sz="1900">
                <a:latin typeface="Calibri"/>
                <a:cs typeface="Calibri"/>
              </a:rPr>
              <a:t>model,</a:t>
            </a:r>
            <a:r>
              <a:rPr dirty="0" sz="1900" spc="85">
                <a:latin typeface="Calibri"/>
                <a:cs typeface="Calibri"/>
              </a:rPr>
              <a:t>  </a:t>
            </a:r>
            <a:r>
              <a:rPr dirty="0" sz="1900" b="1">
                <a:latin typeface="Calibri"/>
                <a:cs typeface="Calibri"/>
              </a:rPr>
              <a:t>complete</a:t>
            </a:r>
            <a:r>
              <a:rPr dirty="0" sz="1900" spc="95" b="1">
                <a:latin typeface="Calibri"/>
                <a:cs typeface="Calibri"/>
              </a:rPr>
              <a:t>  </a:t>
            </a:r>
            <a:r>
              <a:rPr dirty="0" sz="1900" b="1">
                <a:latin typeface="Calibri"/>
                <a:cs typeface="Calibri"/>
              </a:rPr>
              <a:t>resources</a:t>
            </a:r>
            <a:r>
              <a:rPr dirty="0" sz="1900" spc="85" b="1">
                <a:latin typeface="Calibri"/>
                <a:cs typeface="Calibri"/>
              </a:rPr>
              <a:t>  </a:t>
            </a:r>
            <a:r>
              <a:rPr dirty="0" sz="1900">
                <a:latin typeface="Calibri"/>
                <a:cs typeface="Calibri"/>
              </a:rPr>
              <a:t>needed</a:t>
            </a:r>
            <a:r>
              <a:rPr dirty="0" sz="1900" spc="85">
                <a:latin typeface="Calibri"/>
                <a:cs typeface="Calibri"/>
              </a:rPr>
              <a:t> 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85">
                <a:latin typeface="Calibri"/>
                <a:cs typeface="Calibri"/>
              </a:rPr>
              <a:t>  </a:t>
            </a:r>
            <a:r>
              <a:rPr dirty="0" sz="1900" b="1">
                <a:latin typeface="Calibri"/>
                <a:cs typeface="Calibri"/>
              </a:rPr>
              <a:t>Design</a:t>
            </a:r>
            <a:r>
              <a:rPr dirty="0" sz="1900">
                <a:latin typeface="Calibri"/>
                <a:cs typeface="Calibri"/>
              </a:rPr>
              <a:t>,</a:t>
            </a:r>
            <a:r>
              <a:rPr dirty="0" sz="1900" spc="80">
                <a:latin typeface="Calibri"/>
                <a:cs typeface="Calibri"/>
              </a:rPr>
              <a:t>  </a:t>
            </a:r>
            <a:r>
              <a:rPr dirty="0" sz="1900" spc="-10" b="1">
                <a:latin typeface="Calibri"/>
                <a:cs typeface="Calibri"/>
              </a:rPr>
              <a:t>Develop</a:t>
            </a:r>
            <a:r>
              <a:rPr dirty="0" sz="1900" spc="-10">
                <a:latin typeface="Calibri"/>
                <a:cs typeface="Calibri"/>
              </a:rPr>
              <a:t>, </a:t>
            </a:r>
            <a:r>
              <a:rPr dirty="0" sz="1900" spc="-10">
                <a:latin typeface="Calibri"/>
                <a:cs typeface="Calibri"/>
              </a:rPr>
              <a:t>	</a:t>
            </a:r>
            <a:r>
              <a:rPr dirty="0" sz="1900" b="1">
                <a:latin typeface="Calibri"/>
                <a:cs typeface="Calibri"/>
              </a:rPr>
              <a:t>Testing</a:t>
            </a:r>
            <a:r>
              <a:rPr dirty="0" sz="1900">
                <a:latin typeface="Calibri"/>
                <a:cs typeface="Calibri"/>
              </a:rPr>
              <a:t>,</a:t>
            </a:r>
            <a:r>
              <a:rPr dirty="0" sz="1900" spc="210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Deploy</a:t>
            </a:r>
            <a:r>
              <a:rPr dirty="0" sz="1900" spc="215" b="1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220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Hosting</a:t>
            </a:r>
            <a:r>
              <a:rPr dirty="0" sz="1900" spc="235" b="1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</a:t>
            </a:r>
            <a:r>
              <a:rPr dirty="0" sz="1900" spc="21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application</a:t>
            </a:r>
            <a:r>
              <a:rPr dirty="0" sz="1900" spc="2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are</a:t>
            </a:r>
            <a:r>
              <a:rPr dirty="0" sz="1900" spc="2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provided</a:t>
            </a:r>
            <a:r>
              <a:rPr dirty="0" sz="1900" spc="2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as</a:t>
            </a:r>
            <a:r>
              <a:rPr dirty="0" sz="1900" spc="21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services</a:t>
            </a:r>
            <a:r>
              <a:rPr dirty="0" sz="1900" spc="220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without</a:t>
            </a:r>
            <a:r>
              <a:rPr dirty="0" sz="1900" spc="22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spending</a:t>
            </a:r>
            <a:r>
              <a:rPr dirty="0" sz="1900" spc="229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money</a:t>
            </a:r>
            <a:r>
              <a:rPr dirty="0" sz="1900" spc="21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for</a:t>
            </a:r>
            <a:r>
              <a:rPr dirty="0" sz="1900" spc="21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purchasing</a:t>
            </a:r>
            <a:r>
              <a:rPr dirty="0" sz="1900" spc="204" b="1">
                <a:latin typeface="Calibri"/>
                <a:cs typeface="Calibri"/>
              </a:rPr>
              <a:t> </a:t>
            </a:r>
            <a:r>
              <a:rPr dirty="0" sz="1900" spc="-25" b="1">
                <a:latin typeface="Calibri"/>
                <a:cs typeface="Calibri"/>
              </a:rPr>
              <a:t>and </a:t>
            </a:r>
            <a:r>
              <a:rPr dirty="0" sz="1900" spc="-25" b="1">
                <a:latin typeface="Calibri"/>
                <a:cs typeface="Calibri"/>
              </a:rPr>
              <a:t>	</a:t>
            </a:r>
            <a:r>
              <a:rPr dirty="0" sz="1900" spc="-10" b="1">
                <a:latin typeface="Calibri"/>
                <a:cs typeface="Calibri"/>
              </a:rPr>
              <a:t>maintaining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servers,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storage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and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software</a:t>
            </a:r>
            <a:r>
              <a:rPr dirty="0" sz="1900" spc="-1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Char char="•"/>
            </a:pPr>
            <a:endParaRPr sz="1900">
              <a:latin typeface="Calibri"/>
              <a:cs typeface="Calibri"/>
            </a:endParaRPr>
          </a:p>
          <a:p>
            <a:pPr algn="just" marL="374015" marR="5080" indent="-361950">
              <a:lnSpc>
                <a:spcPct val="140000"/>
              </a:lnSpc>
              <a:spcBef>
                <a:spcPts val="5"/>
              </a:spcBef>
              <a:buFont typeface="Arial MT"/>
              <a:buChar char="•"/>
              <a:tabLst>
                <a:tab pos="376555" algn="l"/>
              </a:tabLst>
            </a:pPr>
            <a:r>
              <a:rPr dirty="0" sz="1900" b="1">
                <a:latin typeface="Calibri"/>
                <a:cs typeface="Calibri"/>
              </a:rPr>
              <a:t>PaaS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is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extension</a:t>
            </a:r>
            <a:r>
              <a:rPr dirty="0" sz="1900" spc="-2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of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IaaS</a:t>
            </a:r>
            <a:r>
              <a:rPr dirty="0" sz="1900">
                <a:latin typeface="Calibri"/>
                <a:cs typeface="Calibri"/>
              </a:rPr>
              <a:t>.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In</a:t>
            </a:r>
            <a:r>
              <a:rPr dirty="0" sz="1900" spc="-2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addition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to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2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fundamental</a:t>
            </a:r>
            <a:r>
              <a:rPr dirty="0" sz="1900" spc="-2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computing</a:t>
            </a:r>
            <a:r>
              <a:rPr dirty="0" sz="1900" spc="-2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resource</a:t>
            </a:r>
            <a:r>
              <a:rPr dirty="0" sz="1900" spc="-2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supplied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by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hardware</a:t>
            </a:r>
            <a:r>
              <a:rPr dirty="0" sz="1900" spc="-25" b="1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IaaS </a:t>
            </a:r>
            <a:r>
              <a:rPr dirty="0" sz="1900" spc="-20">
                <a:latin typeface="Calibri"/>
                <a:cs typeface="Calibri"/>
              </a:rPr>
              <a:t>	</a:t>
            </a:r>
            <a:r>
              <a:rPr dirty="0" sz="1900">
                <a:latin typeface="Calibri"/>
                <a:cs typeface="Calibri"/>
              </a:rPr>
              <a:t>offering,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PaaS</a:t>
            </a:r>
            <a:r>
              <a:rPr dirty="0" sz="1900" spc="-6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models</a:t>
            </a:r>
            <a:r>
              <a:rPr dirty="0" sz="1900" spc="-5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also</a:t>
            </a:r>
            <a:r>
              <a:rPr dirty="0" sz="1900" spc="-6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include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5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software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and</a:t>
            </a:r>
            <a:r>
              <a:rPr dirty="0" sz="1900" spc="-6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configuration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required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to</a:t>
            </a:r>
            <a:r>
              <a:rPr dirty="0" sz="1900" spc="-6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create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</a:t>
            </a:r>
            <a:r>
              <a:rPr dirty="0" sz="1900" spc="-6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applications</a:t>
            </a:r>
            <a:r>
              <a:rPr dirty="0" sz="1900" spc="-1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5926023"/>
            <a:ext cx="285940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E.g.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Google App </a:t>
            </a:r>
            <a:r>
              <a:rPr dirty="0" sz="2000" spc="-10" b="1">
                <a:latin typeface="Calibri"/>
                <a:cs typeface="Calibri"/>
              </a:rPr>
              <a:t>Engine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39896" y="3351276"/>
            <a:ext cx="4437170" cy="302209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44517" y="10159"/>
            <a:ext cx="390779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7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Service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Models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622126"/>
            <a:ext cx="12033250" cy="849630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376555" indent="-363855">
              <a:lnSpc>
                <a:spcPct val="100000"/>
              </a:lnSpc>
              <a:spcBef>
                <a:spcPts val="1185"/>
              </a:spcBef>
              <a:buFont typeface="Arial MT"/>
              <a:buChar char="•"/>
              <a:tabLst>
                <a:tab pos="376555" algn="l"/>
              </a:tabLst>
            </a:pPr>
            <a:r>
              <a:rPr dirty="0" sz="1800" spc="-10" b="1">
                <a:latin typeface="Calibri"/>
                <a:cs typeface="Calibri"/>
              </a:rPr>
              <a:t>Software-as-a-</a:t>
            </a:r>
            <a:r>
              <a:rPr dirty="0" sz="1800" b="1">
                <a:latin typeface="Calibri"/>
                <a:cs typeface="Calibri"/>
              </a:rPr>
              <a:t>Service</a:t>
            </a:r>
            <a:r>
              <a:rPr dirty="0" sz="1800" spc="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(SaaS):</a:t>
            </a:r>
            <a:r>
              <a:rPr dirty="0" sz="1800" spc="5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Software-</a:t>
            </a:r>
            <a:r>
              <a:rPr dirty="0" sz="1800">
                <a:latin typeface="Calibri"/>
                <a:cs typeface="Calibri"/>
              </a:rPr>
              <a:t>as-a-Service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model,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service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provider</a:t>
            </a:r>
            <a:r>
              <a:rPr dirty="0" sz="1800" spc="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provides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software's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service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over</a:t>
            </a:r>
            <a:r>
              <a:rPr dirty="0" sz="1800" spc="5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376555">
              <a:lnSpc>
                <a:spcPct val="100000"/>
              </a:lnSpc>
              <a:spcBef>
                <a:spcPts val="1080"/>
              </a:spcBef>
            </a:pPr>
            <a:r>
              <a:rPr dirty="0" sz="1800">
                <a:latin typeface="Calibri"/>
                <a:cs typeface="Calibri"/>
              </a:rPr>
              <a:t>Internet,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eliminating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need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buy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install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maintain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upgradation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licensing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their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local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machine.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5446877"/>
            <a:ext cx="67671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>
                <a:latin typeface="Calibri"/>
                <a:cs typeface="Calibri"/>
              </a:rPr>
              <a:t>E.g.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Accounting,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CRM,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Google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Docs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all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popular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examples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SaaS.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6039" y="2074729"/>
            <a:ext cx="6181363" cy="2662821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89834" y="2318850"/>
            <a:ext cx="4328233" cy="22575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5794" y="-16636"/>
            <a:ext cx="48247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7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Deployment</a:t>
            </a:r>
            <a:r>
              <a:rPr dirty="0" spc="-16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Models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545345"/>
            <a:ext cx="8635365" cy="2315845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marL="376555" indent="-36385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376555" algn="l"/>
              </a:tabLst>
            </a:pPr>
            <a:r>
              <a:rPr dirty="0" sz="1800">
                <a:latin typeface="Calibri"/>
                <a:cs typeface="Calibri"/>
              </a:rPr>
              <a:t>Mainly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there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four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cloud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deployment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models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4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ways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create/organize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cloud)</a:t>
            </a:r>
            <a:endParaRPr sz="1800">
              <a:latin typeface="Calibri"/>
              <a:cs typeface="Calibri"/>
            </a:endParaRPr>
          </a:p>
          <a:p>
            <a:pPr lvl="1" marL="908685" indent="-339725">
              <a:lnSpc>
                <a:spcPct val="100000"/>
              </a:lnSpc>
              <a:spcBef>
                <a:spcPts val="1250"/>
              </a:spcBef>
              <a:buFont typeface="Wingdings"/>
              <a:buChar char=""/>
              <a:tabLst>
                <a:tab pos="908685" algn="l"/>
              </a:tabLst>
            </a:pPr>
            <a:r>
              <a:rPr dirty="0" sz="1800" b="1">
                <a:latin typeface="Calibri"/>
                <a:cs typeface="Calibri"/>
              </a:rPr>
              <a:t>Public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Cloud</a:t>
            </a:r>
            <a:endParaRPr sz="1800">
              <a:latin typeface="Calibri"/>
              <a:cs typeface="Calibri"/>
            </a:endParaRPr>
          </a:p>
          <a:p>
            <a:pPr lvl="1" marL="908685" indent="-339725">
              <a:lnSpc>
                <a:spcPct val="100000"/>
              </a:lnSpc>
              <a:spcBef>
                <a:spcPts val="1585"/>
              </a:spcBef>
              <a:buFont typeface="Wingdings"/>
              <a:buChar char=""/>
              <a:tabLst>
                <a:tab pos="908685" algn="l"/>
              </a:tabLst>
            </a:pPr>
            <a:r>
              <a:rPr dirty="0" sz="1800" b="1">
                <a:latin typeface="Calibri"/>
                <a:cs typeface="Calibri"/>
              </a:rPr>
              <a:t>Private</a:t>
            </a:r>
            <a:r>
              <a:rPr dirty="0" sz="1800" spc="-9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Cloud</a:t>
            </a:r>
            <a:endParaRPr sz="1800">
              <a:latin typeface="Calibri"/>
              <a:cs typeface="Calibri"/>
            </a:endParaRPr>
          </a:p>
          <a:p>
            <a:pPr lvl="1" marL="908685" indent="-339725">
              <a:lnSpc>
                <a:spcPct val="100000"/>
              </a:lnSpc>
              <a:spcBef>
                <a:spcPts val="1585"/>
              </a:spcBef>
              <a:buFont typeface="Wingdings"/>
              <a:buChar char=""/>
              <a:tabLst>
                <a:tab pos="908685" algn="l"/>
              </a:tabLst>
            </a:pPr>
            <a:r>
              <a:rPr dirty="0" sz="1800" b="1">
                <a:latin typeface="Calibri"/>
                <a:cs typeface="Calibri"/>
              </a:rPr>
              <a:t>Community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Cloud</a:t>
            </a:r>
            <a:endParaRPr sz="1800">
              <a:latin typeface="Calibri"/>
              <a:cs typeface="Calibri"/>
            </a:endParaRPr>
          </a:p>
          <a:p>
            <a:pPr lvl="1" marL="908685" indent="-339725">
              <a:lnSpc>
                <a:spcPct val="100000"/>
              </a:lnSpc>
              <a:spcBef>
                <a:spcPts val="1570"/>
              </a:spcBef>
              <a:buFont typeface="Wingdings"/>
              <a:buChar char=""/>
              <a:tabLst>
                <a:tab pos="908685" algn="l"/>
              </a:tabLst>
            </a:pPr>
            <a:r>
              <a:rPr dirty="0" sz="1800" b="1">
                <a:latin typeface="Calibri"/>
                <a:cs typeface="Calibri"/>
              </a:rPr>
              <a:t>Hybrid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Cloud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44167" y="2824000"/>
            <a:ext cx="8929116" cy="366969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1889" y="37338"/>
            <a:ext cx="635762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Deployment</a:t>
            </a:r>
            <a:r>
              <a:rPr dirty="0" spc="-15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Models</a:t>
            </a:r>
            <a:r>
              <a:rPr dirty="0" spc="-15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(Cont…)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80264" y="649986"/>
            <a:ext cx="12031980" cy="848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 b="1">
                <a:latin typeface="Calibri"/>
                <a:cs typeface="Calibri"/>
              </a:rPr>
              <a:t>Public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>
                <a:latin typeface="Calibri"/>
                <a:cs typeface="Calibri"/>
              </a:rPr>
              <a:t>: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public cloud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 a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cloud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services and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infrastructure</a:t>
            </a:r>
            <a:r>
              <a:rPr dirty="0" sz="1800" b="1">
                <a:latin typeface="Calibri"/>
                <a:cs typeface="Calibri"/>
              </a:rPr>
              <a:t> are hosted </a:t>
            </a:r>
            <a:r>
              <a:rPr dirty="0" sz="1800" spc="-20" b="1">
                <a:latin typeface="Calibri"/>
                <a:cs typeface="Calibri"/>
              </a:rPr>
              <a:t>off-</a:t>
            </a:r>
            <a:r>
              <a:rPr dirty="0" sz="1800" b="1">
                <a:latin typeface="Calibri"/>
                <a:cs typeface="Calibri"/>
              </a:rPr>
              <a:t>site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provider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(owned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by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organization </a:t>
            </a:r>
            <a:r>
              <a:rPr dirty="0" sz="1800">
                <a:latin typeface="Calibri"/>
                <a:cs typeface="Calibri"/>
              </a:rPr>
              <a:t>selling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cloud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services)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easily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accessible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general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public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via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internet</a:t>
            </a:r>
            <a:r>
              <a:rPr dirty="0" sz="1800" spc="-1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0264" y="3906244"/>
            <a:ext cx="12035155" cy="848360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352425" indent="-339725">
              <a:lnSpc>
                <a:spcPct val="100000"/>
              </a:lnSpc>
              <a:spcBef>
                <a:spcPts val="1175"/>
              </a:spcBef>
              <a:buFont typeface="Arial MT"/>
              <a:buChar char="•"/>
              <a:tabLst>
                <a:tab pos="352425" algn="l"/>
              </a:tabLst>
            </a:pPr>
            <a:r>
              <a:rPr dirty="0" sz="1800" b="1">
                <a:latin typeface="Calibri"/>
                <a:cs typeface="Calibri"/>
              </a:rPr>
              <a:t>Private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Cloud:</a:t>
            </a:r>
            <a:r>
              <a:rPr dirty="0" sz="1800" spc="5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Private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Cloud</a:t>
            </a:r>
            <a:r>
              <a:rPr dirty="0" sz="1800" spc="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cloud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where</a:t>
            </a:r>
            <a:r>
              <a:rPr dirty="0" sz="1800" spc="7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services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infrastructure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are</a:t>
            </a:r>
            <a:r>
              <a:rPr dirty="0" sz="1800" spc="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operated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single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operation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accessible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via</a:t>
            </a:r>
            <a:endParaRPr sz="1800">
              <a:latin typeface="Calibri"/>
              <a:cs typeface="Calibri"/>
            </a:endParaRPr>
          </a:p>
          <a:p>
            <a:pPr marL="352425">
              <a:lnSpc>
                <a:spcPct val="100000"/>
              </a:lnSpc>
              <a:spcBef>
                <a:spcPts val="1080"/>
              </a:spcBef>
            </a:pPr>
            <a:r>
              <a:rPr dirty="0" sz="1800" b="1">
                <a:latin typeface="Calibri"/>
                <a:cs typeface="Calibri"/>
              </a:rPr>
              <a:t>private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network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managed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internally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third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party.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greater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level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security.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4844" y="1661160"/>
            <a:ext cx="6052190" cy="1871563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00400" y="4853937"/>
            <a:ext cx="5620305" cy="187645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21889" y="-13589"/>
            <a:ext cx="635762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Deployment</a:t>
            </a:r>
            <a:r>
              <a:rPr dirty="0" spc="-15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Models</a:t>
            </a:r>
            <a:r>
              <a:rPr dirty="0" spc="-15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(Cont…)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598804"/>
            <a:ext cx="9328785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57200" marR="5080" indent="-445134">
              <a:lnSpc>
                <a:spcPct val="150100"/>
              </a:lnSpc>
              <a:spcBef>
                <a:spcPts val="100"/>
              </a:spcBef>
              <a:buFont typeface="Arial MT"/>
              <a:buChar char="•"/>
              <a:tabLst>
                <a:tab pos="457200" algn="l"/>
                <a:tab pos="1693545" algn="l"/>
                <a:tab pos="2431415" algn="l"/>
                <a:tab pos="3646170" algn="l"/>
                <a:tab pos="4316730" algn="l"/>
                <a:tab pos="4591050" algn="l"/>
                <a:tab pos="4834890" algn="l"/>
                <a:tab pos="5478145" algn="l"/>
                <a:tab pos="6200775" algn="l"/>
                <a:tab pos="7087870" algn="l"/>
                <a:tab pos="7578090" algn="l"/>
                <a:tab pos="9010015" algn="l"/>
              </a:tabLst>
            </a:pPr>
            <a:r>
              <a:rPr dirty="0" sz="1800" spc="-10" b="1">
                <a:latin typeface="Calibri"/>
                <a:cs typeface="Calibri"/>
              </a:rPr>
              <a:t>Community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10" b="1">
                <a:latin typeface="Calibri"/>
                <a:cs typeface="Calibri"/>
              </a:rPr>
              <a:t>Cloud: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Community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Cloud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25">
                <a:latin typeface="Calibri"/>
                <a:cs typeface="Calibri"/>
              </a:rPr>
              <a:t>is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50">
                <a:latin typeface="Calibri"/>
                <a:cs typeface="Calibri"/>
              </a:rPr>
              <a:t>a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cloud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>
                <a:latin typeface="Calibri"/>
                <a:cs typeface="Calibri"/>
              </a:rPr>
              <a:t>where</a:t>
            </a: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spc="-10" b="1">
                <a:latin typeface="Calibri"/>
                <a:cs typeface="Calibri"/>
              </a:rPr>
              <a:t>services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25" b="1">
                <a:latin typeface="Calibri"/>
                <a:cs typeface="Calibri"/>
              </a:rPr>
              <a:t>and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10" b="1">
                <a:latin typeface="Calibri"/>
                <a:cs typeface="Calibri"/>
              </a:rPr>
              <a:t>infrastructure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25" b="1">
                <a:latin typeface="Calibri"/>
                <a:cs typeface="Calibri"/>
              </a:rPr>
              <a:t>are </a:t>
            </a:r>
            <a:r>
              <a:rPr dirty="0" sz="1800" spc="-10" b="1">
                <a:latin typeface="Calibri"/>
                <a:cs typeface="Calibri"/>
              </a:rPr>
              <a:t>organizations</a:t>
            </a:r>
            <a:r>
              <a:rPr dirty="0" sz="1800" spc="-1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9515093" y="736219"/>
            <a:ext cx="259905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92835" algn="l"/>
                <a:tab pos="1456055" algn="l"/>
                <a:tab pos="1699895" algn="l"/>
                <a:tab pos="2386965" algn="l"/>
              </a:tabLst>
            </a:pPr>
            <a:r>
              <a:rPr dirty="0" sz="1800" spc="-10" b="1">
                <a:latin typeface="Calibri"/>
                <a:cs typeface="Calibri"/>
              </a:rPr>
              <a:t>accessible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25" b="1">
                <a:latin typeface="Calibri"/>
                <a:cs typeface="Calibri"/>
              </a:rPr>
              <a:t>by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50" b="1">
                <a:latin typeface="Calibri"/>
                <a:cs typeface="Calibri"/>
              </a:rPr>
              <a:t>a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20" b="1">
                <a:latin typeface="Calibri"/>
                <a:cs typeface="Calibri"/>
              </a:rPr>
              <a:t>group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25" b="1">
                <a:latin typeface="Calibri"/>
                <a:cs typeface="Calibri"/>
              </a:rPr>
              <a:t>of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8739" y="3532356"/>
            <a:ext cx="12035790" cy="12598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457200" marR="5080" indent="-445134">
              <a:lnSpc>
                <a:spcPct val="150000"/>
              </a:lnSpc>
              <a:spcBef>
                <a:spcPts val="95"/>
              </a:spcBef>
              <a:buFont typeface="Arial MT"/>
              <a:buChar char="•"/>
              <a:tabLst>
                <a:tab pos="457200" algn="l"/>
              </a:tabLst>
            </a:pPr>
            <a:r>
              <a:rPr dirty="0" sz="1800" b="1">
                <a:latin typeface="Calibri"/>
                <a:cs typeface="Calibri"/>
              </a:rPr>
              <a:t>Hybrid</a:t>
            </a:r>
            <a:r>
              <a:rPr dirty="0" sz="1800" spc="1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Cloud:</a:t>
            </a:r>
            <a:r>
              <a:rPr dirty="0" sz="1800" spc="12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Hybrid</a:t>
            </a:r>
            <a:r>
              <a:rPr dirty="0" sz="1800" spc="1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Cloud</a:t>
            </a:r>
            <a:r>
              <a:rPr dirty="0" sz="1800" spc="1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1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1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cloud</a:t>
            </a:r>
            <a:r>
              <a:rPr dirty="0" sz="1800" spc="1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which</a:t>
            </a:r>
            <a:r>
              <a:rPr dirty="0" sz="1800" spc="1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1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12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mixture</a:t>
            </a:r>
            <a:r>
              <a:rPr dirty="0" sz="1800" spc="1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1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private</a:t>
            </a:r>
            <a:r>
              <a:rPr dirty="0" sz="1800" spc="1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1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public</a:t>
            </a:r>
            <a:r>
              <a:rPr dirty="0" sz="1800" spc="1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>
                <a:latin typeface="Calibri"/>
                <a:cs typeface="Calibri"/>
              </a:rPr>
              <a:t>.</a:t>
            </a:r>
            <a:r>
              <a:rPr dirty="0" sz="1800" spc="11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1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this</a:t>
            </a:r>
            <a:r>
              <a:rPr dirty="0" sz="1800" spc="1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type</a:t>
            </a:r>
            <a:r>
              <a:rPr dirty="0" sz="1800" spc="1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1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cloud</a:t>
            </a:r>
            <a:r>
              <a:rPr dirty="0" sz="1800" spc="13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all</a:t>
            </a:r>
            <a:r>
              <a:rPr dirty="0" sz="1800" spc="1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critical</a:t>
            </a:r>
            <a:r>
              <a:rPr dirty="0" sz="1800" spc="125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and </a:t>
            </a:r>
            <a:r>
              <a:rPr dirty="0" sz="1800" b="1">
                <a:latin typeface="Calibri"/>
                <a:cs typeface="Calibri"/>
              </a:rPr>
              <a:t>sensitive</a:t>
            </a:r>
            <a:r>
              <a:rPr dirty="0" sz="1800" spc="1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applications</a:t>
            </a:r>
            <a:r>
              <a:rPr dirty="0" sz="1800" spc="1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1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data</a:t>
            </a:r>
            <a:r>
              <a:rPr dirty="0" sz="1800" spc="1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are</a:t>
            </a:r>
            <a:r>
              <a:rPr dirty="0" sz="1800" spc="1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stored</a:t>
            </a:r>
            <a:r>
              <a:rPr dirty="0" sz="1800" spc="1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1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private</a:t>
            </a:r>
            <a:r>
              <a:rPr dirty="0" sz="1800" spc="1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16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16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non</a:t>
            </a:r>
            <a:r>
              <a:rPr dirty="0" sz="1800" spc="1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critical</a:t>
            </a:r>
            <a:r>
              <a:rPr dirty="0" sz="1800" spc="1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1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non</a:t>
            </a:r>
            <a:r>
              <a:rPr dirty="0" sz="1800" spc="1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sensitive</a:t>
            </a:r>
            <a:r>
              <a:rPr dirty="0" sz="1800" spc="1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applications</a:t>
            </a:r>
            <a:r>
              <a:rPr dirty="0" sz="1800" spc="1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1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data</a:t>
            </a:r>
            <a:r>
              <a:rPr dirty="0" sz="1800" spc="160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are </a:t>
            </a:r>
            <a:r>
              <a:rPr dirty="0" sz="1800" b="1">
                <a:latin typeface="Calibri"/>
                <a:cs typeface="Calibri"/>
              </a:rPr>
              <a:t>stored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public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cloud</a:t>
            </a:r>
            <a:r>
              <a:rPr dirty="0" sz="1800" spc="-1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45764" y="1246741"/>
            <a:ext cx="4418482" cy="2206772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02508" y="4639053"/>
            <a:ext cx="4762474" cy="20490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57194" y="-43815"/>
            <a:ext cx="528129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Features</a:t>
            </a:r>
            <a:r>
              <a:rPr dirty="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dirty="0" spc="-9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3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Computing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59512" y="583819"/>
            <a:ext cx="11955780" cy="5878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6555" indent="-36385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76555" algn="l"/>
              </a:tabLst>
            </a:pPr>
            <a:r>
              <a:rPr dirty="0" sz="1800" b="1">
                <a:latin typeface="Calibri"/>
                <a:cs typeface="Calibri"/>
              </a:rPr>
              <a:t>It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elastic:</a:t>
            </a:r>
            <a:r>
              <a:rPr dirty="0" sz="1800" spc="33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Cloud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computing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flexible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nature,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where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users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scale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up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scale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down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resources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needed.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5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428625" indent="-415925">
              <a:lnSpc>
                <a:spcPct val="100000"/>
              </a:lnSpc>
              <a:buFont typeface="Arial MT"/>
              <a:buChar char="•"/>
              <a:tabLst>
                <a:tab pos="428625" algn="l"/>
              </a:tabLst>
            </a:pPr>
            <a:r>
              <a:rPr dirty="0" sz="1800" b="1">
                <a:latin typeface="Calibri"/>
                <a:cs typeface="Calibri"/>
              </a:rPr>
              <a:t>Pay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per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use: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Usage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10">
                <a:latin typeface="Calibri"/>
                <a:cs typeface="Calibri"/>
              </a:rPr>
              <a:t> metered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pays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only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how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much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resources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were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used</a:t>
            </a:r>
            <a:r>
              <a:rPr dirty="0" sz="1800" spc="-1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5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376555" indent="-363855">
              <a:lnSpc>
                <a:spcPct val="100000"/>
              </a:lnSpc>
              <a:buFont typeface="Arial MT"/>
              <a:buChar char="•"/>
              <a:tabLst>
                <a:tab pos="376555" algn="l"/>
              </a:tabLst>
            </a:pPr>
            <a:r>
              <a:rPr dirty="0" sz="1800" spc="-10" b="1">
                <a:latin typeface="Calibri"/>
                <a:cs typeface="Calibri"/>
              </a:rPr>
              <a:t>Operation: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services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completely </a:t>
            </a:r>
            <a:r>
              <a:rPr dirty="0" sz="1800" b="1">
                <a:latin typeface="Calibri"/>
                <a:cs typeface="Calibri"/>
              </a:rPr>
              <a:t>handled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provider</a:t>
            </a:r>
            <a:r>
              <a:rPr dirty="0" sz="1800" spc="-1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5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376555" marR="7620" indent="-364490">
              <a:lnSpc>
                <a:spcPct val="150000"/>
              </a:lnSpc>
              <a:buFont typeface="Arial MT"/>
              <a:buChar char="•"/>
              <a:tabLst>
                <a:tab pos="376555" algn="l"/>
              </a:tabLst>
            </a:pPr>
            <a:r>
              <a:rPr dirty="0" sz="1800" b="1">
                <a:latin typeface="Calibri"/>
                <a:cs typeface="Calibri"/>
              </a:rPr>
              <a:t>Reduce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capital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cost: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need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invest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money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purchasing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maintaining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hardware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software,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software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licensing, </a:t>
            </a:r>
            <a:r>
              <a:rPr dirty="0" sz="1800">
                <a:latin typeface="Calibri"/>
                <a:cs typeface="Calibri"/>
              </a:rPr>
              <a:t>training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required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staff.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5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376555" marR="8255" indent="-364490">
              <a:lnSpc>
                <a:spcPct val="150000"/>
              </a:lnSpc>
              <a:buFont typeface="Arial MT"/>
              <a:buChar char="•"/>
              <a:tabLst>
                <a:tab pos="376555" algn="l"/>
              </a:tabLst>
            </a:pPr>
            <a:r>
              <a:rPr dirty="0" sz="1800" b="1">
                <a:latin typeface="Calibri"/>
                <a:cs typeface="Calibri"/>
              </a:rPr>
              <a:t>Remote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accessibility:</a:t>
            </a:r>
            <a:r>
              <a:rPr dirty="0" sz="1800" spc="31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Users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access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applications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data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stored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anywhere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any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time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worldwide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through</a:t>
            </a:r>
            <a:r>
              <a:rPr dirty="0" sz="1800" spc="-50">
                <a:latin typeface="Calibri"/>
                <a:cs typeface="Calibri"/>
              </a:rPr>
              <a:t> a </a:t>
            </a:r>
            <a:r>
              <a:rPr dirty="0" sz="1800">
                <a:latin typeface="Calibri"/>
                <a:cs typeface="Calibri"/>
              </a:rPr>
              <a:t>device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internet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connection.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5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376555" marR="5080" indent="-364490">
              <a:lnSpc>
                <a:spcPct val="150000"/>
              </a:lnSpc>
              <a:buFont typeface="Arial MT"/>
              <a:buChar char="•"/>
              <a:tabLst>
                <a:tab pos="376555" algn="l"/>
              </a:tabLst>
            </a:pPr>
            <a:r>
              <a:rPr dirty="0" sz="1800" b="1">
                <a:latin typeface="Calibri"/>
                <a:cs typeface="Calibri"/>
              </a:rPr>
              <a:t>Better</a:t>
            </a:r>
            <a:r>
              <a:rPr dirty="0" sz="1800" spc="2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use</a:t>
            </a:r>
            <a:r>
              <a:rPr dirty="0" sz="1800" spc="229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2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IT</a:t>
            </a:r>
            <a:r>
              <a:rPr dirty="0" sz="1800" spc="2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staff:</a:t>
            </a:r>
            <a:r>
              <a:rPr dirty="0" sz="1800" spc="22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Staff</a:t>
            </a:r>
            <a:r>
              <a:rPr dirty="0" sz="1800" spc="2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with</a:t>
            </a:r>
            <a:r>
              <a:rPr dirty="0" sz="1800" spc="229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2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enterprise</a:t>
            </a:r>
            <a:r>
              <a:rPr dirty="0" sz="1800" spc="2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need</a:t>
            </a:r>
            <a:r>
              <a:rPr dirty="0" sz="1800" spc="229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not</a:t>
            </a:r>
            <a:r>
              <a:rPr dirty="0" sz="1800" spc="2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worry</a:t>
            </a:r>
            <a:r>
              <a:rPr dirty="0" sz="1800" spc="2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2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purchasing</a:t>
            </a:r>
            <a:r>
              <a:rPr dirty="0" sz="1800" spc="2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2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maintaining</a:t>
            </a:r>
            <a:r>
              <a:rPr dirty="0" sz="1800" spc="2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2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servers,</a:t>
            </a:r>
            <a:r>
              <a:rPr dirty="0" sz="1800" spc="2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softwares,</a:t>
            </a:r>
            <a:r>
              <a:rPr dirty="0" sz="1800" spc="22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up </a:t>
            </a:r>
            <a:r>
              <a:rPr dirty="0" sz="1800" spc="-10">
                <a:latin typeface="Calibri"/>
                <a:cs typeface="Calibri"/>
              </a:rPr>
              <a:t>gradation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servers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softwares,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software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licensing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etc.,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instead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they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concentrate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more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work.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4069841" y="84582"/>
            <a:ext cx="405384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latin typeface="Calibri Light"/>
                <a:cs typeface="Calibri Light"/>
              </a:rPr>
              <a:t>Cloud</a:t>
            </a:r>
            <a:r>
              <a:rPr dirty="0" sz="3200" spc="-175">
                <a:latin typeface="Calibri Light"/>
                <a:cs typeface="Calibri Light"/>
              </a:rPr>
              <a:t> </a:t>
            </a:r>
            <a:r>
              <a:rPr dirty="0" sz="3200" spc="-10">
                <a:latin typeface="Calibri Light"/>
                <a:cs typeface="Calibri Light"/>
              </a:rPr>
              <a:t>Services</a:t>
            </a:r>
            <a:r>
              <a:rPr dirty="0" sz="3200" spc="-165">
                <a:latin typeface="Calibri Light"/>
                <a:cs typeface="Calibri Light"/>
              </a:rPr>
              <a:t> </a:t>
            </a:r>
            <a:r>
              <a:rPr dirty="0" sz="3200" spc="-20">
                <a:latin typeface="Calibri Light"/>
                <a:cs typeface="Calibri Light"/>
              </a:rPr>
              <a:t>Examples: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708785" y="459516"/>
            <a:ext cx="8779510" cy="1301750"/>
          </a:xfrm>
          <a:prstGeom prst="rect"/>
        </p:spPr>
        <p:txBody>
          <a:bodyPr wrap="square" lIns="0" tIns="768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05"/>
              </a:spcBef>
            </a:pPr>
            <a:r>
              <a:rPr dirty="0" sz="3200" spc="-35" b="0">
                <a:solidFill>
                  <a:srgbClr val="00632C"/>
                </a:solidFill>
                <a:latin typeface="Calibri Light"/>
                <a:cs typeface="Calibri Light"/>
              </a:rPr>
              <a:t>IaaS-</a:t>
            </a:r>
            <a:r>
              <a:rPr dirty="0" sz="3200" spc="-55" b="0">
                <a:solidFill>
                  <a:srgbClr val="00632C"/>
                </a:solidFill>
                <a:latin typeface="Calibri Light"/>
                <a:cs typeface="Calibri Light"/>
              </a:rPr>
              <a:t>Amazon</a:t>
            </a:r>
            <a:r>
              <a:rPr dirty="0" sz="3200" spc="-130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632C"/>
                </a:solidFill>
                <a:latin typeface="Calibri Light"/>
                <a:cs typeface="Calibri Light"/>
              </a:rPr>
              <a:t>EC2,</a:t>
            </a:r>
            <a:r>
              <a:rPr dirty="0" sz="3200" spc="-95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spc="-25" b="0">
                <a:solidFill>
                  <a:srgbClr val="00632C"/>
                </a:solidFill>
                <a:latin typeface="Calibri Light"/>
                <a:cs typeface="Calibri Light"/>
              </a:rPr>
              <a:t>Google</a:t>
            </a:r>
            <a:r>
              <a:rPr dirty="0" sz="3200" spc="-140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spc="-30" b="0">
                <a:solidFill>
                  <a:srgbClr val="00632C"/>
                </a:solidFill>
                <a:latin typeface="Calibri Light"/>
                <a:cs typeface="Calibri Light"/>
              </a:rPr>
              <a:t>Compute</a:t>
            </a:r>
            <a:r>
              <a:rPr dirty="0" sz="3200" spc="-125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spc="-20" b="0">
                <a:solidFill>
                  <a:srgbClr val="00632C"/>
                </a:solidFill>
                <a:latin typeface="Calibri Light"/>
                <a:cs typeface="Calibri Light"/>
              </a:rPr>
              <a:t>Engine,</a:t>
            </a:r>
            <a:r>
              <a:rPr dirty="0" sz="3200" spc="-110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spc="-20" b="0">
                <a:solidFill>
                  <a:srgbClr val="00632C"/>
                </a:solidFill>
                <a:latin typeface="Calibri Light"/>
                <a:cs typeface="Calibri Light"/>
              </a:rPr>
              <a:t>Azure</a:t>
            </a:r>
            <a:r>
              <a:rPr dirty="0" sz="3200" spc="-125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spc="-25" b="0">
                <a:solidFill>
                  <a:srgbClr val="00632C"/>
                </a:solidFill>
                <a:latin typeface="Calibri Light"/>
                <a:cs typeface="Calibri Light"/>
              </a:rPr>
              <a:t>VMs</a:t>
            </a:r>
            <a:endParaRPr sz="3200">
              <a:latin typeface="Calibri Light"/>
              <a:cs typeface="Calibri Light"/>
            </a:endParaRPr>
          </a:p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dirty="0" sz="4200"/>
              <a:t>Amazon</a:t>
            </a:r>
            <a:r>
              <a:rPr dirty="0" sz="4200" spc="-229"/>
              <a:t> </a:t>
            </a:r>
            <a:r>
              <a:rPr dirty="0" sz="4200" spc="-25"/>
              <a:t>EC2</a:t>
            </a:r>
            <a:endParaRPr sz="4200"/>
          </a:p>
        </p:txBody>
      </p:sp>
      <p:sp>
        <p:nvSpPr>
          <p:cNvPr id="4" name="object 4" descr=""/>
          <p:cNvSpPr txBox="1"/>
          <p:nvPr/>
        </p:nvSpPr>
        <p:spPr>
          <a:xfrm>
            <a:off x="78739" y="1904492"/>
            <a:ext cx="11265535" cy="241808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4005" algn="l"/>
              </a:tabLst>
            </a:pPr>
            <a:r>
              <a:rPr dirty="0" sz="2000" b="1">
                <a:latin typeface="Calibri"/>
                <a:cs typeface="Calibri"/>
              </a:rPr>
              <a:t>Amazon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Elastic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Infrastructure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Service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offering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Amazon.</a:t>
            </a:r>
            <a:endParaRPr sz="2000">
              <a:latin typeface="Calibri"/>
              <a:cs typeface="Calibri"/>
            </a:endParaRPr>
          </a:p>
          <a:p>
            <a:pPr marL="294005" indent="-281305">
              <a:lnSpc>
                <a:spcPct val="100000"/>
              </a:lnSpc>
              <a:spcBef>
                <a:spcPts val="2025"/>
              </a:spcBef>
              <a:buFont typeface="Arial MT"/>
              <a:buChar char="•"/>
              <a:tabLst>
                <a:tab pos="294005" algn="l"/>
              </a:tabLst>
            </a:pPr>
            <a:r>
              <a:rPr dirty="0" sz="2000">
                <a:latin typeface="Calibri"/>
                <a:cs typeface="Calibri"/>
              </a:rPr>
              <a:t>EC2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web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service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computing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capacity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form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machines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294005" indent="-281305">
              <a:lnSpc>
                <a:spcPct val="100000"/>
              </a:lnSpc>
              <a:buFont typeface="Arial MT"/>
              <a:buChar char="•"/>
              <a:tabLst>
                <a:tab pos="294005" algn="l"/>
              </a:tabLst>
            </a:pPr>
            <a:r>
              <a:rPr dirty="0" sz="2000">
                <a:latin typeface="Calibri"/>
                <a:cs typeface="Calibri"/>
              </a:rPr>
              <a:t>Amazon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EC2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launch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instances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demand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using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simple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web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interface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294005" indent="-28130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4005" algn="l"/>
              </a:tabLst>
            </a:pPr>
            <a:r>
              <a:rPr dirty="0" sz="2000">
                <a:latin typeface="Calibri"/>
                <a:cs typeface="Calibri"/>
              </a:rPr>
              <a:t>Amazon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pre-</a:t>
            </a:r>
            <a:r>
              <a:rPr dirty="0" sz="2000" b="1">
                <a:latin typeface="Calibri"/>
                <a:cs typeface="Calibri"/>
              </a:rPr>
              <a:t>configured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Amazon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Images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(AMIs)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templates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instances.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8739" y="6277762"/>
            <a:ext cx="88849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94005" algn="l"/>
              </a:tabLst>
            </a:pP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create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their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own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AMIs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custom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applications,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libraries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data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8400" y="4607061"/>
            <a:ext cx="5972556" cy="141879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57425" y="-26670"/>
            <a:ext cx="7676515" cy="8356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2540">
              <a:lnSpc>
                <a:spcPts val="3190"/>
              </a:lnSpc>
              <a:spcBef>
                <a:spcPts val="95"/>
              </a:spcBef>
            </a:pP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z="28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Services</a:t>
            </a:r>
            <a:r>
              <a:rPr dirty="0" sz="2800" spc="-114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Examples:</a:t>
            </a:r>
            <a:endParaRPr sz="2800">
              <a:latin typeface="Calibri Light"/>
              <a:cs typeface="Calibri Light"/>
            </a:endParaRPr>
          </a:p>
          <a:p>
            <a:pPr algn="ctr">
              <a:lnSpc>
                <a:spcPts val="3190"/>
              </a:lnSpc>
            </a:pPr>
            <a:r>
              <a:rPr dirty="0" sz="2800" spc="-25" b="0">
                <a:solidFill>
                  <a:srgbClr val="00632C"/>
                </a:solidFill>
                <a:latin typeface="Calibri Light"/>
                <a:cs typeface="Calibri Light"/>
              </a:rPr>
              <a:t>IaaS-</a:t>
            </a:r>
            <a:r>
              <a:rPr dirty="0" sz="2800" spc="-35" b="0">
                <a:solidFill>
                  <a:srgbClr val="00632C"/>
                </a:solidFill>
                <a:latin typeface="Calibri Light"/>
                <a:cs typeface="Calibri Light"/>
              </a:rPr>
              <a:t>Amazon</a:t>
            </a:r>
            <a:r>
              <a:rPr dirty="0" sz="2800" spc="-114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2800" spc="-10" b="0">
                <a:solidFill>
                  <a:srgbClr val="00632C"/>
                </a:solidFill>
                <a:latin typeface="Calibri Light"/>
                <a:cs typeface="Calibri Light"/>
              </a:rPr>
              <a:t>EC2,</a:t>
            </a:r>
            <a:r>
              <a:rPr dirty="0" sz="2800" spc="-100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2800" spc="-20" b="0">
                <a:solidFill>
                  <a:srgbClr val="00632C"/>
                </a:solidFill>
                <a:latin typeface="Calibri Light"/>
                <a:cs typeface="Calibri Light"/>
              </a:rPr>
              <a:t>Google</a:t>
            </a:r>
            <a:r>
              <a:rPr dirty="0" sz="2800" spc="-110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2800" spc="-30" b="0">
                <a:solidFill>
                  <a:srgbClr val="00632C"/>
                </a:solidFill>
                <a:latin typeface="Calibri Light"/>
                <a:cs typeface="Calibri Light"/>
              </a:rPr>
              <a:t>Compute</a:t>
            </a:r>
            <a:r>
              <a:rPr dirty="0" sz="2800" spc="-120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2800" spc="-10" b="0">
                <a:solidFill>
                  <a:srgbClr val="00632C"/>
                </a:solidFill>
                <a:latin typeface="Calibri Light"/>
                <a:cs typeface="Calibri Light"/>
              </a:rPr>
              <a:t>Engine,</a:t>
            </a:r>
            <a:r>
              <a:rPr dirty="0" sz="2800" spc="-100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2800" spc="-10" b="0">
                <a:solidFill>
                  <a:srgbClr val="00632C"/>
                </a:solidFill>
                <a:latin typeface="Calibri Light"/>
                <a:cs typeface="Calibri Light"/>
              </a:rPr>
              <a:t>Azure</a:t>
            </a:r>
            <a:r>
              <a:rPr dirty="0" sz="2800" spc="-114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2800" spc="-25" b="0">
                <a:solidFill>
                  <a:srgbClr val="00632C"/>
                </a:solidFill>
                <a:latin typeface="Calibri Light"/>
                <a:cs typeface="Calibri Light"/>
              </a:rPr>
              <a:t>VMs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923036"/>
            <a:ext cx="12037060" cy="57061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Amazon</a:t>
            </a:r>
            <a:r>
              <a:rPr dirty="0" sz="2800" spc="-1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C00000"/>
                </a:solidFill>
                <a:latin typeface="Calibri"/>
                <a:cs typeface="Calibri"/>
              </a:rPr>
              <a:t>EC2</a:t>
            </a:r>
            <a:endParaRPr sz="2800">
              <a:latin typeface="Calibri"/>
              <a:cs typeface="Calibri"/>
            </a:endParaRPr>
          </a:p>
          <a:p>
            <a:pPr marL="294005" indent="-281305">
              <a:lnSpc>
                <a:spcPct val="100000"/>
              </a:lnSpc>
              <a:spcBef>
                <a:spcPts val="3270"/>
              </a:spcBef>
              <a:buFont typeface="Arial MT"/>
              <a:buChar char="•"/>
              <a:tabLst>
                <a:tab pos="294005" algn="l"/>
              </a:tabLst>
            </a:pPr>
            <a:r>
              <a:rPr dirty="0" sz="2000">
                <a:latin typeface="Calibri"/>
                <a:cs typeface="Calibri"/>
              </a:rPr>
              <a:t>Amazon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EC2 also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instances with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high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memory,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high CPU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resources, Cluster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instances, </a:t>
            </a:r>
            <a:r>
              <a:rPr dirty="0" sz="2000" spc="-10" b="1">
                <a:latin typeface="Calibri"/>
                <a:cs typeface="Calibri"/>
              </a:rPr>
              <a:t>Cluster</a:t>
            </a:r>
            <a:endParaRPr sz="2000">
              <a:latin typeface="Calibri"/>
              <a:cs typeface="Calibri"/>
            </a:endParaRPr>
          </a:p>
          <a:p>
            <a:pPr marL="294640">
              <a:lnSpc>
                <a:spcPct val="100000"/>
              </a:lnSpc>
              <a:spcBef>
                <a:spcPts val="720"/>
              </a:spcBef>
            </a:pPr>
            <a:r>
              <a:rPr dirty="0" sz="2000" b="1">
                <a:latin typeface="Calibri"/>
                <a:cs typeface="Calibri"/>
              </a:rPr>
              <a:t>Graphical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Processor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unit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(GPU)instances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3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high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Input/Output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instances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40"/>
              </a:spcBef>
            </a:pPr>
            <a:endParaRPr sz="2000">
              <a:latin typeface="Calibri"/>
              <a:cs typeface="Calibri"/>
            </a:endParaRPr>
          </a:p>
          <a:p>
            <a:pPr marL="294005" indent="-281305">
              <a:lnSpc>
                <a:spcPct val="100000"/>
              </a:lnSpc>
              <a:buFont typeface="Arial MT"/>
              <a:buChar char="•"/>
              <a:tabLst>
                <a:tab pos="294005" algn="l"/>
              </a:tabLst>
            </a:pPr>
            <a:r>
              <a:rPr dirty="0" sz="2000" spc="-10">
                <a:latin typeface="Calibri"/>
                <a:cs typeface="Calibri"/>
              </a:rPr>
              <a:t>Instances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launched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variety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operating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algn="just" marL="292100" marR="13335" indent="-279400">
              <a:lnSpc>
                <a:spcPct val="130000"/>
              </a:lnSpc>
              <a:buFont typeface="Arial MT"/>
              <a:buChar char="•"/>
              <a:tabLst>
                <a:tab pos="294640" algn="l"/>
              </a:tabLst>
            </a:pP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load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their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running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instances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rapidly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easily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increase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decrease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capacity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to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meet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dynamic</a:t>
            </a:r>
            <a:r>
              <a:rPr dirty="0" sz="2000" spc="-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-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performance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requirements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9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algn="just" marL="292100" marR="5080" indent="-279400">
              <a:lnSpc>
                <a:spcPct val="128600"/>
              </a:lnSpc>
              <a:buFont typeface="Arial MT"/>
              <a:buChar char="•"/>
              <a:tabLst>
                <a:tab pos="294640" algn="l"/>
              </a:tabLst>
            </a:pP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EC2,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even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provision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hundreds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thousands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instances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simultaneously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network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permissions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monitor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usage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resources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through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web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interface</a:t>
            </a:r>
            <a:r>
              <a:rPr dirty="0" sz="1600">
                <a:latin typeface="Calibri"/>
                <a:cs typeface="Calibri"/>
              </a:rPr>
              <a:t>.</a:t>
            </a:r>
            <a:r>
              <a:rPr dirty="0" sz="1600" spc="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(Create</a:t>
            </a:r>
            <a:r>
              <a:rPr dirty="0" sz="1600" spc="7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2</a:t>
            </a:r>
            <a:r>
              <a:rPr dirty="0" sz="1600" spc="7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VMs</a:t>
            </a:r>
            <a:r>
              <a:rPr dirty="0" sz="1600" spc="8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at</a:t>
            </a:r>
            <a:r>
              <a:rPr dirty="0" sz="1600" spc="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3</a:t>
            </a:r>
            <a:r>
              <a:rPr dirty="0" sz="1600" spc="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different</a:t>
            </a:r>
            <a:r>
              <a:rPr dirty="0" sz="1600" spc="8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places</a:t>
            </a:r>
            <a:r>
              <a:rPr dirty="0" sz="1600" spc="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8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running 	applications,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creating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network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among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3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allowing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transfer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among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3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VMs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monitoring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resource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usage)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785" y="-34975"/>
            <a:ext cx="8776970" cy="953769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ts val="365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z="3200" spc="-14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20" b="0">
                <a:solidFill>
                  <a:srgbClr val="000000"/>
                </a:solidFill>
                <a:latin typeface="Calibri Light"/>
                <a:cs typeface="Calibri Light"/>
              </a:rPr>
              <a:t>Services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Examples:</a:t>
            </a:r>
            <a:endParaRPr sz="3200">
              <a:latin typeface="Calibri Light"/>
              <a:cs typeface="Calibri Light"/>
            </a:endParaRPr>
          </a:p>
          <a:p>
            <a:pPr algn="ctr">
              <a:lnSpc>
                <a:spcPts val="3650"/>
              </a:lnSpc>
            </a:pPr>
            <a:r>
              <a:rPr dirty="0" sz="3200" spc="-40" b="0">
                <a:solidFill>
                  <a:srgbClr val="00632C"/>
                </a:solidFill>
                <a:latin typeface="Calibri Light"/>
                <a:cs typeface="Calibri Light"/>
              </a:rPr>
              <a:t>IaaS-</a:t>
            </a:r>
            <a:r>
              <a:rPr dirty="0" sz="3200" spc="-55" b="0">
                <a:solidFill>
                  <a:srgbClr val="00632C"/>
                </a:solidFill>
                <a:latin typeface="Calibri Light"/>
                <a:cs typeface="Calibri Light"/>
              </a:rPr>
              <a:t>Amazon</a:t>
            </a:r>
            <a:r>
              <a:rPr dirty="0" sz="3200" spc="-130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632C"/>
                </a:solidFill>
                <a:latin typeface="Calibri Light"/>
                <a:cs typeface="Calibri Light"/>
              </a:rPr>
              <a:t>EC2,</a:t>
            </a:r>
            <a:r>
              <a:rPr dirty="0" sz="3200" spc="-85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spc="-25" b="0">
                <a:solidFill>
                  <a:srgbClr val="00632C"/>
                </a:solidFill>
                <a:latin typeface="Calibri Light"/>
                <a:cs typeface="Calibri Light"/>
              </a:rPr>
              <a:t>Google</a:t>
            </a:r>
            <a:r>
              <a:rPr dirty="0" sz="3200" spc="-130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spc="-30" b="0">
                <a:solidFill>
                  <a:srgbClr val="00632C"/>
                </a:solidFill>
                <a:latin typeface="Calibri Light"/>
                <a:cs typeface="Calibri Light"/>
              </a:rPr>
              <a:t>Compute</a:t>
            </a:r>
            <a:r>
              <a:rPr dirty="0" sz="3200" spc="-120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spc="-20" b="0">
                <a:solidFill>
                  <a:srgbClr val="00632C"/>
                </a:solidFill>
                <a:latin typeface="Calibri Light"/>
                <a:cs typeface="Calibri Light"/>
              </a:rPr>
              <a:t>Engine,</a:t>
            </a:r>
            <a:r>
              <a:rPr dirty="0" sz="3200" spc="-105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spc="-20" b="0">
                <a:solidFill>
                  <a:srgbClr val="00632C"/>
                </a:solidFill>
                <a:latin typeface="Calibri Light"/>
                <a:cs typeface="Calibri Light"/>
              </a:rPr>
              <a:t>Azure</a:t>
            </a:r>
            <a:r>
              <a:rPr dirty="0" sz="3200" spc="-120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spc="-25" b="0">
                <a:solidFill>
                  <a:srgbClr val="00632C"/>
                </a:solidFill>
                <a:latin typeface="Calibri Light"/>
                <a:cs typeface="Calibri Light"/>
              </a:rPr>
              <a:t>VMs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5175630" y="1073911"/>
            <a:ext cx="184086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Amazon</a:t>
            </a:r>
            <a:r>
              <a:rPr dirty="0" sz="2800" spc="-1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C00000"/>
                </a:solidFill>
                <a:latin typeface="Calibri"/>
                <a:cs typeface="Calibri"/>
              </a:rPr>
              <a:t>EC2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1802915"/>
            <a:ext cx="12037060" cy="1013460"/>
          </a:xfrm>
          <a:prstGeom prst="rect">
            <a:avLst/>
          </a:prstGeom>
        </p:spPr>
        <p:txBody>
          <a:bodyPr wrap="square" lIns="0" tIns="40005" rIns="0" bIns="0" rtlCol="0" vert="horz">
            <a:spAutoFit/>
          </a:bodyPr>
          <a:lstStyle/>
          <a:p>
            <a:pPr algn="just" marL="292100" marR="5080" indent="-279400">
              <a:lnSpc>
                <a:spcPct val="128000"/>
              </a:lnSpc>
              <a:spcBef>
                <a:spcPts val="315"/>
              </a:spcBef>
              <a:buFont typeface="Arial MT"/>
              <a:buChar char="•"/>
              <a:tabLst>
                <a:tab pos="294640" algn="l"/>
              </a:tabLst>
            </a:pPr>
            <a:r>
              <a:rPr dirty="0" sz="2000">
                <a:latin typeface="Calibri"/>
                <a:cs typeface="Calibri"/>
              </a:rPr>
              <a:t>Amazon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EC2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provides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instances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various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computing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capacities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ranging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Small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Instances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(Eg: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1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Virtual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core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1 </a:t>
            </a:r>
            <a:r>
              <a:rPr dirty="0" sz="1400" spc="-5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EC2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compute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unit,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1.7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GB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memory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160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GB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instance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storage)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Extra</a:t>
            </a:r>
            <a:r>
              <a:rPr dirty="0" sz="1400" spc="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Large</a:t>
            </a:r>
            <a:r>
              <a:rPr dirty="0" sz="1400" spc="2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Instances</a:t>
            </a:r>
            <a:r>
              <a:rPr dirty="0" sz="1400" spc="2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(Eg: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4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Virtual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cores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2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EC@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compute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unit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each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15GB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memory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1690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GB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instance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storage).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8739" y="3385159"/>
            <a:ext cx="12035790" cy="2220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4640" marR="5080" indent="-281940">
              <a:lnSpc>
                <a:spcPct val="130000"/>
              </a:lnSpc>
              <a:spcBef>
                <a:spcPts val="100"/>
              </a:spcBef>
              <a:buFont typeface="Arial MT"/>
              <a:buChar char="•"/>
              <a:tabLst>
                <a:tab pos="29464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pricing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model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EC2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instances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spc="-30" b="1">
                <a:latin typeface="Calibri"/>
                <a:cs typeface="Calibri"/>
              </a:rPr>
              <a:t>Pay-</a:t>
            </a:r>
            <a:r>
              <a:rPr dirty="0" sz="2000" b="1">
                <a:latin typeface="Calibri"/>
                <a:cs typeface="Calibri"/>
              </a:rPr>
              <a:t>Per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model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billed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on </a:t>
            </a:r>
            <a:r>
              <a:rPr dirty="0" sz="2000" spc="-10">
                <a:latin typeface="Calibri"/>
                <a:cs typeface="Calibri"/>
              </a:rPr>
              <a:t>instance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hours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demand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instances.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294640" marR="6350" indent="-281940">
              <a:lnSpc>
                <a:spcPct val="130000"/>
              </a:lnSpc>
              <a:buFont typeface="Arial MT"/>
              <a:buChar char="•"/>
              <a:tabLst>
                <a:tab pos="294640" algn="l"/>
              </a:tabLst>
            </a:pPr>
            <a:r>
              <a:rPr dirty="0" sz="2000">
                <a:latin typeface="Calibri"/>
                <a:cs typeface="Calibri"/>
              </a:rPr>
              <a:t>EC2</a:t>
            </a:r>
            <a:r>
              <a:rPr dirty="0" sz="2000" spc="4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provides</a:t>
            </a:r>
            <a:r>
              <a:rPr dirty="0" sz="2000" spc="41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spot</a:t>
            </a:r>
            <a:r>
              <a:rPr dirty="0" sz="2000" spc="4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instances</a:t>
            </a:r>
            <a:r>
              <a:rPr dirty="0" sz="2000" spc="4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4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allow</a:t>
            </a:r>
            <a:r>
              <a:rPr dirty="0" sz="2000" spc="4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</a:t>
            </a:r>
            <a:r>
              <a:rPr dirty="0" sz="2000" spc="43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4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bid</a:t>
            </a:r>
            <a:r>
              <a:rPr dirty="0" sz="2000" spc="40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4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unused</a:t>
            </a:r>
            <a:r>
              <a:rPr dirty="0" sz="2000" spc="4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Amazon</a:t>
            </a:r>
            <a:r>
              <a:rPr dirty="0" sz="2000" spc="4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EC2</a:t>
            </a:r>
            <a:r>
              <a:rPr dirty="0" sz="2000" spc="4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capacity</a:t>
            </a:r>
            <a:r>
              <a:rPr dirty="0" sz="2000" spc="4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4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40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those </a:t>
            </a:r>
            <a:r>
              <a:rPr dirty="0" sz="2000" b="1">
                <a:latin typeface="Calibri"/>
                <a:cs typeface="Calibri"/>
              </a:rPr>
              <a:t>instances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long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their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exceeds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current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spot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price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785" y="84582"/>
            <a:ext cx="8779510" cy="9531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3650"/>
              </a:lnSpc>
              <a:spcBef>
                <a:spcPts val="100"/>
              </a:spcBef>
            </a:pP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z="3200" spc="-17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Services</a:t>
            </a:r>
            <a:r>
              <a:rPr dirty="0" sz="320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Examples:</a:t>
            </a:r>
            <a:endParaRPr sz="3200">
              <a:latin typeface="Calibri Light"/>
              <a:cs typeface="Calibri Light"/>
            </a:endParaRPr>
          </a:p>
          <a:p>
            <a:pPr algn="ctr">
              <a:lnSpc>
                <a:spcPts val="3650"/>
              </a:lnSpc>
            </a:pPr>
            <a:r>
              <a:rPr dirty="0" sz="3200" spc="-35" b="0">
                <a:solidFill>
                  <a:srgbClr val="00632C"/>
                </a:solidFill>
                <a:latin typeface="Calibri Light"/>
                <a:cs typeface="Calibri Light"/>
              </a:rPr>
              <a:t>IaaS-</a:t>
            </a:r>
            <a:r>
              <a:rPr dirty="0" sz="3200" spc="-55" b="0">
                <a:solidFill>
                  <a:srgbClr val="00632C"/>
                </a:solidFill>
                <a:latin typeface="Calibri Light"/>
                <a:cs typeface="Calibri Light"/>
              </a:rPr>
              <a:t>Amazon</a:t>
            </a:r>
            <a:r>
              <a:rPr dirty="0" sz="3200" spc="-130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632C"/>
                </a:solidFill>
                <a:latin typeface="Calibri Light"/>
                <a:cs typeface="Calibri Light"/>
              </a:rPr>
              <a:t>EC2,</a:t>
            </a:r>
            <a:r>
              <a:rPr dirty="0" sz="3200" spc="-95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spc="-25" b="0">
                <a:solidFill>
                  <a:srgbClr val="00632C"/>
                </a:solidFill>
                <a:latin typeface="Calibri Light"/>
                <a:cs typeface="Calibri Light"/>
              </a:rPr>
              <a:t>Google</a:t>
            </a:r>
            <a:r>
              <a:rPr dirty="0" sz="3200" spc="-140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spc="-30" b="0">
                <a:solidFill>
                  <a:srgbClr val="00632C"/>
                </a:solidFill>
                <a:latin typeface="Calibri Light"/>
                <a:cs typeface="Calibri Light"/>
              </a:rPr>
              <a:t>Compute</a:t>
            </a:r>
            <a:r>
              <a:rPr dirty="0" sz="3200" spc="-125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spc="-20" b="0">
                <a:solidFill>
                  <a:srgbClr val="00632C"/>
                </a:solidFill>
                <a:latin typeface="Calibri Light"/>
                <a:cs typeface="Calibri Light"/>
              </a:rPr>
              <a:t>Engine,</a:t>
            </a:r>
            <a:r>
              <a:rPr dirty="0" sz="3200" spc="-110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spc="-20" b="0">
                <a:solidFill>
                  <a:srgbClr val="00632C"/>
                </a:solidFill>
                <a:latin typeface="Calibri Light"/>
                <a:cs typeface="Calibri Light"/>
              </a:rPr>
              <a:t>Azure</a:t>
            </a:r>
            <a:r>
              <a:rPr dirty="0" sz="3200" spc="-125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spc="-25" b="0">
                <a:solidFill>
                  <a:srgbClr val="00632C"/>
                </a:solidFill>
                <a:latin typeface="Calibri Light"/>
                <a:cs typeface="Calibri Light"/>
              </a:rPr>
              <a:t>VMs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154683"/>
            <a:ext cx="8595995" cy="12045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97967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Amazon</a:t>
            </a:r>
            <a:r>
              <a:rPr dirty="0" sz="32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25" b="1">
                <a:solidFill>
                  <a:srgbClr val="C00000"/>
                </a:solidFill>
                <a:latin typeface="Calibri"/>
                <a:cs typeface="Calibri"/>
              </a:rPr>
              <a:t>EC2</a:t>
            </a:r>
            <a:endParaRPr sz="3200">
              <a:latin typeface="Calibri"/>
              <a:cs typeface="Calibri"/>
            </a:endParaRPr>
          </a:p>
          <a:p>
            <a:pPr marL="294005" indent="-281305">
              <a:lnSpc>
                <a:spcPct val="100000"/>
              </a:lnSpc>
              <a:spcBef>
                <a:spcPts val="2315"/>
              </a:spcBef>
              <a:buFont typeface="Arial MT"/>
              <a:buChar char="•"/>
              <a:tabLst>
                <a:tab pos="294005" algn="l"/>
              </a:tabLst>
            </a:pPr>
            <a:r>
              <a:rPr dirty="0" sz="2600">
                <a:latin typeface="Calibri"/>
                <a:cs typeface="Calibri"/>
              </a:rPr>
              <a:t>The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below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figure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shows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screenshot</a:t>
            </a:r>
            <a:r>
              <a:rPr dirty="0" sz="2600" spc="-8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of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Amazon</a:t>
            </a:r>
            <a:r>
              <a:rPr dirty="0" sz="2600" spc="-75">
                <a:latin typeface="Calibri"/>
                <a:cs typeface="Calibri"/>
              </a:rPr>
              <a:t> </a:t>
            </a:r>
            <a:r>
              <a:rPr dirty="0" sz="2600">
                <a:latin typeface="Calibri"/>
                <a:cs typeface="Calibri"/>
              </a:rPr>
              <a:t>EC2</a:t>
            </a:r>
            <a:r>
              <a:rPr dirty="0" sz="2600" spc="-45">
                <a:latin typeface="Calibri"/>
                <a:cs typeface="Calibri"/>
              </a:rPr>
              <a:t> </a:t>
            </a:r>
            <a:r>
              <a:rPr dirty="0" sz="2600" spc="-10">
                <a:latin typeface="Calibri"/>
                <a:cs typeface="Calibri"/>
              </a:rPr>
              <a:t>dashboard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2048" y="2564892"/>
            <a:ext cx="6997558" cy="375818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21302" y="-28194"/>
            <a:ext cx="355155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z="28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Services</a:t>
            </a:r>
            <a:r>
              <a:rPr dirty="0" sz="2800" spc="-114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Examples: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55854"/>
            <a:ext cx="12035155" cy="3555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3304"/>
              </a:lnSpc>
              <a:spcBef>
                <a:spcPts val="95"/>
              </a:spcBef>
            </a:pPr>
            <a:r>
              <a:rPr dirty="0" sz="2800" spc="-25">
                <a:solidFill>
                  <a:srgbClr val="00632C"/>
                </a:solidFill>
                <a:latin typeface="Calibri Light"/>
                <a:cs typeface="Calibri Light"/>
              </a:rPr>
              <a:t>IaaS-</a:t>
            </a:r>
            <a:r>
              <a:rPr dirty="0" sz="2800" spc="-35">
                <a:solidFill>
                  <a:srgbClr val="00632C"/>
                </a:solidFill>
                <a:latin typeface="Calibri Light"/>
                <a:cs typeface="Calibri Light"/>
              </a:rPr>
              <a:t>Amazon</a:t>
            </a:r>
            <a:r>
              <a:rPr dirty="0" sz="2800" spc="-114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2800" spc="-10">
                <a:solidFill>
                  <a:srgbClr val="00632C"/>
                </a:solidFill>
                <a:latin typeface="Calibri Light"/>
                <a:cs typeface="Calibri Light"/>
              </a:rPr>
              <a:t>EC2,</a:t>
            </a:r>
            <a:r>
              <a:rPr dirty="0" sz="2800" spc="-10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2800" spc="-20">
                <a:solidFill>
                  <a:srgbClr val="00632C"/>
                </a:solidFill>
                <a:latin typeface="Calibri Light"/>
                <a:cs typeface="Calibri Light"/>
              </a:rPr>
              <a:t>Google</a:t>
            </a:r>
            <a:r>
              <a:rPr dirty="0" sz="2800" spc="-11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2800" spc="-30">
                <a:solidFill>
                  <a:srgbClr val="00632C"/>
                </a:solidFill>
                <a:latin typeface="Calibri Light"/>
                <a:cs typeface="Calibri Light"/>
              </a:rPr>
              <a:t>Compute</a:t>
            </a:r>
            <a:r>
              <a:rPr dirty="0" sz="2800" spc="-12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2800" spc="-10">
                <a:solidFill>
                  <a:srgbClr val="00632C"/>
                </a:solidFill>
                <a:latin typeface="Calibri Light"/>
                <a:cs typeface="Calibri Light"/>
              </a:rPr>
              <a:t>Engine,</a:t>
            </a:r>
            <a:r>
              <a:rPr dirty="0" sz="2800" spc="-10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2800" spc="-10">
                <a:solidFill>
                  <a:srgbClr val="00632C"/>
                </a:solidFill>
                <a:latin typeface="Calibri Light"/>
                <a:cs typeface="Calibri Light"/>
              </a:rPr>
              <a:t>Azure</a:t>
            </a:r>
            <a:r>
              <a:rPr dirty="0" sz="2800" spc="-114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2800" spc="-25">
                <a:solidFill>
                  <a:srgbClr val="00632C"/>
                </a:solidFill>
                <a:latin typeface="Calibri Light"/>
                <a:cs typeface="Calibri Light"/>
              </a:rPr>
              <a:t>VMs</a:t>
            </a:r>
            <a:endParaRPr sz="2800">
              <a:latin typeface="Calibri Light"/>
              <a:cs typeface="Calibri Light"/>
            </a:endParaRPr>
          </a:p>
          <a:p>
            <a:pPr algn="ctr">
              <a:lnSpc>
                <a:spcPts val="3785"/>
              </a:lnSpc>
            </a:pP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Google</a:t>
            </a:r>
            <a:r>
              <a:rPr dirty="0" sz="32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Compute</a:t>
            </a:r>
            <a:r>
              <a:rPr dirty="0" sz="32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Engine</a:t>
            </a:r>
            <a:endParaRPr sz="3200">
              <a:latin typeface="Calibri"/>
              <a:cs typeface="Calibri"/>
            </a:endParaRPr>
          </a:p>
          <a:p>
            <a:pPr algn="just" marL="352425" indent="-339725">
              <a:lnSpc>
                <a:spcPct val="100000"/>
              </a:lnSpc>
              <a:spcBef>
                <a:spcPts val="1500"/>
              </a:spcBef>
              <a:buFont typeface="Arial MT"/>
              <a:buChar char="•"/>
              <a:tabLst>
                <a:tab pos="352425" algn="l"/>
              </a:tabLst>
            </a:pPr>
            <a:r>
              <a:rPr dirty="0" sz="2000" b="1">
                <a:latin typeface="Calibri"/>
                <a:cs typeface="Calibri"/>
              </a:rPr>
              <a:t>Google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Engine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(GCE)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IaaS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offering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Google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algn="just" marL="351790" marR="5080" indent="-339090">
              <a:lnSpc>
                <a:spcPct val="150100"/>
              </a:lnSpc>
              <a:spcBef>
                <a:spcPts val="11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GCE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provides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machines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various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computing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capacities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ranging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small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instances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(Eg: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core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1.38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GCE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unit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1.7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GB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memory)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high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memory machine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types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(8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cores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22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GCE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unit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52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GB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memory.</a:t>
            </a:r>
            <a:endParaRPr sz="2000">
              <a:latin typeface="Calibri"/>
              <a:cs typeface="Calibri"/>
            </a:endParaRPr>
          </a:p>
          <a:p>
            <a:pPr algn="just" marL="292100" indent="-279400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29210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below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figure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screenshot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Google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Engine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dashboard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6675" y="3979163"/>
            <a:ext cx="8461248" cy="287883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08785" y="84582"/>
            <a:ext cx="8779510" cy="9531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3650"/>
              </a:lnSpc>
              <a:spcBef>
                <a:spcPts val="100"/>
              </a:spcBef>
            </a:pP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z="3200" spc="-17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Services</a:t>
            </a:r>
            <a:r>
              <a:rPr dirty="0" sz="320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Examples:</a:t>
            </a:r>
            <a:endParaRPr sz="3200">
              <a:latin typeface="Calibri Light"/>
              <a:cs typeface="Calibri Light"/>
            </a:endParaRPr>
          </a:p>
          <a:p>
            <a:pPr algn="ctr">
              <a:lnSpc>
                <a:spcPts val="3650"/>
              </a:lnSpc>
            </a:pPr>
            <a:r>
              <a:rPr dirty="0" sz="3200" spc="-35" b="0">
                <a:solidFill>
                  <a:srgbClr val="00632C"/>
                </a:solidFill>
                <a:latin typeface="Calibri Light"/>
                <a:cs typeface="Calibri Light"/>
              </a:rPr>
              <a:t>IaaS-</a:t>
            </a:r>
            <a:r>
              <a:rPr dirty="0" sz="3200" spc="-55" b="0">
                <a:solidFill>
                  <a:srgbClr val="00632C"/>
                </a:solidFill>
                <a:latin typeface="Calibri Light"/>
                <a:cs typeface="Calibri Light"/>
              </a:rPr>
              <a:t>Amazon</a:t>
            </a:r>
            <a:r>
              <a:rPr dirty="0" sz="3200" spc="-130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632C"/>
                </a:solidFill>
                <a:latin typeface="Calibri Light"/>
                <a:cs typeface="Calibri Light"/>
              </a:rPr>
              <a:t>EC2,</a:t>
            </a:r>
            <a:r>
              <a:rPr dirty="0" sz="3200" spc="-95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spc="-25" b="0">
                <a:solidFill>
                  <a:srgbClr val="00632C"/>
                </a:solidFill>
                <a:latin typeface="Calibri Light"/>
                <a:cs typeface="Calibri Light"/>
              </a:rPr>
              <a:t>Google</a:t>
            </a:r>
            <a:r>
              <a:rPr dirty="0" sz="3200" spc="-140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spc="-30" b="0">
                <a:solidFill>
                  <a:srgbClr val="00632C"/>
                </a:solidFill>
                <a:latin typeface="Calibri Light"/>
                <a:cs typeface="Calibri Light"/>
              </a:rPr>
              <a:t>Compute</a:t>
            </a:r>
            <a:r>
              <a:rPr dirty="0" sz="3200" spc="-125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spc="-20" b="0">
                <a:solidFill>
                  <a:srgbClr val="00632C"/>
                </a:solidFill>
                <a:latin typeface="Calibri Light"/>
                <a:cs typeface="Calibri Light"/>
              </a:rPr>
              <a:t>Engine,</a:t>
            </a:r>
            <a:r>
              <a:rPr dirty="0" sz="3200" spc="-110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spc="-20" b="0">
                <a:solidFill>
                  <a:srgbClr val="00632C"/>
                </a:solidFill>
                <a:latin typeface="Calibri Light"/>
                <a:cs typeface="Calibri Light"/>
              </a:rPr>
              <a:t>Azure</a:t>
            </a:r>
            <a:r>
              <a:rPr dirty="0" sz="3200" spc="-125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z="3200" spc="-25" b="0">
                <a:solidFill>
                  <a:srgbClr val="00632C"/>
                </a:solidFill>
                <a:latin typeface="Calibri Light"/>
                <a:cs typeface="Calibri Light"/>
              </a:rPr>
              <a:t>VMs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804271"/>
            <a:ext cx="12034520" cy="2487930"/>
          </a:xfrm>
          <a:prstGeom prst="rect">
            <a:avLst/>
          </a:prstGeom>
        </p:spPr>
        <p:txBody>
          <a:bodyPr wrap="square" lIns="0" tIns="19558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40"/>
              </a:spcBef>
            </a:pPr>
            <a:r>
              <a:rPr dirty="0" sz="3200" b="1">
                <a:solidFill>
                  <a:srgbClr val="C00000"/>
                </a:solidFill>
                <a:latin typeface="Calibri"/>
                <a:cs typeface="Calibri"/>
              </a:rPr>
              <a:t>Windows</a:t>
            </a:r>
            <a:r>
              <a:rPr dirty="0" sz="32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200" spc="-20" b="1">
                <a:solidFill>
                  <a:srgbClr val="C00000"/>
                </a:solidFill>
                <a:latin typeface="Calibri"/>
                <a:cs typeface="Calibri"/>
              </a:rPr>
              <a:t>Azure</a:t>
            </a:r>
            <a:endParaRPr sz="3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Windows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Azure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IaaS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offering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Microsoft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Azure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VMs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provides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machines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various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computing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capacities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ranging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small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instances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(1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virtual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Calibri"/>
                <a:cs typeface="Calibri"/>
              </a:rPr>
              <a:t>core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1.75GB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memory)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memory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intensive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types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8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cores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56GB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memory).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below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figure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screenshot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Google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Engine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dashboard.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50364" y="3645407"/>
            <a:ext cx="6374892" cy="3212591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4478" y="-34290"/>
            <a:ext cx="4546600" cy="1068070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70485" marR="5080" indent="-58419">
              <a:lnSpc>
                <a:spcPts val="3890"/>
              </a:lnSpc>
              <a:spcBef>
                <a:spcPts val="585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8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Services</a:t>
            </a:r>
            <a:r>
              <a:rPr dirty="0" spc="-17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5" b="0">
                <a:solidFill>
                  <a:srgbClr val="000000"/>
                </a:solidFill>
                <a:latin typeface="Calibri Light"/>
                <a:cs typeface="Calibri Light"/>
              </a:rPr>
              <a:t>Examples: </a:t>
            </a:r>
            <a:r>
              <a:rPr dirty="0" spc="-55" b="0">
                <a:solidFill>
                  <a:srgbClr val="00632C"/>
                </a:solidFill>
                <a:latin typeface="Calibri Light"/>
                <a:cs typeface="Calibri Light"/>
              </a:rPr>
              <a:t>PaaS-</a:t>
            </a:r>
            <a:r>
              <a:rPr dirty="0" spc="-25" b="0">
                <a:solidFill>
                  <a:srgbClr val="00632C"/>
                </a:solidFill>
                <a:latin typeface="Calibri Light"/>
                <a:cs typeface="Calibri Light"/>
              </a:rPr>
              <a:t>Google</a:t>
            </a:r>
            <a:r>
              <a:rPr dirty="0" spc="-150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632C"/>
                </a:solidFill>
                <a:latin typeface="Calibri Light"/>
                <a:cs typeface="Calibri Light"/>
              </a:rPr>
              <a:t>App</a:t>
            </a:r>
            <a:r>
              <a:rPr dirty="0" spc="-155" b="0">
                <a:solidFill>
                  <a:srgbClr val="00632C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632C"/>
                </a:solidFill>
                <a:latin typeface="Calibri Light"/>
                <a:cs typeface="Calibri Light"/>
              </a:rPr>
              <a:t>Engine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100785"/>
            <a:ext cx="12036425" cy="39897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Google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Engine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(GAE)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offering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Google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GAE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web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hosting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web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storing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data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GAE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allows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build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scalable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reliable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same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systems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power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Google’s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own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applications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  <a:tab pos="914400" algn="l"/>
                <a:tab pos="1926589" algn="l"/>
                <a:tab pos="2176780" algn="l"/>
                <a:tab pos="3256915" algn="l"/>
                <a:tab pos="5227955" algn="l"/>
                <a:tab pos="5934075" algn="l"/>
                <a:tab pos="6365240" algn="l"/>
                <a:tab pos="7659370" algn="l"/>
                <a:tab pos="8238490" algn="l"/>
                <a:tab pos="9640570" algn="l"/>
                <a:tab pos="10701655" algn="l"/>
                <a:tab pos="11264265" algn="l"/>
              </a:tabLst>
            </a:pPr>
            <a:r>
              <a:rPr dirty="0" sz="2000" spc="-25">
                <a:latin typeface="Calibri"/>
                <a:cs typeface="Calibri"/>
              </a:rPr>
              <a:t>GAE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provides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50">
                <a:latin typeface="Calibri"/>
                <a:cs typeface="Calibri"/>
              </a:rPr>
              <a:t>a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Software</a:t>
            </a:r>
            <a:r>
              <a:rPr dirty="0" sz="2000" b="1">
                <a:latin typeface="Calibri"/>
                <a:cs typeface="Calibri"/>
              </a:rPr>
              <a:t>	Development</a:t>
            </a:r>
            <a:r>
              <a:rPr dirty="0" sz="2000" spc="44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Kit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(SDK)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for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developing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web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applications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software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0" b="1">
                <a:latin typeface="Calibri"/>
                <a:cs typeface="Calibri"/>
              </a:rPr>
              <a:t>that</a:t>
            </a:r>
            <a:r>
              <a:rPr dirty="0" sz="2000" b="1">
                <a:latin typeface="Calibri"/>
                <a:cs typeface="Calibri"/>
              </a:rPr>
              <a:t>	can</a:t>
            </a:r>
            <a:r>
              <a:rPr dirty="0" sz="2000" spc="35" b="1">
                <a:latin typeface="Calibri"/>
                <a:cs typeface="Calibri"/>
              </a:rPr>
              <a:t>  </a:t>
            </a:r>
            <a:r>
              <a:rPr dirty="0" sz="2000" spc="-25" b="1">
                <a:latin typeface="Calibri"/>
                <a:cs typeface="Calibri"/>
              </a:rPr>
              <a:t>be </a:t>
            </a:r>
            <a:r>
              <a:rPr dirty="0" sz="2000" b="1">
                <a:latin typeface="Calibri"/>
                <a:cs typeface="Calibri"/>
              </a:rPr>
              <a:t>deployed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GAE.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4478" y="-34290"/>
            <a:ext cx="4546600" cy="1068070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70485" marR="5080" indent="-58419">
              <a:lnSpc>
                <a:spcPts val="3890"/>
              </a:lnSpc>
              <a:spcBef>
                <a:spcPts val="585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8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Services</a:t>
            </a:r>
            <a:r>
              <a:rPr dirty="0" spc="-17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5" b="0">
                <a:solidFill>
                  <a:srgbClr val="000000"/>
                </a:solidFill>
                <a:latin typeface="Calibri Light"/>
                <a:cs typeface="Calibri Light"/>
              </a:rPr>
              <a:t>Examples: </a:t>
            </a:r>
            <a:r>
              <a:rPr dirty="0" spc="-55" b="0">
                <a:solidFill>
                  <a:srgbClr val="000000"/>
                </a:solidFill>
                <a:latin typeface="Calibri Light"/>
                <a:cs typeface="Calibri Light"/>
              </a:rPr>
              <a:t>PaaS-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Google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App</a:t>
            </a:r>
            <a:r>
              <a:rPr dirty="0" spc="-15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Engine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951970"/>
            <a:ext cx="12033250" cy="5330825"/>
          </a:xfrm>
          <a:prstGeom prst="rect">
            <a:avLst/>
          </a:prstGeom>
        </p:spPr>
        <p:txBody>
          <a:bodyPr wrap="square" lIns="0" tIns="15811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4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900">
                <a:latin typeface="Calibri"/>
                <a:cs typeface="Calibri"/>
              </a:rPr>
              <a:t>Developers</a:t>
            </a:r>
            <a:r>
              <a:rPr dirty="0" sz="1900" spc="1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can</a:t>
            </a:r>
            <a:r>
              <a:rPr dirty="0" sz="1900" spc="10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develop</a:t>
            </a:r>
            <a:r>
              <a:rPr dirty="0" sz="1900" spc="1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and</a:t>
            </a:r>
            <a:r>
              <a:rPr dirty="0" sz="1900" spc="2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test</a:t>
            </a:r>
            <a:r>
              <a:rPr dirty="0" sz="1900" spc="2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their</a:t>
            </a:r>
            <a:r>
              <a:rPr dirty="0" sz="1900" spc="1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applications</a:t>
            </a:r>
            <a:r>
              <a:rPr dirty="0" sz="1900" spc="1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with</a:t>
            </a:r>
            <a:r>
              <a:rPr dirty="0" sz="1900" spc="1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GAE</a:t>
            </a:r>
            <a:r>
              <a:rPr dirty="0" sz="1900" spc="1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SDK</a:t>
            </a:r>
            <a:r>
              <a:rPr dirty="0" sz="1900" spc="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on</a:t>
            </a:r>
            <a:r>
              <a:rPr dirty="0" sz="1900" spc="1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</a:t>
            </a:r>
            <a:r>
              <a:rPr dirty="0" sz="1900" spc="1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local</a:t>
            </a:r>
            <a:r>
              <a:rPr dirty="0" sz="1900" spc="2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machine</a:t>
            </a:r>
            <a:r>
              <a:rPr dirty="0" sz="1900" spc="25" b="1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15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then</a:t>
            </a:r>
            <a:r>
              <a:rPr dirty="0" sz="1900" spc="1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upload</a:t>
            </a:r>
            <a:r>
              <a:rPr dirty="0" sz="1900" spc="1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it</a:t>
            </a:r>
            <a:r>
              <a:rPr dirty="0" sz="1900" spc="1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to</a:t>
            </a:r>
            <a:r>
              <a:rPr dirty="0" sz="1900" spc="1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GAE</a:t>
            </a:r>
            <a:r>
              <a:rPr dirty="0" sz="1900" spc="15" b="1">
                <a:latin typeface="Calibri"/>
                <a:cs typeface="Calibri"/>
              </a:rPr>
              <a:t> </a:t>
            </a:r>
            <a:r>
              <a:rPr dirty="0" sz="1900" spc="-20">
                <a:latin typeface="Calibri"/>
                <a:cs typeface="Calibri"/>
              </a:rPr>
              <a:t>with</a:t>
            </a:r>
            <a:endParaRPr sz="19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140"/>
              </a:spcBef>
            </a:pP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simple</a:t>
            </a:r>
            <a:r>
              <a:rPr dirty="0" sz="1900" spc="-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click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of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button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80"/>
              </a:spcBef>
            </a:pPr>
            <a:endParaRPr sz="1900">
              <a:latin typeface="Calibri"/>
              <a:cs typeface="Calibri"/>
            </a:endParaRPr>
          </a:p>
          <a:p>
            <a:pPr marL="355600" marR="5080" indent="-342900">
              <a:lnSpc>
                <a:spcPct val="1501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900">
                <a:latin typeface="Calibri"/>
                <a:cs typeface="Calibri"/>
              </a:rPr>
              <a:t>Applications</a:t>
            </a:r>
            <a:r>
              <a:rPr dirty="0" sz="1900" spc="37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hosted</a:t>
            </a:r>
            <a:r>
              <a:rPr dirty="0" sz="1900" spc="38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</a:t>
            </a:r>
            <a:r>
              <a:rPr dirty="0" sz="1900" spc="38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GAE</a:t>
            </a:r>
            <a:r>
              <a:rPr dirty="0" sz="1900" spc="3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are</a:t>
            </a:r>
            <a:r>
              <a:rPr dirty="0" sz="1900" spc="390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easy</a:t>
            </a:r>
            <a:r>
              <a:rPr dirty="0" sz="1900" spc="39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to</a:t>
            </a:r>
            <a:r>
              <a:rPr dirty="0" sz="1900" spc="38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build,</a:t>
            </a:r>
            <a:r>
              <a:rPr dirty="0" sz="1900" spc="37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maintain</a:t>
            </a:r>
            <a:r>
              <a:rPr dirty="0" sz="1900" spc="38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and</a:t>
            </a:r>
            <a:r>
              <a:rPr dirty="0" sz="1900" spc="39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scale</a:t>
            </a:r>
            <a:r>
              <a:rPr dirty="0" sz="1900">
                <a:latin typeface="Calibri"/>
                <a:cs typeface="Calibri"/>
              </a:rPr>
              <a:t>.</a:t>
            </a:r>
            <a:r>
              <a:rPr dirty="0" sz="1900" spc="38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Users</a:t>
            </a:r>
            <a:r>
              <a:rPr dirty="0" sz="1900" spc="385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don’t</a:t>
            </a:r>
            <a:r>
              <a:rPr dirty="0" sz="1900" spc="38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need</a:t>
            </a:r>
            <a:r>
              <a:rPr dirty="0" sz="1900" spc="37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to</a:t>
            </a:r>
            <a:r>
              <a:rPr dirty="0" sz="1900" spc="38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worry</a:t>
            </a:r>
            <a:r>
              <a:rPr dirty="0" sz="1900" spc="39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about</a:t>
            </a:r>
            <a:r>
              <a:rPr dirty="0" sz="1900" spc="39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launching </a:t>
            </a:r>
            <a:r>
              <a:rPr dirty="0" sz="1900" b="1">
                <a:latin typeface="Calibri"/>
                <a:cs typeface="Calibri"/>
              </a:rPr>
              <a:t>additional</a:t>
            </a:r>
            <a:r>
              <a:rPr dirty="0" sz="1900" spc="-7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computing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instances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when</a:t>
            </a:r>
            <a:r>
              <a:rPr dirty="0" sz="1900" spc="-7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7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applications</a:t>
            </a:r>
            <a:r>
              <a:rPr dirty="0" sz="1900" spc="-5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load</a:t>
            </a:r>
            <a:r>
              <a:rPr dirty="0" sz="1900" spc="-7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increases</a:t>
            </a:r>
            <a:r>
              <a:rPr dirty="0" sz="1900" spc="-1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"/>
              </a:spcBef>
              <a:buFont typeface="Arial MT"/>
              <a:buChar char="•"/>
            </a:pP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900">
                <a:latin typeface="Calibri"/>
                <a:cs typeface="Calibri"/>
              </a:rPr>
              <a:t>GAE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provides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automatic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scaling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and</a:t>
            </a:r>
            <a:r>
              <a:rPr dirty="0" sz="1900" spc="-5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load</a:t>
            </a:r>
            <a:r>
              <a:rPr dirty="0" sz="1900" spc="-7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balancing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capability</a:t>
            </a:r>
            <a:r>
              <a:rPr dirty="0" sz="1900" spc="-1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5"/>
              </a:spcBef>
              <a:buFont typeface="Arial MT"/>
              <a:buChar char="•"/>
            </a:pP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900">
                <a:latin typeface="Calibri"/>
                <a:cs typeface="Calibri"/>
              </a:rPr>
              <a:t>GAE</a:t>
            </a:r>
            <a:r>
              <a:rPr dirty="0" sz="1900" spc="-80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supports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applications</a:t>
            </a:r>
            <a:r>
              <a:rPr dirty="0" sz="1900" spc="-5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written</a:t>
            </a:r>
            <a:r>
              <a:rPr dirty="0" sz="1900" spc="-7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in</a:t>
            </a:r>
            <a:r>
              <a:rPr dirty="0" sz="1900" spc="-8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several</a:t>
            </a:r>
            <a:r>
              <a:rPr dirty="0" sz="1900" spc="-7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programming</a:t>
            </a:r>
            <a:r>
              <a:rPr dirty="0" sz="1900" spc="-5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language</a:t>
            </a:r>
            <a:r>
              <a:rPr dirty="0" sz="1900" spc="-1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80"/>
              </a:spcBef>
              <a:buFont typeface="Arial MT"/>
              <a:buChar char="•"/>
            </a:pPr>
            <a:endParaRPr sz="1900">
              <a:latin typeface="Calibri"/>
              <a:cs typeface="Calibri"/>
            </a:endParaRPr>
          </a:p>
          <a:p>
            <a:pPr marL="355600" marR="5080" indent="-342900">
              <a:lnSpc>
                <a:spcPct val="1501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900">
                <a:latin typeface="Calibri"/>
                <a:cs typeface="Calibri"/>
              </a:rPr>
              <a:t>With</a:t>
            </a:r>
            <a:r>
              <a:rPr dirty="0" sz="1900" spc="1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Java</a:t>
            </a:r>
            <a:r>
              <a:rPr dirty="0" sz="1900" spc="1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runtime</a:t>
            </a:r>
            <a:r>
              <a:rPr dirty="0" sz="1900" spc="1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environment</a:t>
            </a:r>
            <a:r>
              <a:rPr dirty="0" sz="1900" spc="1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developers</a:t>
            </a:r>
            <a:r>
              <a:rPr dirty="0" sz="1900" spc="1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can</a:t>
            </a:r>
            <a:r>
              <a:rPr dirty="0" sz="1900" spc="155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build</a:t>
            </a:r>
            <a:r>
              <a:rPr dirty="0" sz="1900" spc="15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applications</a:t>
            </a:r>
            <a:r>
              <a:rPr dirty="0" sz="1900" spc="16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using</a:t>
            </a:r>
            <a:r>
              <a:rPr dirty="0" sz="1900" spc="15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Java</a:t>
            </a:r>
            <a:r>
              <a:rPr dirty="0" sz="1900" spc="15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programming</a:t>
            </a:r>
            <a:r>
              <a:rPr dirty="0" sz="1900" spc="16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language</a:t>
            </a:r>
            <a:r>
              <a:rPr dirty="0" sz="1900" spc="16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and</a:t>
            </a:r>
            <a:r>
              <a:rPr dirty="0" sz="1900" spc="15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standard </a:t>
            </a:r>
            <a:r>
              <a:rPr dirty="0" sz="1900" b="1">
                <a:latin typeface="Calibri"/>
                <a:cs typeface="Calibri"/>
              </a:rPr>
              <a:t>Java</a:t>
            </a:r>
            <a:r>
              <a:rPr dirty="0" sz="1900" spc="-7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technologies</a:t>
            </a:r>
            <a:r>
              <a:rPr dirty="0" sz="1900" spc="-2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such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as</a:t>
            </a:r>
            <a:r>
              <a:rPr dirty="0" sz="1900" spc="-6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Java</a:t>
            </a:r>
            <a:r>
              <a:rPr dirty="0" sz="1900" spc="-6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Servlets</a:t>
            </a:r>
            <a:r>
              <a:rPr dirty="0" sz="1900">
                <a:latin typeface="Calibri"/>
                <a:cs typeface="Calibri"/>
              </a:rPr>
              <a:t>.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GAE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also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provides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runtime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environment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for</a:t>
            </a:r>
            <a:r>
              <a:rPr dirty="0" sz="1900" spc="-6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Python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programming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languages</a:t>
            </a:r>
            <a:r>
              <a:rPr dirty="0" sz="1900" spc="-1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4478" y="-34290"/>
            <a:ext cx="4546600" cy="1068070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70485" marR="5080" indent="-58419">
              <a:lnSpc>
                <a:spcPts val="3890"/>
              </a:lnSpc>
              <a:spcBef>
                <a:spcPts val="585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8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Services</a:t>
            </a:r>
            <a:r>
              <a:rPr dirty="0" spc="-17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5" b="0">
                <a:solidFill>
                  <a:srgbClr val="000000"/>
                </a:solidFill>
                <a:latin typeface="Calibri Light"/>
                <a:cs typeface="Calibri Light"/>
              </a:rPr>
              <a:t>Examples: </a:t>
            </a:r>
            <a:r>
              <a:rPr dirty="0" spc="-55" b="0">
                <a:solidFill>
                  <a:srgbClr val="000000"/>
                </a:solidFill>
                <a:latin typeface="Calibri Light"/>
                <a:cs typeface="Calibri Light"/>
              </a:rPr>
              <a:t>PaaS-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Google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App</a:t>
            </a:r>
            <a:r>
              <a:rPr dirty="0" spc="-15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Engine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948619"/>
            <a:ext cx="12035790" cy="3989704"/>
          </a:xfrm>
          <a:prstGeom prst="rect">
            <a:avLst/>
          </a:prstGeom>
        </p:spPr>
        <p:txBody>
          <a:bodyPr wrap="square" lIns="0" tIns="1657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hosted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GAE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secure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sandbox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limited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underlying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operating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spc="-10">
                <a:latin typeface="Calibri"/>
                <a:cs typeface="Calibri"/>
              </a:rPr>
              <a:t>hardware.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15"/>
              </a:spcBef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pricing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model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GAE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amount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computing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used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501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GAE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free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computing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resources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up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certain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limit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Beyond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limit,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10" b="1">
                <a:latin typeface="Calibri"/>
                <a:cs typeface="Calibri"/>
              </a:rPr>
              <a:t> billed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3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amount</a:t>
            </a:r>
            <a:r>
              <a:rPr dirty="0" sz="2000" spc="3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computing</a:t>
            </a:r>
            <a:r>
              <a:rPr dirty="0" sz="2000" spc="3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resources</a:t>
            </a:r>
            <a:r>
              <a:rPr dirty="0" sz="2000" spc="3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used</a:t>
            </a:r>
            <a:r>
              <a:rPr dirty="0" sz="2000" spc="3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such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amount</a:t>
            </a:r>
            <a:r>
              <a:rPr dirty="0" sz="2000" spc="3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3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bandwidth</a:t>
            </a:r>
            <a:r>
              <a:rPr dirty="0" sz="2000" spc="3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consumed,</a:t>
            </a:r>
            <a:r>
              <a:rPr dirty="0" sz="2000" spc="3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number</a:t>
            </a:r>
            <a:r>
              <a:rPr dirty="0" sz="2000" spc="36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of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resource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instance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hours,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amount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stored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4478" y="-34290"/>
            <a:ext cx="4546600" cy="1068070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70485" marR="5080" indent="-58419">
              <a:lnSpc>
                <a:spcPts val="3890"/>
              </a:lnSpc>
              <a:spcBef>
                <a:spcPts val="585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8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Services</a:t>
            </a:r>
            <a:r>
              <a:rPr dirty="0" spc="-17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5" b="0">
                <a:solidFill>
                  <a:srgbClr val="000000"/>
                </a:solidFill>
                <a:latin typeface="Calibri Light"/>
                <a:cs typeface="Calibri Light"/>
              </a:rPr>
              <a:t>Examples: </a:t>
            </a:r>
            <a:r>
              <a:rPr dirty="0" spc="-55" b="0">
                <a:solidFill>
                  <a:srgbClr val="000000"/>
                </a:solidFill>
                <a:latin typeface="Calibri Light"/>
                <a:cs typeface="Calibri Light"/>
              </a:rPr>
              <a:t>PaaS-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Google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App</a:t>
            </a:r>
            <a:r>
              <a:rPr dirty="0" spc="-15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Engine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100785"/>
            <a:ext cx="637413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below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figure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screenshot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GAE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dashboard.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1489" y="1933955"/>
            <a:ext cx="7466366" cy="432511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4478" y="-34290"/>
            <a:ext cx="4546600" cy="1466850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algn="ctr" marL="12700" marR="5080">
              <a:lnSpc>
                <a:spcPts val="3890"/>
              </a:lnSpc>
              <a:spcBef>
                <a:spcPts val="585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8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Services</a:t>
            </a:r>
            <a:r>
              <a:rPr dirty="0" spc="-17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5" b="0">
                <a:solidFill>
                  <a:srgbClr val="000000"/>
                </a:solidFill>
                <a:latin typeface="Calibri Light"/>
                <a:cs typeface="Calibri Light"/>
              </a:rPr>
              <a:t>Examples: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SaaS-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Salesforce</a:t>
            </a:r>
          </a:p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2000" spc="-10">
                <a:solidFill>
                  <a:srgbClr val="000000"/>
                </a:solidFill>
              </a:rPr>
              <a:t>Salesforce</a:t>
            </a:r>
            <a:r>
              <a:rPr dirty="0" sz="2000" spc="-30">
                <a:solidFill>
                  <a:srgbClr val="000000"/>
                </a:solidFill>
              </a:rPr>
              <a:t> </a:t>
            </a:r>
            <a:r>
              <a:rPr dirty="0" sz="2000">
                <a:solidFill>
                  <a:srgbClr val="000000"/>
                </a:solidFill>
              </a:rPr>
              <a:t>Sales</a:t>
            </a:r>
            <a:r>
              <a:rPr dirty="0" sz="2000" spc="-35">
                <a:solidFill>
                  <a:srgbClr val="000000"/>
                </a:solidFill>
              </a:rPr>
              <a:t> </a:t>
            </a:r>
            <a:r>
              <a:rPr dirty="0" sz="2000" spc="-10">
                <a:solidFill>
                  <a:srgbClr val="000000"/>
                </a:solidFill>
              </a:rPr>
              <a:t>Cloud</a:t>
            </a:r>
            <a:endParaRPr sz="2000"/>
          </a:p>
        </p:txBody>
      </p:sp>
      <p:sp>
        <p:nvSpPr>
          <p:cNvPr id="3" name="object 3" descr=""/>
          <p:cNvSpPr txBox="1"/>
          <p:nvPr/>
        </p:nvSpPr>
        <p:spPr>
          <a:xfrm>
            <a:off x="78739" y="2015744"/>
            <a:ext cx="12036425" cy="3415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>
                <a:latin typeface="Calibri"/>
                <a:cs typeface="Calibri"/>
              </a:rPr>
              <a:t>Salesforce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Sales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Customer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Relationship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Management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(CRM)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SaaS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offering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access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CRM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3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anywhere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through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internet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enabled</a:t>
            </a:r>
            <a:r>
              <a:rPr dirty="0" sz="2000" spc="3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devices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such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31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workstations,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laptops,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tablets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39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smartphones.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algn="just" marL="352425" marR="6985" indent="-339725">
              <a:lnSpc>
                <a:spcPct val="1457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Sales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sales </a:t>
            </a:r>
            <a:r>
              <a:rPr dirty="0" sz="2000" spc="-10" b="1">
                <a:latin typeface="Calibri"/>
                <a:cs typeface="Calibri"/>
              </a:rPr>
              <a:t>representatives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customer profiles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track opportunities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optimize</a:t>
            </a:r>
            <a:r>
              <a:rPr dirty="0" sz="2000" spc="-10" b="1">
                <a:latin typeface="Calibri"/>
                <a:cs typeface="Calibri"/>
              </a:rPr>
              <a:t> campaigns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lead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close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monitor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impact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campaigns.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(A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lead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company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or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individual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who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has</a:t>
            </a:r>
            <a:r>
              <a:rPr dirty="0" sz="1400" spc="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expressed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interest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40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a </a:t>
            </a:r>
            <a:r>
              <a:rPr dirty="0" sz="1400" spc="-50">
                <a:latin typeface="Calibri"/>
                <a:cs typeface="Calibri"/>
              </a:rPr>
              <a:t>	</a:t>
            </a:r>
            <a:r>
              <a:rPr dirty="0" sz="1400" spc="-10">
                <a:latin typeface="Calibri"/>
                <a:cs typeface="Calibri"/>
              </a:rPr>
              <a:t>company's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product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and/or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service).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4478" y="-34290"/>
            <a:ext cx="4546600" cy="1466850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algn="ctr" marL="12700" marR="5080">
              <a:lnSpc>
                <a:spcPts val="3890"/>
              </a:lnSpc>
              <a:spcBef>
                <a:spcPts val="585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8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Services</a:t>
            </a:r>
            <a:r>
              <a:rPr dirty="0" spc="-17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5" b="0">
                <a:solidFill>
                  <a:srgbClr val="000000"/>
                </a:solidFill>
                <a:latin typeface="Calibri Light"/>
                <a:cs typeface="Calibri Light"/>
              </a:rPr>
              <a:t>Examples: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SaaS-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Salesforce</a:t>
            </a:r>
          </a:p>
          <a:p>
            <a:pPr algn="ctr">
              <a:lnSpc>
                <a:spcPct val="100000"/>
              </a:lnSpc>
              <a:spcBef>
                <a:spcPts val="680"/>
              </a:spcBef>
            </a:pPr>
            <a:r>
              <a:rPr dirty="0" sz="2000" spc="-10">
                <a:solidFill>
                  <a:srgbClr val="000000"/>
                </a:solidFill>
              </a:rPr>
              <a:t>Salesforce</a:t>
            </a:r>
            <a:r>
              <a:rPr dirty="0" sz="2000" spc="-40">
                <a:solidFill>
                  <a:srgbClr val="000000"/>
                </a:solidFill>
              </a:rPr>
              <a:t> </a:t>
            </a:r>
            <a:r>
              <a:rPr dirty="0" sz="2000">
                <a:solidFill>
                  <a:srgbClr val="000000"/>
                </a:solidFill>
              </a:rPr>
              <a:t>Service</a:t>
            </a:r>
            <a:r>
              <a:rPr dirty="0" sz="2000" spc="-35">
                <a:solidFill>
                  <a:srgbClr val="000000"/>
                </a:solidFill>
              </a:rPr>
              <a:t> </a:t>
            </a:r>
            <a:r>
              <a:rPr dirty="0" sz="2000" spc="-10">
                <a:solidFill>
                  <a:srgbClr val="000000"/>
                </a:solidFill>
              </a:rPr>
              <a:t>Cloud</a:t>
            </a:r>
            <a:endParaRPr sz="2000"/>
          </a:p>
        </p:txBody>
      </p:sp>
      <p:sp>
        <p:nvSpPr>
          <p:cNvPr id="3" name="object 3" descr=""/>
          <p:cNvSpPr txBox="1"/>
          <p:nvPr/>
        </p:nvSpPr>
        <p:spPr>
          <a:xfrm>
            <a:off x="78739" y="2015744"/>
            <a:ext cx="12036425" cy="3074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 b="1">
                <a:latin typeface="Calibri"/>
                <a:cs typeface="Calibri"/>
              </a:rPr>
              <a:t>Salesforce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Customer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Management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SaaS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Service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provides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companies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center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like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view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allows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creating,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tracking,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routing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escalating cases.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Service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includes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social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networking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plug-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enables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social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customer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service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where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comments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from </a:t>
            </a:r>
            <a:r>
              <a:rPr dirty="0" sz="2000" b="1">
                <a:latin typeface="Calibri"/>
                <a:cs typeface="Calibri"/>
              </a:rPr>
              <a:t>social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media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channels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answer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customer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questions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4478" y="-34290"/>
            <a:ext cx="4546600" cy="1068070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875030" marR="5080" indent="-862965">
              <a:lnSpc>
                <a:spcPts val="3890"/>
              </a:lnSpc>
              <a:spcBef>
                <a:spcPts val="585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8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Services</a:t>
            </a:r>
            <a:r>
              <a:rPr dirty="0" spc="-17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5" b="0">
                <a:solidFill>
                  <a:srgbClr val="000000"/>
                </a:solidFill>
                <a:latin typeface="Calibri Light"/>
                <a:cs typeface="Calibri Light"/>
              </a:rPr>
              <a:t>Examples: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SaaS-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Salesforce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977609"/>
            <a:ext cx="12038965" cy="3579495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4575810">
              <a:lnSpc>
                <a:spcPct val="100000"/>
              </a:lnSpc>
              <a:spcBef>
                <a:spcPts val="1075"/>
              </a:spcBef>
            </a:pPr>
            <a:r>
              <a:rPr dirty="0" sz="2000" spc="-10" b="1">
                <a:latin typeface="Calibri"/>
                <a:cs typeface="Calibri"/>
              </a:rPr>
              <a:t>Salesforce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Marketing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Cloud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7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 b="1">
                <a:latin typeface="Calibri"/>
                <a:cs typeface="Calibri"/>
              </a:rPr>
              <a:t>Salesforce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Marketing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4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social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marketing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SaaS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2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Marketing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allows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companies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identify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sales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leads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social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media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discover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advocates,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identify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most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Calibri"/>
                <a:cs typeface="Calibri"/>
              </a:rPr>
              <a:t>trending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information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topic.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spcBef>
                <a:spcPts val="1205"/>
              </a:spcBef>
              <a:buFont typeface="Arial MT"/>
              <a:buChar char="•"/>
              <a:tabLst>
                <a:tab pos="355600" algn="l"/>
                <a:tab pos="1544320" algn="l"/>
                <a:tab pos="2242185" algn="l"/>
                <a:tab pos="3045460" algn="l"/>
                <a:tab pos="4313555" algn="l"/>
                <a:tab pos="4664075" algn="l"/>
                <a:tab pos="6042025" algn="l"/>
                <a:tab pos="6922770" algn="l"/>
                <a:tab pos="7529830" algn="l"/>
                <a:tab pos="8809990" algn="l"/>
                <a:tab pos="9764395" algn="l"/>
                <a:tab pos="10488295" algn="l"/>
              </a:tabLst>
            </a:pPr>
            <a:r>
              <a:rPr dirty="0" sz="2000" spc="-10">
                <a:latin typeface="Calibri"/>
                <a:cs typeface="Calibri"/>
              </a:rPr>
              <a:t>Marketing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cloud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allows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companies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to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0" b="1">
                <a:latin typeface="Calibri"/>
                <a:cs typeface="Calibri"/>
              </a:rPr>
              <a:t>pro-</a:t>
            </a:r>
            <a:r>
              <a:rPr dirty="0" sz="2000" spc="-10" b="1">
                <a:latin typeface="Calibri"/>
                <a:cs typeface="Calibri"/>
              </a:rPr>
              <a:t>actively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engage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0" b="1">
                <a:latin typeface="Calibri"/>
                <a:cs typeface="Calibri"/>
              </a:rPr>
              <a:t>with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customers</a:t>
            </a:r>
            <a:r>
              <a:rPr dirty="0" sz="2000" spc="-10">
                <a:latin typeface="Calibri"/>
                <a:cs typeface="Calibri"/>
              </a:rPr>
              <a:t>,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manage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social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advertisement </a:t>
            </a:r>
            <a:r>
              <a:rPr dirty="0" sz="2000" b="1">
                <a:latin typeface="Calibri"/>
                <a:cs typeface="Calibri"/>
              </a:rPr>
              <a:t>campaigns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track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performance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social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campaigns.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below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figure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screenshot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Salesforce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dashboard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5570" y="4716779"/>
            <a:ext cx="4876428" cy="196012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4478" y="-34290"/>
            <a:ext cx="4546600" cy="1068070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875030" marR="5080" indent="-862965">
              <a:lnSpc>
                <a:spcPts val="3890"/>
              </a:lnSpc>
              <a:spcBef>
                <a:spcPts val="585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8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Services</a:t>
            </a:r>
            <a:r>
              <a:rPr dirty="0" spc="-17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5" b="0">
                <a:solidFill>
                  <a:srgbClr val="000000"/>
                </a:solidFill>
                <a:latin typeface="Calibri Light"/>
                <a:cs typeface="Calibri Light"/>
              </a:rPr>
              <a:t>Examples: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SaaS-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Salesforce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977609"/>
            <a:ext cx="9650095" cy="3626485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4575810">
              <a:lnSpc>
                <a:spcPct val="100000"/>
              </a:lnSpc>
              <a:spcBef>
                <a:spcPts val="1075"/>
              </a:spcBef>
            </a:pPr>
            <a:r>
              <a:rPr dirty="0" sz="2000" spc="-10" b="1">
                <a:latin typeface="Calibri"/>
                <a:cs typeface="Calibri"/>
              </a:rPr>
              <a:t>Salesforce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Marketing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Cloud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97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Some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tools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included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Salesforce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Sales,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Marketing </a:t>
            </a:r>
            <a:r>
              <a:rPr dirty="0" sz="2000" b="1">
                <a:latin typeface="Calibri"/>
                <a:cs typeface="Calibri"/>
              </a:rPr>
              <a:t>Clouds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include</a:t>
            </a:r>
            <a:endParaRPr sz="2000">
              <a:latin typeface="Calibri"/>
              <a:cs typeface="Calibri"/>
            </a:endParaRPr>
          </a:p>
          <a:p>
            <a:pPr lvl="1" marL="1274445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1274445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Accounts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0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Contacts</a:t>
            </a:r>
            <a:endParaRPr sz="2000">
              <a:latin typeface="Calibri"/>
              <a:cs typeface="Calibri"/>
            </a:endParaRPr>
          </a:p>
          <a:p>
            <a:pPr lvl="1" marL="1274445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1274445" algn="l"/>
              </a:tabLst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Leads</a:t>
            </a:r>
            <a:endParaRPr sz="2000">
              <a:latin typeface="Calibri"/>
              <a:cs typeface="Calibri"/>
            </a:endParaRPr>
          </a:p>
          <a:p>
            <a:pPr lvl="1" marL="1274445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1274445" algn="l"/>
              </a:tabLst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Opportunities</a:t>
            </a:r>
            <a:endParaRPr sz="2000">
              <a:latin typeface="Calibri"/>
              <a:cs typeface="Calibri"/>
            </a:endParaRPr>
          </a:p>
          <a:p>
            <a:pPr lvl="1" marL="1274445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1274445" algn="l"/>
              </a:tabLst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Campaigns</a:t>
            </a:r>
            <a:endParaRPr sz="2000">
              <a:latin typeface="Calibri"/>
              <a:cs typeface="Calibri"/>
            </a:endParaRPr>
          </a:p>
          <a:p>
            <a:pPr lvl="1" marL="1274445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1274445" algn="l"/>
              </a:tabLst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Chatter</a:t>
            </a:r>
            <a:endParaRPr sz="2000">
              <a:latin typeface="Calibri"/>
              <a:cs typeface="Calibri"/>
            </a:endParaRPr>
          </a:p>
          <a:p>
            <a:pPr lvl="1" marL="1274445" indent="-3429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1274445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Analytics</a:t>
            </a:r>
            <a:r>
              <a:rPr dirty="0" sz="20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an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Forecasts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97663"/>
            <a:ext cx="60566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693546"/>
            <a:ext cx="3874770" cy="5818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Load</a:t>
            </a:r>
            <a:r>
              <a:rPr dirty="0" sz="20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Balancing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914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Scalability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0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Elasticity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92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Deployment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Replication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Monitoring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92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Software</a:t>
            </a:r>
            <a:r>
              <a:rPr dirty="0" sz="20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Defined</a:t>
            </a:r>
            <a:r>
              <a:rPr dirty="0" sz="2000" spc="-9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Networking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MapReduce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Identity</a:t>
            </a:r>
            <a:r>
              <a:rPr dirty="0" sz="20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0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Access</a:t>
            </a:r>
            <a:r>
              <a:rPr dirty="0" sz="20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Management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Service</a:t>
            </a:r>
            <a:r>
              <a:rPr dirty="0" sz="20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Level</a:t>
            </a:r>
            <a:r>
              <a:rPr dirty="0" sz="20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Agreements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Billing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-101396"/>
            <a:ext cx="605409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0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4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513714"/>
            <a:ext cx="12030710" cy="60109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2540">
              <a:lnSpc>
                <a:spcPct val="100000"/>
              </a:lnSpc>
              <a:spcBef>
                <a:spcPts val="105"/>
              </a:spcBef>
            </a:pPr>
            <a:r>
              <a:rPr dirty="0" sz="3200" spc="-1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endParaRPr sz="3200">
              <a:latin typeface="Calibri"/>
              <a:cs typeface="Calibri"/>
            </a:endParaRPr>
          </a:p>
          <a:p>
            <a:pPr marL="355600" marR="5080" indent="-342900">
              <a:lnSpc>
                <a:spcPct val="130000"/>
              </a:lnSpc>
              <a:spcBef>
                <a:spcPts val="1590"/>
              </a:spcBef>
              <a:buFont typeface="Arial MT"/>
              <a:buChar char="•"/>
              <a:tabLst>
                <a:tab pos="355600" algn="l"/>
                <a:tab pos="1998345" algn="l"/>
                <a:tab pos="2784475" algn="l"/>
                <a:tab pos="3159760" algn="l"/>
                <a:tab pos="3683000" algn="l"/>
                <a:tab pos="5186680" algn="l"/>
                <a:tab pos="5709920" algn="l"/>
                <a:tab pos="6960870" algn="l"/>
                <a:tab pos="7336155" algn="l"/>
                <a:tab pos="7610475" algn="l"/>
                <a:tab pos="8672830" algn="l"/>
                <a:tab pos="9614535" algn="l"/>
                <a:tab pos="10353675" algn="l"/>
                <a:tab pos="10733405" algn="l"/>
              </a:tabLst>
            </a:pPr>
            <a:r>
              <a:rPr dirty="0" sz="2200" spc="-10">
                <a:latin typeface="Calibri"/>
                <a:cs typeface="Calibri"/>
              </a:rPr>
              <a:t>Virtualization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10">
                <a:latin typeface="Calibri"/>
                <a:cs typeface="Calibri"/>
              </a:rPr>
              <a:t>refers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5">
                <a:latin typeface="Calibri"/>
                <a:cs typeface="Calibri"/>
              </a:rPr>
              <a:t>to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5" b="1">
                <a:latin typeface="Calibri"/>
                <a:cs typeface="Calibri"/>
              </a:rPr>
              <a:t>the</a:t>
            </a:r>
            <a:r>
              <a:rPr dirty="0" sz="2200" b="1">
                <a:latin typeface="Calibri"/>
                <a:cs typeface="Calibri"/>
              </a:rPr>
              <a:t>	</a:t>
            </a:r>
            <a:r>
              <a:rPr dirty="0" sz="2200" spc="-10" b="1">
                <a:latin typeface="Calibri"/>
                <a:cs typeface="Calibri"/>
              </a:rPr>
              <a:t>partitioning</a:t>
            </a:r>
            <a:r>
              <a:rPr dirty="0" sz="2200" b="1">
                <a:latin typeface="Calibri"/>
                <a:cs typeface="Calibri"/>
              </a:rPr>
              <a:t>	</a:t>
            </a:r>
            <a:r>
              <a:rPr dirty="0" sz="2200" spc="-25" b="1">
                <a:latin typeface="Calibri"/>
                <a:cs typeface="Calibri"/>
              </a:rPr>
              <a:t>the</a:t>
            </a:r>
            <a:r>
              <a:rPr dirty="0" sz="2200" b="1">
                <a:latin typeface="Calibri"/>
                <a:cs typeface="Calibri"/>
              </a:rPr>
              <a:t>	</a:t>
            </a:r>
            <a:r>
              <a:rPr dirty="0" sz="2200" spc="-10" b="1">
                <a:latin typeface="Calibri"/>
                <a:cs typeface="Calibri"/>
              </a:rPr>
              <a:t>resources</a:t>
            </a:r>
            <a:r>
              <a:rPr dirty="0" sz="2200" b="1">
                <a:latin typeface="Calibri"/>
                <a:cs typeface="Calibri"/>
              </a:rPr>
              <a:t>	</a:t>
            </a:r>
            <a:r>
              <a:rPr dirty="0" sz="2200" spc="-25" b="1">
                <a:latin typeface="Calibri"/>
                <a:cs typeface="Calibri"/>
              </a:rPr>
              <a:t>of</a:t>
            </a:r>
            <a:r>
              <a:rPr dirty="0" sz="2200" b="1">
                <a:latin typeface="Calibri"/>
                <a:cs typeface="Calibri"/>
              </a:rPr>
              <a:t>	</a:t>
            </a:r>
            <a:r>
              <a:rPr dirty="0" sz="2200" spc="-50" b="1">
                <a:latin typeface="Calibri"/>
                <a:cs typeface="Calibri"/>
              </a:rPr>
              <a:t>a</a:t>
            </a:r>
            <a:r>
              <a:rPr dirty="0" sz="2200" b="1">
                <a:latin typeface="Calibri"/>
                <a:cs typeface="Calibri"/>
              </a:rPr>
              <a:t>	</a:t>
            </a:r>
            <a:r>
              <a:rPr dirty="0" sz="2200" spc="-10" b="1">
                <a:latin typeface="Calibri"/>
                <a:cs typeface="Calibri"/>
              </a:rPr>
              <a:t>physical</a:t>
            </a:r>
            <a:r>
              <a:rPr dirty="0" sz="2200" b="1">
                <a:latin typeface="Calibri"/>
                <a:cs typeface="Calibri"/>
              </a:rPr>
              <a:t>	</a:t>
            </a:r>
            <a:r>
              <a:rPr dirty="0" sz="2200" spc="-10" b="1">
                <a:latin typeface="Calibri"/>
                <a:cs typeface="Calibri"/>
              </a:rPr>
              <a:t>system</a:t>
            </a:r>
            <a:r>
              <a:rPr dirty="0" sz="2200" b="1">
                <a:latin typeface="Calibri"/>
                <a:cs typeface="Calibri"/>
              </a:rPr>
              <a:t>	</a:t>
            </a:r>
            <a:r>
              <a:rPr dirty="0" sz="2200" spc="-10">
                <a:latin typeface="Calibri"/>
                <a:cs typeface="Calibri"/>
              </a:rPr>
              <a:t>(such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5">
                <a:latin typeface="Calibri"/>
                <a:cs typeface="Calibri"/>
              </a:rPr>
              <a:t>as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10">
                <a:latin typeface="Calibri"/>
                <a:cs typeface="Calibri"/>
              </a:rPr>
              <a:t>computing, Storage,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Network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-7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Memory)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into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multiple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virtual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resources</a:t>
            </a:r>
            <a:r>
              <a:rPr dirty="0" sz="2200" spc="-1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5"/>
              </a:spcBef>
              <a:buFont typeface="Arial MT"/>
              <a:buChar char="•"/>
            </a:pP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6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cloud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computing,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resources</a:t>
            </a:r>
            <a:r>
              <a:rPr dirty="0" sz="2200" spc="-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are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pooled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to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serve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multiple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users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using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spc="-20" b="1">
                <a:latin typeface="Calibri"/>
                <a:cs typeface="Calibri"/>
              </a:rPr>
              <a:t>Multi-</a:t>
            </a:r>
            <a:r>
              <a:rPr dirty="0" sz="2200" spc="-10" b="1">
                <a:latin typeface="Calibri"/>
                <a:cs typeface="Calibri"/>
              </a:rPr>
              <a:t>Tenancy</a:t>
            </a:r>
            <a:r>
              <a:rPr dirty="0" sz="2200" spc="-1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5"/>
              </a:spcBef>
              <a:buFont typeface="Arial MT"/>
              <a:buChar char="•"/>
            </a:pP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 spc="-10">
                <a:latin typeface="Calibri"/>
                <a:cs typeface="Calibri"/>
              </a:rPr>
              <a:t>Multi-</a:t>
            </a:r>
            <a:r>
              <a:rPr dirty="0" sz="2200" spc="-30">
                <a:latin typeface="Calibri"/>
                <a:cs typeface="Calibri"/>
              </a:rPr>
              <a:t>Tenant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aspects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cloud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allow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multiple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users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to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be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served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by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same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physical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hardware</a:t>
            </a:r>
            <a:r>
              <a:rPr dirty="0" sz="2200" spc="-1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5"/>
              </a:spcBef>
              <a:buFont typeface="Arial MT"/>
              <a:buChar char="•"/>
            </a:pP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below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figure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shows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architecture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virtualization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technology</a:t>
            </a:r>
            <a:r>
              <a:rPr dirty="0" sz="2200" spc="-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cloud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computing.</a:t>
            </a:r>
            <a:endParaRPr sz="2200">
              <a:latin typeface="Calibri"/>
              <a:cs typeface="Calibri"/>
            </a:endParaRPr>
          </a:p>
          <a:p>
            <a:pPr marL="354965" marR="5873750" indent="-342900">
              <a:lnSpc>
                <a:spcPct val="130000"/>
              </a:lnSpc>
              <a:spcBef>
                <a:spcPts val="2400"/>
              </a:spcBef>
              <a:buFont typeface="Arial MT"/>
              <a:buChar char="•"/>
              <a:tabLst>
                <a:tab pos="457200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3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physical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resources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such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as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computing,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storage, </a:t>
            </a:r>
            <a:r>
              <a:rPr dirty="0" sz="2200" spc="-10" b="1">
                <a:latin typeface="Calibri"/>
                <a:cs typeface="Calibri"/>
              </a:rPr>
              <a:t>	</a:t>
            </a:r>
            <a:r>
              <a:rPr dirty="0" sz="2200" b="1">
                <a:latin typeface="Calibri"/>
                <a:cs typeface="Calibri"/>
              </a:rPr>
              <a:t>memory</a:t>
            </a:r>
            <a:r>
              <a:rPr dirty="0" sz="2200" spc="-7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and</a:t>
            </a:r>
            <a:r>
              <a:rPr dirty="0" sz="2200" spc="-9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network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resources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are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virtualized</a:t>
            </a:r>
            <a:r>
              <a:rPr dirty="0" sz="2200" spc="-1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377825" indent="-365125">
              <a:lnSpc>
                <a:spcPct val="100000"/>
              </a:lnSpc>
              <a:spcBef>
                <a:spcPts val="1995"/>
              </a:spcBef>
              <a:buFont typeface="Arial MT"/>
              <a:buChar char="•"/>
              <a:tabLst>
                <a:tab pos="377825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80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virtualization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layer</a:t>
            </a:r>
            <a:r>
              <a:rPr dirty="0" sz="2200" spc="-8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partitions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 spc="-25" b="1">
                <a:latin typeface="Calibri"/>
                <a:cs typeface="Calibri"/>
              </a:rPr>
              <a:t>the</a:t>
            </a:r>
            <a:endParaRPr sz="2200">
              <a:latin typeface="Calibri"/>
              <a:cs typeface="Calibri"/>
            </a:endParaRPr>
          </a:p>
          <a:p>
            <a:pPr marL="393700">
              <a:lnSpc>
                <a:spcPct val="100000"/>
              </a:lnSpc>
              <a:spcBef>
                <a:spcPts val="795"/>
              </a:spcBef>
            </a:pPr>
            <a:r>
              <a:rPr dirty="0" sz="2200" b="1">
                <a:latin typeface="Calibri"/>
                <a:cs typeface="Calibri"/>
              </a:rPr>
              <a:t>physical</a:t>
            </a:r>
            <a:r>
              <a:rPr dirty="0" sz="2200" spc="-8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resources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into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multiple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virtual</a:t>
            </a:r>
            <a:r>
              <a:rPr dirty="0" sz="2200" spc="-7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machines</a:t>
            </a:r>
            <a:r>
              <a:rPr dirty="0" sz="2200" spc="-1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63657" y="4346447"/>
            <a:ext cx="5231746" cy="25115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243" rIns="0" bIns="0" rtlCol="0" vert="horz">
            <a:spAutoFit/>
          </a:bodyPr>
          <a:lstStyle/>
          <a:p>
            <a:pPr marL="300609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407666" y="810895"/>
            <a:ext cx="737171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 b="1">
                <a:solidFill>
                  <a:srgbClr val="C00000"/>
                </a:solidFill>
                <a:latin typeface="Calibri"/>
                <a:cs typeface="Calibri"/>
              </a:rPr>
              <a:t>Virtualization:</a:t>
            </a:r>
            <a:r>
              <a:rPr dirty="0" sz="3600" spc="-1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C00000"/>
                </a:solidFill>
                <a:latin typeface="Calibri"/>
                <a:cs typeface="Calibri"/>
              </a:rPr>
              <a:t>Guest</a:t>
            </a:r>
            <a:r>
              <a:rPr dirty="0" sz="3600" spc="-1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C00000"/>
                </a:solidFill>
                <a:latin typeface="Calibri"/>
                <a:cs typeface="Calibri"/>
              </a:rPr>
              <a:t>Operating</a:t>
            </a:r>
            <a:r>
              <a:rPr dirty="0" sz="3600" spc="-1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C00000"/>
                </a:solidFill>
                <a:latin typeface="Calibri"/>
                <a:cs typeface="Calibri"/>
              </a:rPr>
              <a:t>System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1549354"/>
            <a:ext cx="12035155" cy="1824989"/>
          </a:xfrm>
          <a:prstGeom prst="rect">
            <a:avLst/>
          </a:prstGeom>
        </p:spPr>
        <p:txBody>
          <a:bodyPr wrap="square" lIns="0" tIns="19621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A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guest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OS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is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an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operating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system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that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is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installed</a:t>
            </a:r>
            <a:r>
              <a:rPr dirty="0" sz="2400" spc="-2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in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</a:t>
            </a:r>
            <a:r>
              <a:rPr dirty="0" sz="2400" spc="-2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virtual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machine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addition</a:t>
            </a:r>
            <a:r>
              <a:rPr dirty="0" sz="2400" spc="-2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to</a:t>
            </a:r>
            <a:r>
              <a:rPr dirty="0" sz="2400" spc="-3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25">
                <a:latin typeface="Calibri"/>
                <a:cs typeface="Calibri"/>
              </a:rPr>
              <a:t> </a:t>
            </a:r>
            <a:r>
              <a:rPr dirty="0" sz="2400" spc="-20">
                <a:latin typeface="Calibri"/>
                <a:cs typeface="Calibri"/>
              </a:rPr>
              <a:t>host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dirty="0" sz="2400" spc="-25">
                <a:latin typeface="Calibri"/>
                <a:cs typeface="Calibri"/>
              </a:rPr>
              <a:t>OS.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>
                <a:latin typeface="Calibri"/>
                <a:cs typeface="Calibri"/>
              </a:rPr>
              <a:t>In</a:t>
            </a:r>
            <a:r>
              <a:rPr dirty="0" sz="2400" spc="-50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virtualization,</a:t>
            </a:r>
            <a:r>
              <a:rPr dirty="0" sz="2400" spc="-65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the</a:t>
            </a:r>
            <a:r>
              <a:rPr dirty="0" sz="2400" spc="-40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guest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OS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can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be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different</a:t>
            </a:r>
            <a:r>
              <a:rPr dirty="0" sz="2400" spc="-4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from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the</a:t>
            </a:r>
            <a:r>
              <a:rPr dirty="0" sz="2400" spc="-3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host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OS</a:t>
            </a:r>
            <a:r>
              <a:rPr dirty="0" sz="2400" spc="-25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90900" y="3639311"/>
            <a:ext cx="4893563" cy="253593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97663"/>
            <a:ext cx="6056630" cy="10439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01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algn="ctr" marR="8890">
              <a:lnSpc>
                <a:spcPts val="4010"/>
              </a:lnSpc>
            </a:pPr>
            <a:r>
              <a:rPr dirty="0" spc="-10"/>
              <a:t>Virtualization:</a:t>
            </a:r>
            <a:r>
              <a:rPr dirty="0" spc="-170"/>
              <a:t> </a:t>
            </a:r>
            <a:r>
              <a:rPr dirty="0" spc="-10"/>
              <a:t>Hypervisor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286382"/>
            <a:ext cx="12035790" cy="52393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94005" indent="-28130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9400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layer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consists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hypervisor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Monitor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(VMM)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294005" indent="-28130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294005" algn="l"/>
              </a:tabLst>
            </a:pP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hypervisors</a:t>
            </a:r>
            <a:endParaRPr sz="2000">
              <a:latin typeface="Calibri"/>
              <a:cs typeface="Calibri"/>
            </a:endParaRPr>
          </a:p>
          <a:p>
            <a:pPr lvl="1" marL="977265" indent="-398145">
              <a:lnSpc>
                <a:spcPct val="100000"/>
              </a:lnSpc>
              <a:spcBef>
                <a:spcPts val="2160"/>
              </a:spcBef>
              <a:buFont typeface="Wingdings"/>
              <a:buChar char=""/>
              <a:tabLst>
                <a:tab pos="977265" algn="l"/>
              </a:tabLst>
            </a:pPr>
            <a:r>
              <a:rPr dirty="0" sz="2000" spc="-25" b="1">
                <a:solidFill>
                  <a:srgbClr val="00391A"/>
                </a:solidFill>
                <a:latin typeface="Calibri"/>
                <a:cs typeface="Calibri"/>
              </a:rPr>
              <a:t>Type-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1</a:t>
            </a:r>
            <a:r>
              <a:rPr dirty="0" sz="2000" spc="-5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Hypervisors</a:t>
            </a:r>
            <a:r>
              <a:rPr dirty="0" sz="2000" spc="-2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or</a:t>
            </a:r>
            <a:r>
              <a:rPr dirty="0" sz="2000" spc="-5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Native</a:t>
            </a:r>
            <a:r>
              <a:rPr dirty="0" sz="200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Hypervisors</a:t>
            </a:r>
            <a:endParaRPr sz="2000">
              <a:latin typeface="Calibri"/>
              <a:cs typeface="Calibri"/>
            </a:endParaRPr>
          </a:p>
          <a:p>
            <a:pPr lvl="1" marL="469900" marR="6644005" indent="507365">
              <a:lnSpc>
                <a:spcPts val="4560"/>
              </a:lnSpc>
              <a:spcBef>
                <a:spcPts val="509"/>
              </a:spcBef>
              <a:buFont typeface="Wingdings"/>
              <a:buChar char=""/>
              <a:tabLst>
                <a:tab pos="977265" algn="l"/>
              </a:tabLst>
            </a:pPr>
            <a:r>
              <a:rPr dirty="0" sz="2000" spc="-25" b="1">
                <a:solidFill>
                  <a:srgbClr val="00391A"/>
                </a:solidFill>
                <a:latin typeface="Calibri"/>
                <a:cs typeface="Calibri"/>
              </a:rPr>
              <a:t>Type-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2</a:t>
            </a:r>
            <a:r>
              <a:rPr dirty="0" sz="2000" spc="-5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Hypervisors</a:t>
            </a:r>
            <a:r>
              <a:rPr dirty="0" sz="2000" spc="-2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or</a:t>
            </a:r>
            <a:r>
              <a:rPr dirty="0" sz="200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Hosted</a:t>
            </a:r>
            <a:r>
              <a:rPr dirty="0" sz="200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Hypervisors </a:t>
            </a:r>
            <a:r>
              <a:rPr dirty="0" sz="2000" spc="-30" b="1">
                <a:solidFill>
                  <a:srgbClr val="C00000"/>
                </a:solidFill>
                <a:latin typeface="Calibri"/>
                <a:cs typeface="Calibri"/>
              </a:rPr>
              <a:t>Type-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1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Hypervisors</a:t>
            </a:r>
            <a:r>
              <a:rPr dirty="0" sz="20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or</a:t>
            </a:r>
            <a:r>
              <a:rPr dirty="0" sz="20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Native</a:t>
            </a:r>
            <a:r>
              <a:rPr dirty="0" sz="20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Hypervisors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5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30" b="1">
                <a:latin typeface="Calibri"/>
                <a:cs typeface="Calibri"/>
              </a:rPr>
              <a:t>Type-</a:t>
            </a:r>
            <a:r>
              <a:rPr dirty="0" sz="2000" b="1">
                <a:latin typeface="Calibri"/>
                <a:cs typeface="Calibri"/>
              </a:rPr>
              <a:t>1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Hypervisors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Native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Hypervisors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directly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control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960"/>
              </a:spcBef>
            </a:pPr>
            <a:r>
              <a:rPr dirty="0" sz="2000" b="1">
                <a:latin typeface="Calibri"/>
                <a:cs typeface="Calibri"/>
              </a:rPr>
              <a:t>monitor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operating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2160"/>
              </a:spcBef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Type</a:t>
            </a:r>
            <a:r>
              <a:rPr dirty="0" sz="20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2</a:t>
            </a:r>
            <a:r>
              <a:rPr dirty="0" sz="20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Hypervisors</a:t>
            </a:r>
            <a:r>
              <a:rPr dirty="0" sz="20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or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Hosted</a:t>
            </a:r>
            <a:r>
              <a:rPr dirty="0" sz="20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Hypervisors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16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Type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2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Hypervisors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Hosted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Hypervisors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top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conventional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(main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Host)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operating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960"/>
              </a:spcBef>
            </a:pPr>
            <a:r>
              <a:rPr dirty="0" sz="2000" b="1">
                <a:latin typeface="Calibri"/>
                <a:cs typeface="Calibri"/>
              </a:rPr>
              <a:t>monitor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operation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548884" y="1612391"/>
            <a:ext cx="6643370" cy="2508885"/>
            <a:chOff x="5548884" y="1612391"/>
            <a:chExt cx="6643370" cy="250888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48884" y="1612391"/>
              <a:ext cx="3444240" cy="250850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89492" y="1612391"/>
              <a:ext cx="3302507" cy="25085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243" rIns="0" bIns="0" rtlCol="0" vert="horz">
            <a:spAutoFit/>
          </a:bodyPr>
          <a:lstStyle/>
          <a:p>
            <a:pPr marL="300609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407666" y="810895"/>
            <a:ext cx="737171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 b="1">
                <a:solidFill>
                  <a:srgbClr val="C00000"/>
                </a:solidFill>
                <a:latin typeface="Calibri"/>
                <a:cs typeface="Calibri"/>
              </a:rPr>
              <a:t>Virtualization:</a:t>
            </a:r>
            <a:r>
              <a:rPr dirty="0" sz="3600" spc="-1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C00000"/>
                </a:solidFill>
                <a:latin typeface="Calibri"/>
                <a:cs typeface="Calibri"/>
              </a:rPr>
              <a:t>Guest</a:t>
            </a:r>
            <a:r>
              <a:rPr dirty="0" sz="3600" spc="-1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C00000"/>
                </a:solidFill>
                <a:latin typeface="Calibri"/>
                <a:cs typeface="Calibri"/>
              </a:rPr>
              <a:t>Operating</a:t>
            </a:r>
            <a:r>
              <a:rPr dirty="0" sz="3600" spc="-1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C00000"/>
                </a:solidFill>
                <a:latin typeface="Calibri"/>
                <a:cs typeface="Calibri"/>
              </a:rPr>
              <a:t>System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1732610"/>
            <a:ext cx="6297295" cy="3501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400" spc="-10">
                <a:latin typeface="Calibri"/>
                <a:cs typeface="Calibri"/>
              </a:rPr>
              <a:t>Various</a:t>
            </a:r>
            <a:r>
              <a:rPr dirty="0" sz="2400" spc="-9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forms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of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virtualization</a:t>
            </a:r>
            <a:r>
              <a:rPr dirty="0" sz="2400" spc="-80">
                <a:latin typeface="Calibri"/>
                <a:cs typeface="Calibri"/>
              </a:rPr>
              <a:t> </a:t>
            </a:r>
            <a:r>
              <a:rPr dirty="0" sz="2400">
                <a:latin typeface="Calibri"/>
                <a:cs typeface="Calibri"/>
              </a:rPr>
              <a:t>approaches</a:t>
            </a:r>
            <a:r>
              <a:rPr dirty="0" sz="2400" spc="-75">
                <a:latin typeface="Calibri"/>
                <a:cs typeface="Calibri"/>
              </a:rPr>
              <a:t> </a:t>
            </a:r>
            <a:r>
              <a:rPr dirty="0" sz="2400" spc="-10">
                <a:latin typeface="Calibri"/>
                <a:cs typeface="Calibri"/>
              </a:rPr>
              <a:t>exist: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70"/>
              </a:spcBef>
              <a:buFont typeface="Arial MT"/>
              <a:buChar char="•"/>
            </a:pPr>
            <a:endParaRPr sz="2400">
              <a:latin typeface="Calibri"/>
              <a:cs typeface="Calibri"/>
            </a:endParaRPr>
          </a:p>
          <a:p>
            <a:pPr lvl="1" marL="814069" indent="-435609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814069" algn="l"/>
              </a:tabLst>
            </a:pPr>
            <a:r>
              <a:rPr dirty="0" sz="2400" b="1">
                <a:solidFill>
                  <a:srgbClr val="00391A"/>
                </a:solidFill>
                <a:latin typeface="Calibri"/>
                <a:cs typeface="Calibri"/>
              </a:rPr>
              <a:t>Full</a:t>
            </a:r>
            <a:r>
              <a:rPr dirty="0" sz="2400" spc="-10" b="1">
                <a:solidFill>
                  <a:srgbClr val="00391A"/>
                </a:solidFill>
                <a:latin typeface="Calibri"/>
                <a:cs typeface="Calibri"/>
              </a:rPr>
              <a:t> Virtualization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590"/>
              </a:spcBef>
              <a:buClr>
                <a:srgbClr val="00391A"/>
              </a:buClr>
              <a:buFont typeface="Wingdings"/>
              <a:buChar char=""/>
            </a:pPr>
            <a:endParaRPr sz="2400">
              <a:latin typeface="Calibri"/>
              <a:cs typeface="Calibri"/>
            </a:endParaRPr>
          </a:p>
          <a:p>
            <a:pPr lvl="1" marL="814069" indent="-435609">
              <a:lnSpc>
                <a:spcPct val="100000"/>
              </a:lnSpc>
              <a:buFont typeface="Wingdings"/>
              <a:buChar char=""/>
              <a:tabLst>
                <a:tab pos="814069" algn="l"/>
              </a:tabLst>
            </a:pPr>
            <a:r>
              <a:rPr dirty="0" sz="2400" spc="-35" b="1">
                <a:solidFill>
                  <a:srgbClr val="00391A"/>
                </a:solidFill>
                <a:latin typeface="Calibri"/>
                <a:cs typeface="Calibri"/>
              </a:rPr>
              <a:t>Para-</a:t>
            </a:r>
            <a:r>
              <a:rPr dirty="0" sz="2400" spc="-10" b="1">
                <a:solidFill>
                  <a:srgbClr val="00391A"/>
                </a:solidFill>
                <a:latin typeface="Calibri"/>
                <a:cs typeface="Calibri"/>
              </a:rPr>
              <a:t>Virtualization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590"/>
              </a:spcBef>
              <a:buClr>
                <a:srgbClr val="00391A"/>
              </a:buClr>
              <a:buFont typeface="Wingdings"/>
              <a:buChar char=""/>
            </a:pPr>
            <a:endParaRPr sz="2400">
              <a:latin typeface="Calibri"/>
              <a:cs typeface="Calibri"/>
            </a:endParaRPr>
          </a:p>
          <a:p>
            <a:pPr lvl="1" marL="814069" indent="-435609">
              <a:lnSpc>
                <a:spcPct val="100000"/>
              </a:lnSpc>
              <a:buFont typeface="Wingdings"/>
              <a:buChar char=""/>
              <a:tabLst>
                <a:tab pos="814069" algn="l"/>
              </a:tabLst>
            </a:pPr>
            <a:r>
              <a:rPr dirty="0" sz="2400" b="1">
                <a:solidFill>
                  <a:srgbClr val="00391A"/>
                </a:solidFill>
                <a:latin typeface="Calibri"/>
                <a:cs typeface="Calibri"/>
              </a:rPr>
              <a:t>Hardware</a:t>
            </a:r>
            <a:r>
              <a:rPr dirty="0" sz="2400" spc="-13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391A"/>
                </a:solidFill>
                <a:latin typeface="Calibri"/>
                <a:cs typeface="Calibri"/>
              </a:rPr>
              <a:t>Virtualization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7266" y="97663"/>
            <a:ext cx="6152515" cy="10985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7945">
              <a:lnSpc>
                <a:spcPts val="4225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marL="12700">
              <a:lnSpc>
                <a:spcPts val="4225"/>
              </a:lnSpc>
            </a:pPr>
            <a:r>
              <a:rPr dirty="0" spc="-10"/>
              <a:t>Virtualization:</a:t>
            </a:r>
            <a:r>
              <a:rPr dirty="0" spc="-114"/>
              <a:t> </a:t>
            </a:r>
            <a:r>
              <a:rPr dirty="0"/>
              <a:t>Full</a:t>
            </a:r>
            <a:r>
              <a:rPr dirty="0" spc="-110"/>
              <a:t> </a:t>
            </a:r>
            <a:r>
              <a:rPr dirty="0" spc="-10"/>
              <a:t>Virtualization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335150"/>
            <a:ext cx="12034520" cy="2457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  <a:tab pos="710565" algn="l"/>
                <a:tab pos="1251585" algn="l"/>
                <a:tab pos="2969260" algn="l"/>
                <a:tab pos="3495040" algn="l"/>
                <a:tab pos="4260215" algn="l"/>
                <a:tab pos="4721860" algn="l"/>
                <a:tab pos="5815330" algn="l"/>
                <a:tab pos="6255385" algn="l"/>
                <a:tab pos="7863205" algn="l"/>
                <a:tab pos="8428990" algn="l"/>
                <a:tab pos="8747760" algn="l"/>
                <a:tab pos="9284335" algn="l"/>
                <a:tab pos="10140315" algn="l"/>
                <a:tab pos="10758170" algn="l"/>
                <a:tab pos="11061065" algn="l"/>
                <a:tab pos="11379835" algn="l"/>
              </a:tabLst>
            </a:pPr>
            <a:r>
              <a:rPr dirty="0" sz="2200" spc="-25">
                <a:latin typeface="Calibri"/>
                <a:cs typeface="Calibri"/>
              </a:rPr>
              <a:t>In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0">
                <a:latin typeface="Calibri"/>
                <a:cs typeface="Calibri"/>
              </a:rPr>
              <a:t>Full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10">
                <a:latin typeface="Calibri"/>
                <a:cs typeface="Calibri"/>
              </a:rPr>
              <a:t>Virtualization,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5" b="1">
                <a:latin typeface="Calibri"/>
                <a:cs typeface="Calibri"/>
              </a:rPr>
              <a:t>the</a:t>
            </a:r>
            <a:r>
              <a:rPr dirty="0" sz="2200" b="1">
                <a:latin typeface="Calibri"/>
                <a:cs typeface="Calibri"/>
              </a:rPr>
              <a:t>	</a:t>
            </a:r>
            <a:r>
              <a:rPr dirty="0" sz="2200" spc="-10" b="1">
                <a:latin typeface="Calibri"/>
                <a:cs typeface="Calibri"/>
              </a:rPr>
              <a:t>guest</a:t>
            </a:r>
            <a:r>
              <a:rPr dirty="0" sz="2200" b="1">
                <a:latin typeface="Calibri"/>
                <a:cs typeface="Calibri"/>
              </a:rPr>
              <a:t>	</a:t>
            </a:r>
            <a:r>
              <a:rPr dirty="0" sz="2200" spc="-25" b="1">
                <a:latin typeface="Calibri"/>
                <a:cs typeface="Calibri"/>
              </a:rPr>
              <a:t>OS</a:t>
            </a:r>
            <a:r>
              <a:rPr dirty="0" sz="2200" b="1">
                <a:latin typeface="Calibri"/>
                <a:cs typeface="Calibri"/>
              </a:rPr>
              <a:t>	</a:t>
            </a:r>
            <a:r>
              <a:rPr dirty="0" sz="2200" spc="-10" b="1">
                <a:latin typeface="Calibri"/>
                <a:cs typeface="Calibri"/>
              </a:rPr>
              <a:t>requires</a:t>
            </a:r>
            <a:r>
              <a:rPr dirty="0" sz="2200" b="1">
                <a:latin typeface="Calibri"/>
                <a:cs typeface="Calibri"/>
              </a:rPr>
              <a:t>	</a:t>
            </a:r>
            <a:r>
              <a:rPr dirty="0" sz="2200" spc="-25" b="1">
                <a:latin typeface="Calibri"/>
                <a:cs typeface="Calibri"/>
              </a:rPr>
              <a:t>no</a:t>
            </a:r>
            <a:r>
              <a:rPr dirty="0" sz="2200" b="1">
                <a:latin typeface="Calibri"/>
                <a:cs typeface="Calibri"/>
              </a:rPr>
              <a:t>	</a:t>
            </a:r>
            <a:r>
              <a:rPr dirty="0" sz="2200" spc="-10" b="1">
                <a:latin typeface="Calibri"/>
                <a:cs typeface="Calibri"/>
              </a:rPr>
              <a:t>modification</a:t>
            </a:r>
            <a:r>
              <a:rPr dirty="0" sz="2200" b="1">
                <a:latin typeface="Calibri"/>
                <a:cs typeface="Calibri"/>
              </a:rPr>
              <a:t>	</a:t>
            </a:r>
            <a:r>
              <a:rPr dirty="0" sz="2200" spc="-25">
                <a:latin typeface="Calibri"/>
                <a:cs typeface="Calibri"/>
              </a:rPr>
              <a:t>and</a:t>
            </a:r>
            <a:r>
              <a:rPr dirty="0" sz="2200">
                <a:latin typeface="Calibri"/>
                <a:cs typeface="Calibri"/>
              </a:rPr>
              <a:t>	</a:t>
            </a:r>
            <a:r>
              <a:rPr dirty="0" sz="2200" spc="-25" b="1">
                <a:latin typeface="Calibri"/>
                <a:cs typeface="Calibri"/>
              </a:rPr>
              <a:t>is</a:t>
            </a:r>
            <a:r>
              <a:rPr dirty="0" sz="2200" b="1">
                <a:latin typeface="Calibri"/>
                <a:cs typeface="Calibri"/>
              </a:rPr>
              <a:t>	</a:t>
            </a:r>
            <a:r>
              <a:rPr dirty="0" sz="2200" spc="-25" b="1">
                <a:latin typeface="Calibri"/>
                <a:cs typeface="Calibri"/>
              </a:rPr>
              <a:t>not</a:t>
            </a:r>
            <a:r>
              <a:rPr dirty="0" sz="2200" b="1">
                <a:latin typeface="Calibri"/>
                <a:cs typeface="Calibri"/>
              </a:rPr>
              <a:t>	</a:t>
            </a:r>
            <a:r>
              <a:rPr dirty="0" sz="2200" spc="-10" b="1">
                <a:latin typeface="Calibri"/>
                <a:cs typeface="Calibri"/>
              </a:rPr>
              <a:t>aware</a:t>
            </a:r>
            <a:r>
              <a:rPr dirty="0" sz="2200" b="1">
                <a:latin typeface="Calibri"/>
                <a:cs typeface="Calibri"/>
              </a:rPr>
              <a:t>	</a:t>
            </a:r>
            <a:r>
              <a:rPr dirty="0" sz="2200" spc="-20" b="1">
                <a:latin typeface="Calibri"/>
                <a:cs typeface="Calibri"/>
              </a:rPr>
              <a:t>that</a:t>
            </a:r>
            <a:r>
              <a:rPr dirty="0" sz="2200" b="1">
                <a:latin typeface="Calibri"/>
                <a:cs typeface="Calibri"/>
              </a:rPr>
              <a:t>	</a:t>
            </a:r>
            <a:r>
              <a:rPr dirty="0" sz="2200" spc="-25" b="1">
                <a:latin typeface="Calibri"/>
                <a:cs typeface="Calibri"/>
              </a:rPr>
              <a:t>it</a:t>
            </a:r>
            <a:r>
              <a:rPr dirty="0" sz="2200" b="1">
                <a:latin typeface="Calibri"/>
                <a:cs typeface="Calibri"/>
              </a:rPr>
              <a:t>	</a:t>
            </a:r>
            <a:r>
              <a:rPr dirty="0" sz="2200" spc="-25" b="1">
                <a:latin typeface="Calibri"/>
                <a:cs typeface="Calibri"/>
              </a:rPr>
              <a:t>is</a:t>
            </a:r>
            <a:r>
              <a:rPr dirty="0" sz="2200" b="1">
                <a:latin typeface="Calibri"/>
                <a:cs typeface="Calibri"/>
              </a:rPr>
              <a:t>	</a:t>
            </a:r>
            <a:r>
              <a:rPr dirty="0" sz="2200" spc="-10" b="1">
                <a:latin typeface="Calibri"/>
                <a:cs typeface="Calibri"/>
              </a:rPr>
              <a:t>being</a:t>
            </a:r>
            <a:endParaRPr sz="2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2200" spc="-10" b="1">
                <a:latin typeface="Calibri"/>
                <a:cs typeface="Calibri"/>
              </a:rPr>
              <a:t>virtualized</a:t>
            </a:r>
            <a:r>
              <a:rPr dirty="0" sz="2200" spc="-1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spcBef>
                <a:spcPts val="795"/>
              </a:spcBef>
              <a:buFont typeface="Arial MT"/>
              <a:buChar char="•"/>
              <a:tabLst>
                <a:tab pos="355600" algn="l"/>
                <a:tab pos="9960610" algn="l"/>
              </a:tabLst>
            </a:pPr>
            <a:r>
              <a:rPr dirty="0" sz="2200" b="1">
                <a:latin typeface="Calibri"/>
                <a:cs typeface="Calibri"/>
              </a:rPr>
              <a:t>Full</a:t>
            </a:r>
            <a:r>
              <a:rPr dirty="0" sz="2200" spc="37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virtualization</a:t>
            </a:r>
            <a:r>
              <a:rPr dirty="0" sz="2200" spc="37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is</a:t>
            </a:r>
            <a:r>
              <a:rPr dirty="0" sz="2200" spc="40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enabled</a:t>
            </a:r>
            <a:r>
              <a:rPr dirty="0" sz="2200" spc="37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by</a:t>
            </a:r>
            <a:r>
              <a:rPr dirty="0" sz="2200" spc="39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direct</a:t>
            </a:r>
            <a:r>
              <a:rPr dirty="0" sz="2200" spc="39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execution</a:t>
            </a:r>
            <a:r>
              <a:rPr dirty="0" sz="2200" spc="40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of</a:t>
            </a:r>
            <a:r>
              <a:rPr dirty="0" sz="2200" spc="39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user</a:t>
            </a:r>
            <a:r>
              <a:rPr dirty="0" sz="2200" spc="39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requests</a:t>
            </a:r>
            <a:r>
              <a:rPr dirty="0" sz="2200" spc="380" b="1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and</a:t>
            </a:r>
            <a:r>
              <a:rPr dirty="0" sz="2200" spc="385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binary</a:t>
            </a:r>
            <a:r>
              <a:rPr dirty="0" sz="2200" b="1">
                <a:latin typeface="Calibri"/>
                <a:cs typeface="Calibri"/>
              </a:rPr>
              <a:t>	translation</a:t>
            </a:r>
            <a:r>
              <a:rPr dirty="0" sz="2200" spc="37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of</a:t>
            </a:r>
            <a:r>
              <a:rPr dirty="0" sz="2200" spc="365" b="1">
                <a:latin typeface="Calibri"/>
                <a:cs typeface="Calibri"/>
              </a:rPr>
              <a:t> </a:t>
            </a:r>
            <a:r>
              <a:rPr dirty="0" sz="2200" spc="-25" b="1">
                <a:latin typeface="Calibri"/>
                <a:cs typeface="Calibri"/>
              </a:rPr>
              <a:t>OS </a:t>
            </a:r>
            <a:r>
              <a:rPr dirty="0" sz="2200" spc="-10" b="1">
                <a:latin typeface="Calibri"/>
                <a:cs typeface="Calibri"/>
              </a:rPr>
              <a:t>requests</a:t>
            </a:r>
            <a:r>
              <a:rPr dirty="0" sz="2200" spc="-1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52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below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figure</a:t>
            </a:r>
            <a:r>
              <a:rPr dirty="0" sz="2200" spc="-2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shows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Full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virtualization</a:t>
            </a:r>
            <a:r>
              <a:rPr dirty="0" sz="2200" spc="-2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approach</a:t>
            </a:r>
            <a:endParaRPr sz="2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19271" y="3965446"/>
            <a:ext cx="5150232" cy="283311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38017" y="97663"/>
            <a:ext cx="6308725" cy="10985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47320">
              <a:lnSpc>
                <a:spcPts val="4225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marL="12700">
              <a:lnSpc>
                <a:spcPts val="4225"/>
              </a:lnSpc>
            </a:pPr>
            <a:r>
              <a:rPr dirty="0" spc="-10"/>
              <a:t>Virtualization:</a:t>
            </a:r>
            <a:r>
              <a:rPr dirty="0" spc="-170"/>
              <a:t> </a:t>
            </a:r>
            <a:r>
              <a:rPr dirty="0"/>
              <a:t>Para</a:t>
            </a:r>
            <a:r>
              <a:rPr dirty="0" spc="-170"/>
              <a:t> </a:t>
            </a:r>
            <a:r>
              <a:rPr dirty="0" spc="-10"/>
              <a:t>Virtualization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364462"/>
            <a:ext cx="12035155" cy="29222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5600" marR="5080" indent="-342900">
              <a:lnSpc>
                <a:spcPct val="1501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3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Para</a:t>
            </a:r>
            <a:r>
              <a:rPr dirty="0" sz="2000" spc="3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virtualization,</a:t>
            </a:r>
            <a:r>
              <a:rPr dirty="0" sz="2000" spc="37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3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3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modified</a:t>
            </a:r>
            <a:r>
              <a:rPr dirty="0" sz="2000" spc="3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3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enable</a:t>
            </a:r>
            <a:r>
              <a:rPr dirty="0" sz="2000" spc="3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communication</a:t>
            </a:r>
            <a:r>
              <a:rPr dirty="0" sz="2000" spc="3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3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hypervisor</a:t>
            </a:r>
            <a:r>
              <a:rPr dirty="0" sz="2000" spc="38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3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improve performance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efficiency.</a:t>
            </a:r>
            <a:endParaRPr sz="2000">
              <a:latin typeface="Calibri"/>
              <a:cs typeface="Calibri"/>
            </a:endParaRPr>
          </a:p>
          <a:p>
            <a:pPr marL="355600" marR="6350" indent="-342900">
              <a:lnSpc>
                <a:spcPct val="150000"/>
              </a:lnSpc>
              <a:spcBef>
                <a:spcPts val="24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kernel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modified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replace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non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virtualizable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instructions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hypercalls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communicate </a:t>
            </a:r>
            <a:r>
              <a:rPr dirty="0" sz="2000" b="1">
                <a:latin typeface="Calibri"/>
                <a:cs typeface="Calibri"/>
              </a:rPr>
              <a:t>directly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layer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hypervisor.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below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figure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shows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para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approach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3047" y="4389119"/>
            <a:ext cx="4387596" cy="2468878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243" rIns="0" bIns="0" rtlCol="0" vert="horz">
            <a:spAutoFit/>
          </a:bodyPr>
          <a:lstStyle/>
          <a:p>
            <a:pPr marL="300609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590802" y="810895"/>
            <a:ext cx="900239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10" b="1">
                <a:solidFill>
                  <a:srgbClr val="C00000"/>
                </a:solidFill>
                <a:latin typeface="Calibri"/>
                <a:cs typeface="Calibri"/>
              </a:rPr>
              <a:t>Virtualization:</a:t>
            </a:r>
            <a:r>
              <a:rPr dirty="0" sz="3600" spc="-1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C00000"/>
                </a:solidFill>
                <a:latin typeface="Calibri"/>
                <a:cs typeface="Calibri"/>
              </a:rPr>
              <a:t>Hardware</a:t>
            </a:r>
            <a:r>
              <a:rPr dirty="0" sz="3600" spc="-1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C00000"/>
                </a:solidFill>
                <a:latin typeface="Calibri"/>
                <a:cs typeface="Calibri"/>
              </a:rPr>
              <a:t>Assisted</a:t>
            </a:r>
            <a:r>
              <a:rPr dirty="0" sz="3600" spc="-1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1638356"/>
            <a:ext cx="12035790" cy="42945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1790" marR="5080" indent="-339090">
              <a:lnSpc>
                <a:spcPct val="15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spc="-10">
                <a:latin typeface="Calibri"/>
                <a:cs typeface="Calibri"/>
              </a:rPr>
              <a:t>Hardware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Assisted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virtualization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enabled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hardware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features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such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Intel’s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Virtualization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technology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(VT-</a:t>
            </a:r>
            <a:r>
              <a:rPr dirty="0" sz="2000" spc="-25">
                <a:latin typeface="Calibri"/>
                <a:cs typeface="Calibri"/>
              </a:rPr>
              <a:t>x)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AMD’s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AMD-</a:t>
            </a:r>
            <a:r>
              <a:rPr dirty="0" sz="2000" b="1">
                <a:latin typeface="Calibri"/>
                <a:cs typeface="Calibri"/>
              </a:rPr>
              <a:t>V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hardware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virtualization,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privileged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sensitive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calls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automatically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trap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hypervisor.</a:t>
            </a:r>
            <a:endParaRPr sz="2000">
              <a:latin typeface="Calibri"/>
              <a:cs typeface="Calibri"/>
            </a:endParaRPr>
          </a:p>
          <a:p>
            <a:pPr algn="just" marL="351790" marR="5080" indent="-339090">
              <a:lnSpc>
                <a:spcPct val="150100"/>
              </a:lnSpc>
              <a:spcBef>
                <a:spcPts val="23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Thus,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there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needed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either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binary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translation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Para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Hardware-</a:t>
            </a:r>
            <a:r>
              <a:rPr dirty="0" sz="2000">
                <a:latin typeface="Calibri"/>
                <a:cs typeface="Calibri"/>
              </a:rPr>
              <a:t>assisted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full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virtualization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eliminates</a:t>
            </a:r>
            <a:r>
              <a:rPr dirty="0" sz="2000" spc="1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binary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translation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directly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interrupts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204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virtualization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technology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been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integrated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X86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processors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since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2005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(Intel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VT-</a:t>
            </a:r>
            <a:r>
              <a:rPr dirty="0" sz="2000">
                <a:latin typeface="Calibri"/>
                <a:cs typeface="Calibri"/>
              </a:rPr>
              <a:t>x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AMD-</a:t>
            </a:r>
            <a:r>
              <a:rPr dirty="0" sz="2000" spc="-25">
                <a:latin typeface="Calibri"/>
                <a:cs typeface="Calibri"/>
              </a:rPr>
              <a:t>V).</a:t>
            </a:r>
            <a:endParaRPr sz="20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50000"/>
              </a:lnSpc>
              <a:spcBef>
                <a:spcPts val="2405"/>
              </a:spcBef>
              <a:buFont typeface="Arial MT"/>
              <a:buChar char="•"/>
              <a:tabLst>
                <a:tab pos="355600" algn="l"/>
                <a:tab pos="410209" algn="l"/>
              </a:tabLst>
            </a:pP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OS’s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instructions might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allow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context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execute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privileged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instructions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directly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 the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processor, </a:t>
            </a:r>
            <a:r>
              <a:rPr dirty="0" sz="2000" b="1">
                <a:latin typeface="Calibri"/>
                <a:cs typeface="Calibri"/>
              </a:rPr>
              <a:t>even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though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virtualized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243" rIns="0" bIns="0" rtlCol="0" vert="horz">
            <a:spAutoFit/>
          </a:bodyPr>
          <a:lstStyle/>
          <a:p>
            <a:pPr marL="300609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845178" y="797178"/>
            <a:ext cx="4501515" cy="5283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00" b="1">
                <a:solidFill>
                  <a:srgbClr val="C00000"/>
                </a:solidFill>
                <a:latin typeface="Calibri"/>
                <a:cs typeface="Calibri"/>
              </a:rPr>
              <a:t>Load</a:t>
            </a:r>
            <a:r>
              <a:rPr dirty="0" sz="33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C00000"/>
                </a:solidFill>
                <a:latin typeface="Calibri"/>
                <a:cs typeface="Calibri"/>
              </a:rPr>
              <a:t>Balancing</a:t>
            </a:r>
            <a:r>
              <a:rPr dirty="0" sz="33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300" spc="-20" b="1">
                <a:solidFill>
                  <a:srgbClr val="C00000"/>
                </a:solidFill>
                <a:latin typeface="Calibri"/>
                <a:cs typeface="Calibri"/>
              </a:rPr>
              <a:t>Technique</a:t>
            </a:r>
            <a:endParaRPr sz="33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1656410"/>
            <a:ext cx="12033885" cy="44913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55600" indent="-342900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One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important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features</a:t>
            </a:r>
            <a:r>
              <a:rPr dirty="0" sz="2200" spc="-2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of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cloud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computing</a:t>
            </a:r>
            <a:r>
              <a:rPr dirty="0" sz="2200" spc="-3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is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scalability</a:t>
            </a:r>
            <a:r>
              <a:rPr dirty="0" sz="2200" spc="-1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algn="just" marL="355600" indent="-342900">
              <a:lnSpc>
                <a:spcPct val="100000"/>
              </a:lnSpc>
              <a:spcBef>
                <a:spcPts val="25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Cloud</a:t>
            </a:r>
            <a:r>
              <a:rPr dirty="0" sz="2200" spc="-55">
                <a:latin typeface="Calibri"/>
                <a:cs typeface="Calibri"/>
              </a:rPr>
              <a:t> </a:t>
            </a:r>
            <a:r>
              <a:rPr dirty="0" sz="2200" spc="-10">
                <a:latin typeface="Calibri"/>
                <a:cs typeface="Calibri"/>
              </a:rPr>
              <a:t>resources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can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be</a:t>
            </a:r>
            <a:r>
              <a:rPr dirty="0" sz="2200" spc="-50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scaled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up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on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demand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to</a:t>
            </a:r>
            <a:r>
              <a:rPr dirty="0" sz="2200" spc="-2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meet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performance</a:t>
            </a:r>
            <a:r>
              <a:rPr dirty="0" sz="220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requirements</a:t>
            </a:r>
            <a:r>
              <a:rPr dirty="0" sz="2200" spc="-1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of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applications</a:t>
            </a:r>
            <a:r>
              <a:rPr dirty="0" sz="2200" spc="-1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algn="just" marL="355600" indent="-342900">
              <a:lnSpc>
                <a:spcPct val="100000"/>
              </a:lnSpc>
              <a:spcBef>
                <a:spcPts val="25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200" b="1">
                <a:latin typeface="Calibri"/>
                <a:cs typeface="Calibri"/>
              </a:rPr>
              <a:t>Load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balancing</a:t>
            </a:r>
            <a:r>
              <a:rPr dirty="0" sz="2200" spc="-7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distributes</a:t>
            </a:r>
            <a:r>
              <a:rPr dirty="0" sz="2200" spc="-6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workload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across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multiple</a:t>
            </a:r>
            <a:r>
              <a:rPr dirty="0" sz="2200" spc="-7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servers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to</a:t>
            </a:r>
            <a:r>
              <a:rPr dirty="0" sz="2200" spc="-6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meet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-7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application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workloads</a:t>
            </a:r>
            <a:r>
              <a:rPr dirty="0" sz="2200" spc="-1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5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-45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goal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of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load</a:t>
            </a:r>
            <a:r>
              <a:rPr dirty="0" sz="2200" spc="-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balancing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techniques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are</a:t>
            </a:r>
            <a:r>
              <a:rPr dirty="0" sz="2200" spc="-3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to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achieve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maximum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utilization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of</a:t>
            </a:r>
            <a:r>
              <a:rPr dirty="0" sz="2200" spc="-2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resources</a:t>
            </a:r>
            <a:r>
              <a:rPr dirty="0" sz="2200">
                <a:latin typeface="Calibri"/>
                <a:cs typeface="Calibri"/>
              </a:rPr>
              <a:t>,</a:t>
            </a:r>
            <a:r>
              <a:rPr dirty="0" sz="2200" spc="-40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minimize</a:t>
            </a:r>
            <a:r>
              <a:rPr dirty="0" sz="2200" spc="-55" b="1">
                <a:latin typeface="Calibri"/>
                <a:cs typeface="Calibri"/>
              </a:rPr>
              <a:t> </a:t>
            </a:r>
            <a:r>
              <a:rPr dirty="0" sz="2200" spc="-25" b="1">
                <a:latin typeface="Calibri"/>
                <a:cs typeface="Calibri"/>
              </a:rPr>
              <a:t>the </a:t>
            </a:r>
            <a:r>
              <a:rPr dirty="0" sz="2200" b="1">
                <a:latin typeface="Calibri"/>
                <a:cs typeface="Calibri"/>
              </a:rPr>
              <a:t>response</a:t>
            </a:r>
            <a:r>
              <a:rPr dirty="0" sz="2200" spc="-7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times,</a:t>
            </a:r>
            <a:r>
              <a:rPr dirty="0" sz="2200" spc="-9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maximizing</a:t>
            </a:r>
            <a:r>
              <a:rPr dirty="0" sz="2200" spc="-90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throughput</a:t>
            </a:r>
            <a:r>
              <a:rPr dirty="0" sz="2200" spc="-1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5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200">
                <a:latin typeface="Calibri"/>
                <a:cs typeface="Calibri"/>
              </a:rPr>
              <a:t>Since</a:t>
            </a:r>
            <a:r>
              <a:rPr dirty="0" sz="2200" spc="204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multiple</a:t>
            </a:r>
            <a:r>
              <a:rPr dirty="0" sz="2200" spc="18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resources</a:t>
            </a:r>
            <a:r>
              <a:rPr dirty="0" sz="2200" spc="22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under</a:t>
            </a:r>
            <a:r>
              <a:rPr dirty="0" sz="2200" spc="1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</a:t>
            </a:r>
            <a:r>
              <a:rPr dirty="0" sz="2200" spc="20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load</a:t>
            </a:r>
            <a:r>
              <a:rPr dirty="0" sz="2200" spc="1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balancer</a:t>
            </a:r>
            <a:r>
              <a:rPr dirty="0" sz="2200" spc="19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are</a:t>
            </a:r>
            <a:r>
              <a:rPr dirty="0" sz="2200" spc="18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used</a:t>
            </a:r>
            <a:r>
              <a:rPr dirty="0" sz="2200" spc="19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to</a:t>
            </a:r>
            <a:r>
              <a:rPr dirty="0" sz="2200" spc="21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serve</a:t>
            </a:r>
            <a:r>
              <a:rPr dirty="0" sz="2200" spc="19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19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user</a:t>
            </a:r>
            <a:r>
              <a:rPr dirty="0" sz="2200" spc="195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requests,</a:t>
            </a:r>
            <a:r>
              <a:rPr dirty="0" sz="2200" spc="200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in</a:t>
            </a:r>
            <a:r>
              <a:rPr dirty="0" sz="2200" spc="19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21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event</a:t>
            </a:r>
            <a:r>
              <a:rPr dirty="0" sz="2200" spc="200" b="1">
                <a:latin typeface="Calibri"/>
                <a:cs typeface="Calibri"/>
              </a:rPr>
              <a:t> </a:t>
            </a:r>
            <a:r>
              <a:rPr dirty="0" sz="2200" spc="-25" b="1">
                <a:latin typeface="Calibri"/>
                <a:cs typeface="Calibri"/>
              </a:rPr>
              <a:t>of </a:t>
            </a:r>
            <a:r>
              <a:rPr dirty="0" sz="2200" b="1">
                <a:latin typeface="Calibri"/>
                <a:cs typeface="Calibri"/>
              </a:rPr>
              <a:t>failure</a:t>
            </a:r>
            <a:r>
              <a:rPr dirty="0" sz="2200" spc="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of</a:t>
            </a:r>
            <a:r>
              <a:rPr dirty="0" sz="2200" spc="5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one</a:t>
            </a:r>
            <a:r>
              <a:rPr dirty="0" sz="2200" spc="6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or</a:t>
            </a:r>
            <a:r>
              <a:rPr dirty="0" sz="2200" spc="5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more</a:t>
            </a:r>
            <a:r>
              <a:rPr dirty="0" sz="2200" spc="6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of</a:t>
            </a:r>
            <a:r>
              <a:rPr dirty="0" sz="2200" spc="7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5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resources</a:t>
            </a:r>
            <a:r>
              <a:rPr dirty="0" sz="2200">
                <a:latin typeface="Calibri"/>
                <a:cs typeface="Calibri"/>
              </a:rPr>
              <a:t>,</a:t>
            </a:r>
            <a:r>
              <a:rPr dirty="0" sz="2200" spc="50">
                <a:latin typeface="Calibri"/>
                <a:cs typeface="Calibri"/>
              </a:rPr>
              <a:t> </a:t>
            </a:r>
            <a:r>
              <a:rPr dirty="0" sz="2200">
                <a:latin typeface="Calibri"/>
                <a:cs typeface="Calibri"/>
              </a:rPr>
              <a:t>the</a:t>
            </a:r>
            <a:r>
              <a:rPr dirty="0" sz="2200" spc="45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load</a:t>
            </a:r>
            <a:r>
              <a:rPr dirty="0" sz="2200" spc="6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balancer</a:t>
            </a:r>
            <a:r>
              <a:rPr dirty="0" sz="2200" spc="5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can</a:t>
            </a:r>
            <a:r>
              <a:rPr dirty="0" sz="2200" spc="5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automatically</a:t>
            </a:r>
            <a:r>
              <a:rPr dirty="0" sz="2200" spc="6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reroute</a:t>
            </a:r>
            <a:r>
              <a:rPr dirty="0" sz="2200" spc="5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6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user</a:t>
            </a:r>
            <a:r>
              <a:rPr dirty="0" sz="2200" spc="5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traffic </a:t>
            </a:r>
            <a:r>
              <a:rPr dirty="0" sz="2200" b="1">
                <a:latin typeface="Calibri"/>
                <a:cs typeface="Calibri"/>
              </a:rPr>
              <a:t>to</a:t>
            </a:r>
            <a:r>
              <a:rPr dirty="0" sz="2200" spc="-45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the</a:t>
            </a:r>
            <a:r>
              <a:rPr dirty="0" sz="2200" spc="-40" b="1">
                <a:latin typeface="Calibri"/>
                <a:cs typeface="Calibri"/>
              </a:rPr>
              <a:t> </a:t>
            </a:r>
            <a:r>
              <a:rPr dirty="0" sz="2200" b="1">
                <a:latin typeface="Calibri"/>
                <a:cs typeface="Calibri"/>
              </a:rPr>
              <a:t>healthy</a:t>
            </a:r>
            <a:r>
              <a:rPr dirty="0" sz="2200" spc="-35" b="1">
                <a:latin typeface="Calibri"/>
                <a:cs typeface="Calibri"/>
              </a:rPr>
              <a:t> </a:t>
            </a:r>
            <a:r>
              <a:rPr dirty="0" sz="2200" spc="-10" b="1">
                <a:latin typeface="Calibri"/>
                <a:cs typeface="Calibri"/>
              </a:rPr>
              <a:t>resources</a:t>
            </a:r>
            <a:r>
              <a:rPr dirty="0" sz="2200" spc="-10">
                <a:latin typeface="Calibri"/>
                <a:cs typeface="Calibri"/>
              </a:rPr>
              <a:t>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243" rIns="0" bIns="0" rtlCol="0" vert="horz">
            <a:spAutoFit/>
          </a:bodyPr>
          <a:lstStyle/>
          <a:p>
            <a:pPr marL="300609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49522" y="810895"/>
            <a:ext cx="50901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C00000"/>
                </a:solidFill>
                <a:latin typeface="Calibri"/>
                <a:cs typeface="Calibri"/>
              </a:rPr>
              <a:t>Load</a:t>
            </a:r>
            <a:r>
              <a:rPr dirty="0" sz="3600" spc="-1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C00000"/>
                </a:solidFill>
                <a:latin typeface="Calibri"/>
                <a:cs typeface="Calibri"/>
              </a:rPr>
              <a:t>Balancing</a:t>
            </a:r>
            <a:r>
              <a:rPr dirty="0" sz="3600" spc="-1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C00000"/>
                </a:solidFill>
                <a:latin typeface="Calibri"/>
                <a:cs typeface="Calibri"/>
              </a:rPr>
              <a:t>Techniques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1714322"/>
            <a:ext cx="7605395" cy="3761104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Round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Robin</a:t>
            </a:r>
            <a:endParaRPr sz="2000">
              <a:latin typeface="Calibri"/>
              <a:cs typeface="Calibri"/>
            </a:endParaRPr>
          </a:p>
          <a:p>
            <a:pPr marL="355600" marR="266065" indent="-342900">
              <a:lnSpc>
                <a:spcPct val="15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round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robin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load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balancing,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servers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selected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one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circular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fashion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incoming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requests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user.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2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297180">
              <a:lnSpc>
                <a:spcPct val="100000"/>
              </a:lnSpc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Weighted</a:t>
            </a:r>
            <a:r>
              <a:rPr dirty="0" sz="20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Round</a:t>
            </a:r>
            <a:r>
              <a:rPr dirty="0" sz="20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Robin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Weighted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round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robin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load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balancing,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servers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assigned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some </a:t>
            </a:r>
            <a:r>
              <a:rPr dirty="0" sz="2000" b="1">
                <a:latin typeface="Calibri"/>
                <a:cs typeface="Calibri"/>
              </a:rPr>
              <a:t>weights.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incoming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requests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proportionally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routed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server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weight.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3131" y="1350263"/>
            <a:ext cx="4655820" cy="222961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048126" y="4443984"/>
            <a:ext cx="3839073" cy="2165618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243" rIns="0" bIns="0" rtlCol="0" vert="horz">
            <a:spAutoFit/>
          </a:bodyPr>
          <a:lstStyle/>
          <a:p>
            <a:pPr marL="300609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66286" y="810895"/>
            <a:ext cx="50552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C00000"/>
                </a:solidFill>
                <a:latin typeface="Calibri"/>
                <a:cs typeface="Calibri"/>
              </a:rPr>
              <a:t>Load</a:t>
            </a:r>
            <a:r>
              <a:rPr dirty="0" sz="3600" spc="-1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C00000"/>
                </a:solidFill>
                <a:latin typeface="Calibri"/>
                <a:cs typeface="Calibri"/>
              </a:rPr>
              <a:t>Balancing</a:t>
            </a:r>
            <a:r>
              <a:rPr dirty="0" sz="3600" spc="-1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C00000"/>
                </a:solidFill>
                <a:latin typeface="Calibri"/>
                <a:cs typeface="Calibri"/>
              </a:rPr>
              <a:t>techniques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1714322"/>
            <a:ext cx="7080884" cy="1779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Low</a:t>
            </a:r>
            <a:r>
              <a:rPr dirty="0" sz="20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Latency</a:t>
            </a:r>
            <a:endParaRPr sz="2000">
              <a:latin typeface="Calibri"/>
              <a:cs typeface="Calibri"/>
            </a:endParaRPr>
          </a:p>
          <a:p>
            <a:pPr algn="just" marL="583565" marR="5080" indent="-339725">
              <a:lnSpc>
                <a:spcPct val="150000"/>
              </a:lnSpc>
              <a:spcBef>
                <a:spcPts val="600"/>
              </a:spcBef>
              <a:buFont typeface="Arial MT"/>
              <a:buChar char="•"/>
              <a:tabLst>
                <a:tab pos="58674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low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latency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load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balancing,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load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balancer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monitors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the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latency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each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request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routed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which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has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lowest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latency.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8739" y="4306061"/>
            <a:ext cx="7040245" cy="1322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Least</a:t>
            </a:r>
            <a:r>
              <a:rPr dirty="0" sz="20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Connections</a:t>
            </a:r>
            <a:endParaRPr sz="2000">
              <a:latin typeface="Calibri"/>
              <a:cs typeface="Calibri"/>
            </a:endParaRPr>
          </a:p>
          <a:p>
            <a:pPr marL="586740" indent="-342900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58674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least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connection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load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balancing,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incoming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requests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are</a:t>
            </a:r>
            <a:endParaRPr sz="2000">
              <a:latin typeface="Calibri"/>
              <a:cs typeface="Calibri"/>
            </a:endParaRPr>
          </a:p>
          <a:p>
            <a:pPr marL="586740">
              <a:lnSpc>
                <a:spcPct val="100000"/>
              </a:lnSpc>
              <a:spcBef>
                <a:spcPts val="1205"/>
              </a:spcBef>
            </a:pPr>
            <a:r>
              <a:rPr dirty="0" sz="2000" b="1">
                <a:latin typeface="Calibri"/>
                <a:cs typeface="Calibri"/>
              </a:rPr>
              <a:t>routed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least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number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connections.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9123" y="1456944"/>
            <a:ext cx="4257183" cy="2068067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661147" y="4363210"/>
            <a:ext cx="4341876" cy="2351097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243" rIns="0" bIns="0" rtlCol="0" vert="horz">
            <a:spAutoFit/>
          </a:bodyPr>
          <a:lstStyle/>
          <a:p>
            <a:pPr marL="300609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66286" y="769746"/>
            <a:ext cx="50552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C00000"/>
                </a:solidFill>
                <a:latin typeface="Calibri"/>
                <a:cs typeface="Calibri"/>
              </a:rPr>
              <a:t>Load</a:t>
            </a:r>
            <a:r>
              <a:rPr dirty="0" sz="3600" spc="-1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C00000"/>
                </a:solidFill>
                <a:latin typeface="Calibri"/>
                <a:cs typeface="Calibri"/>
              </a:rPr>
              <a:t>Balancing</a:t>
            </a:r>
            <a:r>
              <a:rPr dirty="0" sz="3600" spc="-1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C00000"/>
                </a:solidFill>
                <a:latin typeface="Calibri"/>
                <a:cs typeface="Calibri"/>
              </a:rPr>
              <a:t>techniques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1636902"/>
            <a:ext cx="6806565" cy="48279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Priority</a:t>
            </a:r>
            <a:endParaRPr sz="2000">
              <a:latin typeface="Calibri"/>
              <a:cs typeface="Calibri"/>
            </a:endParaRPr>
          </a:p>
          <a:p>
            <a:pPr algn="just" marL="352425" marR="187325" indent="-339725">
              <a:lnSpc>
                <a:spcPct val="14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priority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load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balancing,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each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assigned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priority.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incoming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traffic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routed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highest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priority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servers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long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available.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When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highest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priority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server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fails,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incoming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traffic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routed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50" b="1">
                <a:latin typeface="Calibri"/>
                <a:cs typeface="Calibri"/>
              </a:rPr>
              <a:t>a </a:t>
            </a:r>
            <a:r>
              <a:rPr dirty="0" sz="2000" spc="-5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lower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priority.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Overflow</a:t>
            </a:r>
            <a:endParaRPr sz="2000">
              <a:latin typeface="Calibri"/>
              <a:cs typeface="Calibri"/>
            </a:endParaRPr>
          </a:p>
          <a:p>
            <a:pPr marL="354965" marR="5080" indent="-342265">
              <a:lnSpc>
                <a:spcPct val="140000"/>
              </a:lnSpc>
              <a:spcBef>
                <a:spcPts val="605"/>
              </a:spcBef>
              <a:buFont typeface="Arial MT"/>
              <a:buChar char="•"/>
              <a:tabLst>
                <a:tab pos="370840" algn="l"/>
              </a:tabLst>
            </a:pPr>
            <a:r>
              <a:rPr dirty="0" sz="2000" b="1">
                <a:latin typeface="Calibri"/>
                <a:cs typeface="Calibri"/>
              </a:rPr>
              <a:t>Overflow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load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balancing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similar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priority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load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balancing.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When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incoming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request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high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priority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servers </a:t>
            </a:r>
            <a:r>
              <a:rPr dirty="0" sz="2000" spc="-10" b="1">
                <a:latin typeface="Calibri"/>
                <a:cs typeface="Calibri"/>
              </a:rPr>
              <a:t>overflow,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requests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routed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lower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priority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server.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0419" y="1706879"/>
            <a:ext cx="4731870" cy="227228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142690" y="4314444"/>
            <a:ext cx="4645449" cy="211531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97663"/>
            <a:ext cx="60566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580254"/>
            <a:ext cx="12036425" cy="5763260"/>
          </a:xfrm>
          <a:prstGeom prst="rect">
            <a:avLst/>
          </a:prstGeom>
        </p:spPr>
        <p:txBody>
          <a:bodyPr wrap="square" lIns="0" tIns="2419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905"/>
              </a:spcBef>
            </a:pPr>
            <a:r>
              <a:rPr dirty="0" sz="3300" b="1">
                <a:solidFill>
                  <a:srgbClr val="C00000"/>
                </a:solidFill>
                <a:latin typeface="Calibri"/>
                <a:cs typeface="Calibri"/>
              </a:rPr>
              <a:t>Load</a:t>
            </a:r>
            <a:r>
              <a:rPr dirty="0" sz="33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300" b="1">
                <a:solidFill>
                  <a:srgbClr val="C00000"/>
                </a:solidFill>
                <a:latin typeface="Calibri"/>
                <a:cs typeface="Calibri"/>
              </a:rPr>
              <a:t>Balancing</a:t>
            </a:r>
            <a:r>
              <a:rPr dirty="0" sz="33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300" spc="-10" b="1">
                <a:solidFill>
                  <a:srgbClr val="C00000"/>
                </a:solidFill>
                <a:latin typeface="Calibri"/>
                <a:cs typeface="Calibri"/>
              </a:rPr>
              <a:t>Techniques</a:t>
            </a:r>
            <a:endParaRPr sz="33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00000"/>
              </a:lnSpc>
              <a:spcBef>
                <a:spcPts val="1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defined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series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related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browser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requests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come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same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client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during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certain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time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period.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Session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tracking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ties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together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series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browser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requests—</a:t>
            </a:r>
            <a:r>
              <a:rPr dirty="0" sz="2000">
                <a:latin typeface="Calibri"/>
                <a:cs typeface="Calibri"/>
              </a:rPr>
              <a:t>think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these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requests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pages—</a:t>
            </a:r>
            <a:r>
              <a:rPr dirty="0" sz="2000" spc="-20">
                <a:latin typeface="Calibri"/>
                <a:cs typeface="Calibri"/>
              </a:rPr>
              <a:t>that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may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some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meaning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whole,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such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shopping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cart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application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algn="just" marL="295910" marR="6350" indent="-283845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web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series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contiguous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actions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visitor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individual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website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within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given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time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frame.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could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include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search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engine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searches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filling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out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form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receive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content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scrolling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website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page</a:t>
            </a:r>
            <a:r>
              <a:rPr dirty="0" sz="2000" spc="-10">
                <a:latin typeface="Calibri"/>
                <a:cs typeface="Calibri"/>
              </a:rPr>
              <a:t>,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adding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items</a:t>
            </a:r>
            <a:r>
              <a:rPr dirty="0" sz="2000" spc="3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3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3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shopping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cart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3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researching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airfare,</a:t>
            </a:r>
            <a:r>
              <a:rPr dirty="0" sz="2000" spc="3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3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pages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you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viewed</a:t>
            </a:r>
            <a:r>
              <a:rPr dirty="0" sz="2000" spc="3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3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3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single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website.</a:t>
            </a:r>
            <a:r>
              <a:rPr dirty="0" sz="2000" spc="370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Any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interaction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you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have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single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website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recorded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web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website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property.</a:t>
            </a:r>
            <a:endParaRPr sz="20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 spc="-55" b="1">
                <a:latin typeface="Calibri"/>
                <a:cs typeface="Calibri"/>
              </a:rPr>
              <a:t>To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track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sessions,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web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stored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visitor’s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browser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passed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along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any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HTTP</a:t>
            </a:r>
            <a:endParaRPr sz="20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latin typeface="Calibri"/>
                <a:cs typeface="Calibri"/>
              </a:rPr>
              <a:t>requests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visitor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makes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while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site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(e.g.,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clicking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link).</a:t>
            </a:r>
            <a:endParaRPr sz="2000">
              <a:latin typeface="Calibri"/>
              <a:cs typeface="Calibri"/>
            </a:endParaRPr>
          </a:p>
          <a:p>
            <a:pPr algn="just" marL="299085" marR="5715" indent="-287020">
              <a:lnSpc>
                <a:spcPct val="100000"/>
              </a:lnSpc>
              <a:spcBef>
                <a:spcPts val="2305"/>
              </a:spcBef>
              <a:buFont typeface="Arial MT"/>
              <a:buChar char="•"/>
              <a:tabLst>
                <a:tab pos="299085" algn="l"/>
                <a:tab pos="300355" algn="l"/>
              </a:tabLst>
            </a:pPr>
            <a:r>
              <a:rPr dirty="0" sz="1600">
                <a:latin typeface="Calibri"/>
                <a:cs typeface="Calibri"/>
              </a:rPr>
              <a:t>	(“Session”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term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used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refer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visitor’s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time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browsing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web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site.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It’s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meant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 represent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 </a:t>
            </a:r>
            <a:r>
              <a:rPr dirty="0" sz="1600" b="1">
                <a:latin typeface="Calibri"/>
                <a:cs typeface="Calibri"/>
              </a:rPr>
              <a:t>time</a:t>
            </a:r>
            <a:r>
              <a:rPr dirty="0" sz="1600" spc="-1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between</a:t>
            </a:r>
            <a:r>
              <a:rPr dirty="0" sz="1600" spc="-1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</a:t>
            </a:r>
            <a:r>
              <a:rPr dirty="0" sz="1600" spc="-1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visitor’s</a:t>
            </a:r>
            <a:r>
              <a:rPr dirty="0" sz="1600" spc="-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first</a:t>
            </a:r>
            <a:r>
              <a:rPr dirty="0" sz="1600" spc="-1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arrival </a:t>
            </a:r>
            <a:r>
              <a:rPr dirty="0" sz="1600" spc="-25" b="1">
                <a:latin typeface="Calibri"/>
                <a:cs typeface="Calibri"/>
              </a:rPr>
              <a:t>at </a:t>
            </a:r>
            <a:r>
              <a:rPr dirty="0" sz="1600" b="1">
                <a:latin typeface="Calibri"/>
                <a:cs typeface="Calibri"/>
              </a:rPr>
              <a:t>a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page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on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the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site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and</a:t>
            </a:r>
            <a:r>
              <a:rPr dirty="0" sz="1600" spc="-1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the</a:t>
            </a:r>
            <a:r>
              <a:rPr dirty="0" sz="1600" spc="-2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time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they</a:t>
            </a:r>
            <a:r>
              <a:rPr dirty="0" sz="1600" spc="-2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stop</a:t>
            </a:r>
            <a:r>
              <a:rPr dirty="0" sz="1600" spc="-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using</a:t>
            </a:r>
            <a:r>
              <a:rPr dirty="0" sz="1600" spc="-1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the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site</a:t>
            </a:r>
            <a:r>
              <a:rPr dirty="0" sz="1600" spc="-1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cookie</a:t>
            </a:r>
            <a:r>
              <a:rPr dirty="0" sz="1600" spc="4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is</a:t>
            </a:r>
            <a:r>
              <a:rPr dirty="0" sz="1600" spc="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</a:t>
            </a:r>
            <a:r>
              <a:rPr dirty="0" sz="1600" spc="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small</a:t>
            </a:r>
            <a:r>
              <a:rPr dirty="0" sz="1600" spc="4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piece</a:t>
            </a:r>
            <a:r>
              <a:rPr dirty="0" sz="1600" spc="4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of</a:t>
            </a:r>
            <a:r>
              <a:rPr dirty="0" sz="1600" spc="5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data</a:t>
            </a:r>
            <a:r>
              <a:rPr dirty="0" sz="1600" spc="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from</a:t>
            </a:r>
            <a:r>
              <a:rPr dirty="0" sz="1600" spc="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</a:t>
            </a:r>
            <a:r>
              <a:rPr dirty="0" sz="1600" spc="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web</a:t>
            </a:r>
            <a:r>
              <a:rPr dirty="0" sz="1600" spc="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site</a:t>
            </a:r>
            <a:r>
              <a:rPr dirty="0" sz="1600" spc="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that</a:t>
            </a:r>
            <a:r>
              <a:rPr dirty="0" sz="1600" spc="5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is</a:t>
            </a:r>
            <a:r>
              <a:rPr dirty="0" sz="1600" spc="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stored</a:t>
            </a:r>
            <a:r>
              <a:rPr dirty="0" sz="1600" spc="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on</a:t>
            </a:r>
            <a:r>
              <a:rPr dirty="0" sz="1600" spc="4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</a:t>
            </a:r>
            <a:r>
              <a:rPr dirty="0" sz="1600" spc="5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visitor’s</a:t>
            </a:r>
            <a:r>
              <a:rPr dirty="0" sz="1600" spc="5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browser</a:t>
            </a:r>
            <a:r>
              <a:rPr dirty="0" sz="1600" spc="5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to</a:t>
            </a:r>
            <a:r>
              <a:rPr dirty="0" sz="1600" spc="5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help</a:t>
            </a:r>
            <a:r>
              <a:rPr dirty="0" sz="1600" spc="4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the</a:t>
            </a:r>
            <a:r>
              <a:rPr dirty="0" sz="1600" spc="5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website</a:t>
            </a:r>
            <a:r>
              <a:rPr dirty="0" sz="1600" spc="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track</a:t>
            </a:r>
            <a:r>
              <a:rPr dirty="0" sz="1600" spc="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the</a:t>
            </a:r>
            <a:r>
              <a:rPr dirty="0" sz="1600" spc="5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visitor’s</a:t>
            </a:r>
            <a:r>
              <a:rPr dirty="0" sz="1600" spc="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activity</a:t>
            </a:r>
            <a:r>
              <a:rPr dirty="0" sz="1600" spc="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on</a:t>
            </a:r>
            <a:r>
              <a:rPr dirty="0" sz="1600" spc="50" b="1">
                <a:latin typeface="Calibri"/>
                <a:cs typeface="Calibri"/>
              </a:rPr>
              <a:t> </a:t>
            </a:r>
            <a:r>
              <a:rPr dirty="0" sz="1600" spc="-25" b="1">
                <a:latin typeface="Calibri"/>
                <a:cs typeface="Calibri"/>
              </a:rPr>
              <a:t>the</a:t>
            </a:r>
            <a:endParaRPr sz="16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dirty="0" sz="1600" b="1">
                <a:latin typeface="Calibri"/>
                <a:cs typeface="Calibri"/>
              </a:rPr>
              <a:t>web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site</a:t>
            </a:r>
            <a:r>
              <a:rPr dirty="0" sz="1600" spc="-10">
                <a:latin typeface="Calibri"/>
                <a:cs typeface="Calibri"/>
              </a:rPr>
              <a:t>.)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243" rIns="0" bIns="0" rtlCol="0" vert="horz">
            <a:spAutoFit/>
          </a:bodyPr>
          <a:lstStyle/>
          <a:p>
            <a:pPr marL="300609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66286" y="810895"/>
            <a:ext cx="5055235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C00000"/>
                </a:solidFill>
                <a:latin typeface="Calibri"/>
                <a:cs typeface="Calibri"/>
              </a:rPr>
              <a:t>Load</a:t>
            </a:r>
            <a:r>
              <a:rPr dirty="0" sz="3600" spc="-1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C00000"/>
                </a:solidFill>
                <a:latin typeface="Calibri"/>
                <a:cs typeface="Calibri"/>
              </a:rPr>
              <a:t>Balancing</a:t>
            </a:r>
            <a:r>
              <a:rPr dirty="0" sz="3600" spc="-1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C00000"/>
                </a:solidFill>
                <a:latin typeface="Calibri"/>
                <a:cs typeface="Calibri"/>
              </a:rPr>
              <a:t>techniques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1562156"/>
            <a:ext cx="12036425" cy="4446905"/>
          </a:xfrm>
          <a:prstGeom prst="rect">
            <a:avLst/>
          </a:prstGeom>
        </p:spPr>
        <p:txBody>
          <a:bodyPr wrap="square" lIns="0" tIns="1657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</a:t>
            </a:r>
            <a:r>
              <a:rPr dirty="0" sz="2000" spc="1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important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issue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handle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during</a:t>
            </a:r>
            <a:r>
              <a:rPr dirty="0" sz="2000" spc="1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load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balancing</a:t>
            </a:r>
            <a:r>
              <a:rPr dirty="0" sz="2000" spc="1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persistence</a:t>
            </a:r>
            <a:r>
              <a:rPr dirty="0" sz="2000" spc="18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of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requests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particular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session.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(Because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you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current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page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next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page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back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previous page)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Since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load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balancing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route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successive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requests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different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servers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maintain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state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information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important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Four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persistence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approaches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are:</a:t>
            </a:r>
            <a:endParaRPr sz="2000">
              <a:latin typeface="Calibri"/>
              <a:cs typeface="Calibri"/>
            </a:endParaRPr>
          </a:p>
          <a:p>
            <a:pPr lvl="1" marL="876300" indent="-400685">
              <a:lnSpc>
                <a:spcPct val="100000"/>
              </a:lnSpc>
              <a:spcBef>
                <a:spcPts val="2405"/>
              </a:spcBef>
              <a:buFont typeface="Wingdings"/>
              <a:buChar char=""/>
              <a:tabLst>
                <a:tab pos="876300" algn="l"/>
              </a:tabLst>
            </a:pP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Sticky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 Sessions</a:t>
            </a:r>
            <a:endParaRPr sz="2000">
              <a:latin typeface="Calibri"/>
              <a:cs typeface="Calibri"/>
            </a:endParaRPr>
          </a:p>
          <a:p>
            <a:pPr lvl="1" marL="876300" indent="-400685">
              <a:lnSpc>
                <a:spcPct val="100000"/>
              </a:lnSpc>
              <a:spcBef>
                <a:spcPts val="2400"/>
              </a:spcBef>
              <a:buFont typeface="Wingdings"/>
              <a:buChar char=""/>
              <a:tabLst>
                <a:tab pos="876300" algn="l"/>
              </a:tabLst>
            </a:pP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Session</a:t>
            </a:r>
            <a:r>
              <a:rPr dirty="0" sz="2000" spc="-5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Database</a:t>
            </a:r>
            <a:endParaRPr sz="2000">
              <a:latin typeface="Calibri"/>
              <a:cs typeface="Calibri"/>
            </a:endParaRPr>
          </a:p>
          <a:p>
            <a:pPr lvl="1" marL="876300" indent="-400685">
              <a:lnSpc>
                <a:spcPct val="100000"/>
              </a:lnSpc>
              <a:spcBef>
                <a:spcPts val="2400"/>
              </a:spcBef>
              <a:buFont typeface="Wingdings"/>
              <a:buChar char=""/>
              <a:tabLst>
                <a:tab pos="876300" algn="l"/>
              </a:tabLst>
            </a:pP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Browser</a:t>
            </a:r>
            <a:r>
              <a:rPr dirty="0" sz="200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Cookies</a:t>
            </a:r>
            <a:endParaRPr sz="2000">
              <a:latin typeface="Calibri"/>
              <a:cs typeface="Calibri"/>
            </a:endParaRPr>
          </a:p>
          <a:p>
            <a:pPr lvl="1" marL="876300" indent="-400685">
              <a:lnSpc>
                <a:spcPct val="100000"/>
              </a:lnSpc>
              <a:spcBef>
                <a:spcPts val="2400"/>
              </a:spcBef>
              <a:buFont typeface="Wingdings"/>
              <a:buChar char=""/>
              <a:tabLst>
                <a:tab pos="876300" algn="l"/>
              </a:tabLst>
            </a:pP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URL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25" b="1">
                <a:solidFill>
                  <a:srgbClr val="00391A"/>
                </a:solidFill>
                <a:latin typeface="Calibri"/>
                <a:cs typeface="Calibri"/>
              </a:rPr>
              <a:t>Re-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Writing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13286"/>
            <a:ext cx="6056630" cy="1150620"/>
          </a:xfrm>
          <a:prstGeom prst="rect"/>
        </p:spPr>
        <p:txBody>
          <a:bodyPr wrap="square" lIns="0" tIns="971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algn="ctr" marR="3175">
              <a:lnSpc>
                <a:spcPct val="100000"/>
              </a:lnSpc>
              <a:spcBef>
                <a:spcPts val="509"/>
              </a:spcBef>
            </a:pPr>
            <a:r>
              <a:rPr dirty="0" sz="2800"/>
              <a:t>Load</a:t>
            </a:r>
            <a:r>
              <a:rPr dirty="0" sz="2800" spc="-95"/>
              <a:t> </a:t>
            </a:r>
            <a:r>
              <a:rPr dirty="0" sz="2800"/>
              <a:t>Balancing</a:t>
            </a:r>
            <a:r>
              <a:rPr dirty="0" sz="2800" spc="-90"/>
              <a:t> </a:t>
            </a:r>
            <a:r>
              <a:rPr dirty="0" sz="2800" spc="-10"/>
              <a:t>Techniques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400682"/>
            <a:ext cx="12036425" cy="53613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Sticky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Sessions</a:t>
            </a:r>
            <a:endParaRPr sz="2000">
              <a:latin typeface="Calibri"/>
              <a:cs typeface="Calibri"/>
            </a:endParaRPr>
          </a:p>
          <a:p>
            <a:pPr marL="457200" indent="-259079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457200" algn="l"/>
              </a:tabLst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approach,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requests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belonging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routed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same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server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457200" indent="-259079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457200" algn="l"/>
              </a:tabLst>
            </a:pPr>
            <a:r>
              <a:rPr dirty="0" sz="2000" b="1">
                <a:latin typeface="Calibri"/>
                <a:cs typeface="Calibri"/>
              </a:rPr>
              <a:t>Theses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called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Sticky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Sessions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457200" indent="-259079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457200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benefit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approach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makes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management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simple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457200" marR="5080" indent="-259079">
              <a:lnSpc>
                <a:spcPct val="130000"/>
              </a:lnSpc>
              <a:spcBef>
                <a:spcPts val="1205"/>
              </a:spcBef>
              <a:buFont typeface="Arial MT"/>
              <a:buChar char="•"/>
              <a:tabLst>
                <a:tab pos="457200" algn="l"/>
              </a:tabLst>
            </a:pPr>
            <a:r>
              <a:rPr dirty="0" sz="2000" spc="-20">
                <a:latin typeface="Calibri"/>
                <a:cs typeface="Calibri"/>
              </a:rPr>
              <a:t>However,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drawback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approach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if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fails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sessions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belonging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lost</a:t>
            </a:r>
            <a:r>
              <a:rPr dirty="0" sz="2000" spc="-10">
                <a:latin typeface="Calibri"/>
                <a:cs typeface="Calibri"/>
              </a:rPr>
              <a:t>, </a:t>
            </a:r>
            <a:r>
              <a:rPr dirty="0" sz="2000">
                <a:latin typeface="Calibri"/>
                <a:cs typeface="Calibri"/>
              </a:rPr>
              <a:t>since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automatic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failover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possible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Session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Database</a:t>
            </a:r>
            <a:endParaRPr sz="2000">
              <a:latin typeface="Calibri"/>
              <a:cs typeface="Calibri"/>
            </a:endParaRPr>
          </a:p>
          <a:p>
            <a:pPr marL="457200" marR="6350" indent="-445134">
              <a:lnSpc>
                <a:spcPct val="130000"/>
              </a:lnSpc>
              <a:spcBef>
                <a:spcPts val="1200"/>
              </a:spcBef>
              <a:buFont typeface="Arial MT"/>
              <a:buChar char="•"/>
              <a:tabLst>
                <a:tab pos="457200" algn="l"/>
              </a:tabLst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approach,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information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stored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externally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separate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database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often replicated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avoid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single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point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failure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457200" indent="-444500">
              <a:lnSpc>
                <a:spcPct val="100000"/>
              </a:lnSpc>
              <a:spcBef>
                <a:spcPts val="1920"/>
              </a:spcBef>
              <a:buFont typeface="Arial MT"/>
              <a:buChar char="•"/>
              <a:tabLst>
                <a:tab pos="457200" algn="l"/>
              </a:tabLst>
            </a:pPr>
            <a:r>
              <a:rPr dirty="0" sz="2000" b="1">
                <a:latin typeface="Calibri"/>
                <a:cs typeface="Calibri"/>
              </a:rPr>
              <a:t>Though,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approach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involves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additional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overhead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storing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information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however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unlike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457200">
              <a:lnSpc>
                <a:spcPct val="100000"/>
              </a:lnSpc>
              <a:spcBef>
                <a:spcPts val="720"/>
              </a:spcBef>
            </a:pPr>
            <a:r>
              <a:rPr dirty="0" sz="2000">
                <a:latin typeface="Calibri"/>
                <a:cs typeface="Calibri"/>
              </a:rPr>
              <a:t>sticky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session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approach,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approach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allows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automatic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failover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13286"/>
            <a:ext cx="6056630" cy="1150620"/>
          </a:xfrm>
          <a:prstGeom prst="rect"/>
        </p:spPr>
        <p:txBody>
          <a:bodyPr wrap="square" lIns="0" tIns="9715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65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algn="ctr" marR="3175">
              <a:lnSpc>
                <a:spcPct val="100000"/>
              </a:lnSpc>
              <a:spcBef>
                <a:spcPts val="509"/>
              </a:spcBef>
            </a:pPr>
            <a:r>
              <a:rPr dirty="0" sz="2800"/>
              <a:t>Load</a:t>
            </a:r>
            <a:r>
              <a:rPr dirty="0" sz="2800" spc="-95"/>
              <a:t> </a:t>
            </a:r>
            <a:r>
              <a:rPr dirty="0" sz="2800"/>
              <a:t>Balancing</a:t>
            </a:r>
            <a:r>
              <a:rPr dirty="0" sz="2800" spc="-90"/>
              <a:t> </a:t>
            </a:r>
            <a:r>
              <a:rPr dirty="0" sz="2800" spc="-10"/>
              <a:t>Techniques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188399"/>
            <a:ext cx="12036425" cy="5613400"/>
          </a:xfrm>
          <a:prstGeom prst="rect">
            <a:avLst/>
          </a:prstGeom>
        </p:spPr>
        <p:txBody>
          <a:bodyPr wrap="square" lIns="0" tIns="1492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75"/>
              </a:spcBef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Browser</a:t>
            </a:r>
            <a:r>
              <a:rPr dirty="0" sz="20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Cookies</a:t>
            </a:r>
            <a:endParaRPr sz="2000">
              <a:latin typeface="Calibri"/>
              <a:cs typeface="Calibri"/>
            </a:endParaRPr>
          </a:p>
          <a:p>
            <a:pPr marL="469265" indent="-27114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approach,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information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stored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client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side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form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browser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cookies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469900" marR="5715" indent="-271780">
              <a:lnSpc>
                <a:spcPct val="150000"/>
              </a:lnSpc>
              <a:buFont typeface="Arial MT"/>
              <a:buChar char="•"/>
              <a:tabLst>
                <a:tab pos="469900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benefit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approach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makes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management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easy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2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7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least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amount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of </a:t>
            </a:r>
            <a:r>
              <a:rPr dirty="0" sz="2000" b="1">
                <a:latin typeface="Calibri"/>
                <a:cs typeface="Calibri"/>
              </a:rPr>
              <a:t>overhead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load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balancer.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URL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25" b="1">
                <a:solidFill>
                  <a:srgbClr val="C00000"/>
                </a:solidFill>
                <a:latin typeface="Calibri"/>
                <a:cs typeface="Calibri"/>
              </a:rPr>
              <a:t>Re-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Writing</a:t>
            </a:r>
            <a:endParaRPr sz="2000">
              <a:latin typeface="Calibri"/>
              <a:cs typeface="Calibri"/>
            </a:endParaRPr>
          </a:p>
          <a:p>
            <a:pPr marL="353695" marR="5080" indent="-155575">
              <a:lnSpc>
                <a:spcPts val="3600"/>
              </a:lnSpc>
              <a:spcBef>
                <a:spcPts val="204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approach,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URL</a:t>
            </a:r>
            <a:r>
              <a:rPr dirty="0" sz="2000" spc="204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re-</a:t>
            </a:r>
            <a:r>
              <a:rPr dirty="0" sz="2000" b="1">
                <a:latin typeface="Calibri"/>
                <a:cs typeface="Calibri"/>
              </a:rPr>
              <a:t>write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engine</a:t>
            </a:r>
            <a:r>
              <a:rPr dirty="0" sz="2000" spc="20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stores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information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modifying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URL’s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client 	side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53695" indent="-155575">
              <a:lnSpc>
                <a:spcPct val="100000"/>
              </a:lnSpc>
              <a:spcBef>
                <a:spcPts val="880"/>
              </a:spcBef>
              <a:buFont typeface="Arial MT"/>
              <a:buChar char="•"/>
              <a:tabLst>
                <a:tab pos="353695" algn="l"/>
                <a:tab pos="4739005" algn="l"/>
                <a:tab pos="8636635" algn="l"/>
              </a:tabLst>
            </a:pPr>
            <a:r>
              <a:rPr dirty="0" sz="2000">
                <a:latin typeface="Calibri"/>
                <a:cs typeface="Calibri"/>
              </a:rPr>
              <a:t>Though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approach</a:t>
            </a:r>
            <a:r>
              <a:rPr dirty="0" sz="2000" spc="4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avoids</a:t>
            </a:r>
            <a:r>
              <a:rPr dirty="0" sz="2000" spc="4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overhead</a:t>
            </a:r>
            <a:r>
              <a:rPr dirty="0" sz="2000">
                <a:latin typeface="Calibri"/>
                <a:cs typeface="Calibri"/>
              </a:rPr>
              <a:t>	on</a:t>
            </a:r>
            <a:r>
              <a:rPr dirty="0" sz="2000" spc="4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load</a:t>
            </a:r>
            <a:r>
              <a:rPr dirty="0" sz="2000" spc="4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balancer,</a:t>
            </a:r>
            <a:r>
              <a:rPr dirty="0" sz="2000" spc="48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4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drawback</a:t>
            </a:r>
            <a:r>
              <a:rPr dirty="0" sz="2000" b="1">
                <a:latin typeface="Calibri"/>
                <a:cs typeface="Calibri"/>
              </a:rPr>
              <a:t>	is</a:t>
            </a:r>
            <a:r>
              <a:rPr dirty="0" sz="2000" spc="2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2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amount</a:t>
            </a:r>
            <a:r>
              <a:rPr dirty="0" sz="2000" spc="2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30" b="1">
                <a:latin typeface="Calibri"/>
                <a:cs typeface="Calibri"/>
              </a:rPr>
              <a:t>  </a:t>
            </a:r>
            <a:r>
              <a:rPr dirty="0" sz="2000" spc="-10" b="1">
                <a:latin typeface="Calibri"/>
                <a:cs typeface="Calibri"/>
              </a:rPr>
              <a:t>session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information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stored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limited.</a:t>
            </a:r>
            <a:r>
              <a:rPr dirty="0" sz="2000" spc="-85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(Modifying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each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URL</a:t>
            </a: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Calibri"/>
                <a:cs typeface="Calibri"/>
              </a:rPr>
              <a:t>Shortening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URL</a:t>
            </a: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Calibri"/>
                <a:cs typeface="Calibri"/>
              </a:rPr>
              <a:t>storing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engine</a:t>
            </a: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 spc="-90">
                <a:latin typeface="Times New Roman"/>
                <a:cs typeface="Times New Roman"/>
              </a:rPr>
              <a:t> </a:t>
            </a:r>
            <a:r>
              <a:rPr dirty="0" sz="1600">
                <a:latin typeface="Calibri"/>
                <a:cs typeface="Calibri"/>
              </a:rPr>
              <a:t>degrades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performance)</a:t>
            </a:r>
            <a:endParaRPr sz="1600">
              <a:latin typeface="Calibri"/>
              <a:cs typeface="Calibri"/>
            </a:endParaRPr>
          </a:p>
          <a:p>
            <a:pPr marL="353695" indent="-15557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3695" algn="l"/>
              </a:tabLst>
            </a:pP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require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larger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amounts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session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information,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approach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does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not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work.</a:t>
            </a:r>
            <a:endParaRPr sz="2000">
              <a:latin typeface="Calibri"/>
              <a:cs typeface="Calibri"/>
            </a:endParaRPr>
          </a:p>
          <a:p>
            <a:pPr algn="just" marL="12700" marR="5080">
              <a:lnSpc>
                <a:spcPct val="130000"/>
              </a:lnSpc>
              <a:spcBef>
                <a:spcPts val="915"/>
              </a:spcBef>
            </a:pPr>
            <a:r>
              <a:rPr dirty="0" sz="1000">
                <a:latin typeface="Calibri"/>
                <a:cs typeface="Calibri"/>
              </a:rPr>
              <a:t>(Changing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URL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required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format.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URL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rewriting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allows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URLs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be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more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easily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remembered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by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user.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When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URL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is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entered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into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Web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server,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URL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rewrite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engine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modifies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syntax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behind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scenes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enable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appropriate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Web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page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or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database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item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be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retrieved.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For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example,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look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up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definition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for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"path,"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user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friendly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URL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might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look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like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computerlanguage.com/path.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rewrite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engine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could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turn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it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into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following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syntax: </a:t>
            </a:r>
            <a:r>
              <a:rPr dirty="0" sz="1000">
                <a:latin typeface="Calibri"/>
                <a:cs typeface="Calibri"/>
              </a:rPr>
              <a:t>computerlanguage.com/results.php?definition=path.</a:t>
            </a:r>
            <a:r>
              <a:rPr dirty="0" sz="1000" spc="3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So,</a:t>
            </a:r>
            <a:r>
              <a:rPr dirty="0" sz="1000" spc="3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3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URL</a:t>
            </a:r>
            <a:r>
              <a:rPr dirty="0" sz="1000" spc="3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rewrite</a:t>
            </a:r>
            <a:r>
              <a:rPr dirty="0" sz="1000" spc="3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function</a:t>
            </a:r>
            <a:r>
              <a:rPr dirty="0" sz="1000" spc="3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simply</a:t>
            </a:r>
            <a:r>
              <a:rPr dirty="0" sz="1000" spc="3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puts</a:t>
            </a:r>
            <a:r>
              <a:rPr dirty="0" sz="1000" spc="3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3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layer</a:t>
            </a:r>
            <a:r>
              <a:rPr dirty="0" sz="1000" spc="3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on</a:t>
            </a:r>
            <a:r>
              <a:rPr dirty="0" sz="1000" spc="3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top</a:t>
            </a:r>
            <a:r>
              <a:rPr dirty="0" sz="1000" spc="3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3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3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original</a:t>
            </a:r>
            <a:r>
              <a:rPr dirty="0" sz="1000" spc="3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address</a:t>
            </a:r>
            <a:r>
              <a:rPr dirty="0" sz="1000" spc="3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3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turns</a:t>
            </a:r>
            <a:r>
              <a:rPr dirty="0" sz="1000" spc="3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it</a:t>
            </a:r>
            <a:r>
              <a:rPr dirty="0" sz="1000" spc="3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into</a:t>
            </a:r>
            <a:r>
              <a:rPr dirty="0" sz="1000" spc="3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something</a:t>
            </a:r>
            <a:r>
              <a:rPr dirty="0" sz="1000" spc="3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easy</a:t>
            </a:r>
            <a:r>
              <a:rPr dirty="0" sz="1000" spc="3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3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find</a:t>
            </a:r>
            <a:r>
              <a:rPr dirty="0" sz="1000" spc="3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3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that</a:t>
            </a:r>
            <a:r>
              <a:rPr dirty="0" sz="1000" spc="3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makes</a:t>
            </a:r>
            <a:r>
              <a:rPr dirty="0" sz="1000" spc="3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sense.</a:t>
            </a:r>
            <a:r>
              <a:rPr dirty="0" sz="1000" spc="3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Thus,</a:t>
            </a:r>
            <a:r>
              <a:rPr dirty="0" sz="1000" spc="33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turning https://wiredelta.com/?page_id=16825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into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wiredelta.com/url-</a:t>
            </a:r>
            <a:r>
              <a:rPr dirty="0" sz="1000">
                <a:latin typeface="Calibri"/>
                <a:cs typeface="Calibri"/>
              </a:rPr>
              <a:t>rewrite,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for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example.</a:t>
            </a:r>
            <a:r>
              <a:rPr dirty="0" sz="1000" spc="7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From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user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perspective,</a:t>
            </a:r>
            <a:r>
              <a:rPr dirty="0" sz="1000" spc="7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when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URL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rewrite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occurs</a:t>
            </a:r>
            <a:r>
              <a:rPr dirty="0" sz="1000" spc="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URL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website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remains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same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browser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they</a:t>
            </a:r>
            <a:r>
              <a:rPr dirty="0" sz="1000" spc="7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are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none</a:t>
            </a:r>
            <a:r>
              <a:rPr dirty="0" sz="1000" spc="6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wiser.</a:t>
            </a:r>
            <a:r>
              <a:rPr dirty="0" sz="1000" spc="75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But</a:t>
            </a:r>
            <a:r>
              <a:rPr dirty="0" sz="1000">
                <a:latin typeface="Calibri"/>
                <a:cs typeface="Calibri"/>
              </a:rPr>
              <a:t> behind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scenes,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browser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rewrites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URL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back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into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that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complicated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mess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sends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query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servers.)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4243" rIns="0" bIns="0" rtlCol="0" vert="horz">
            <a:spAutoFit/>
          </a:bodyPr>
          <a:lstStyle/>
          <a:p>
            <a:pPr marL="300609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3549522" y="810895"/>
            <a:ext cx="50901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C00000"/>
                </a:solidFill>
                <a:latin typeface="Calibri"/>
                <a:cs typeface="Calibri"/>
              </a:rPr>
              <a:t>Load</a:t>
            </a:r>
            <a:r>
              <a:rPr dirty="0" sz="3600" spc="-1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b="1">
                <a:solidFill>
                  <a:srgbClr val="C00000"/>
                </a:solidFill>
                <a:latin typeface="Calibri"/>
                <a:cs typeface="Calibri"/>
              </a:rPr>
              <a:t>Balancing</a:t>
            </a:r>
            <a:r>
              <a:rPr dirty="0" sz="3600" spc="-1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3600" spc="-10" b="1">
                <a:solidFill>
                  <a:srgbClr val="C00000"/>
                </a:solidFill>
                <a:latin typeface="Calibri"/>
                <a:cs typeface="Calibri"/>
              </a:rPr>
              <a:t>Techniques</a:t>
            </a:r>
            <a:endParaRPr sz="3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1714322"/>
            <a:ext cx="12035155" cy="20078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Load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balancing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implemented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hardware.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load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balancers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standard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operating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like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resources.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4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load</a:t>
            </a:r>
            <a:r>
              <a:rPr dirty="0" sz="2000" spc="4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balancers</a:t>
            </a:r>
            <a:r>
              <a:rPr dirty="0" sz="2000" spc="4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implement</a:t>
            </a:r>
            <a:r>
              <a:rPr dirty="0" sz="2000" spc="4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load</a:t>
            </a:r>
            <a:r>
              <a:rPr dirty="0" sz="2000" spc="4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balancing</a:t>
            </a:r>
            <a:r>
              <a:rPr dirty="0" sz="2000" spc="43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algorithms</a:t>
            </a:r>
            <a:r>
              <a:rPr dirty="0" sz="2000" spc="4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4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4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Specific</a:t>
            </a:r>
            <a:r>
              <a:rPr dirty="0" sz="2000" spc="4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Integrated</a:t>
            </a:r>
            <a:r>
              <a:rPr dirty="0" sz="2000" spc="4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Circuits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spc="-10">
                <a:latin typeface="Calibri"/>
                <a:cs typeface="Calibri"/>
              </a:rPr>
              <a:t>(ASICs).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97663"/>
            <a:ext cx="6056630" cy="10985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225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algn="ctr" marR="4445">
              <a:lnSpc>
                <a:spcPts val="4225"/>
              </a:lnSpc>
            </a:pPr>
            <a:r>
              <a:rPr dirty="0"/>
              <a:t>Scalability</a:t>
            </a:r>
            <a:r>
              <a:rPr dirty="0" spc="-120"/>
              <a:t> </a:t>
            </a:r>
            <a:r>
              <a:rPr dirty="0"/>
              <a:t>and</a:t>
            </a:r>
            <a:r>
              <a:rPr dirty="0" spc="-114"/>
              <a:t> </a:t>
            </a:r>
            <a:r>
              <a:rPr dirty="0" spc="-10"/>
              <a:t>Elasticity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212802"/>
            <a:ext cx="12035790" cy="536003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 b="1">
                <a:latin typeface="Calibri"/>
                <a:cs typeface="Calibri"/>
              </a:rPr>
              <a:t>Muti-</a:t>
            </a:r>
            <a:r>
              <a:rPr dirty="0" sz="2000" b="1">
                <a:latin typeface="Calibri"/>
                <a:cs typeface="Calibri"/>
              </a:rPr>
              <a:t>tier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such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e-</a:t>
            </a:r>
            <a:r>
              <a:rPr dirty="0" sz="2000" b="1">
                <a:latin typeface="Calibri"/>
                <a:cs typeface="Calibri"/>
              </a:rPr>
              <a:t>Commerce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Social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networking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business-to-</a:t>
            </a:r>
            <a:r>
              <a:rPr dirty="0" sz="2000" b="1">
                <a:latin typeface="Calibri"/>
                <a:cs typeface="Calibri"/>
              </a:rPr>
              <a:t>business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etc.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experience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rapid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changes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their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traffic.</a:t>
            </a:r>
            <a:endParaRPr sz="2000">
              <a:latin typeface="Calibri"/>
              <a:cs typeface="Calibri"/>
            </a:endParaRPr>
          </a:p>
          <a:p>
            <a:pPr marL="355600" marR="8255" indent="-342900">
              <a:lnSpc>
                <a:spcPct val="150000"/>
              </a:lnSpc>
              <a:spcBef>
                <a:spcPts val="24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Each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website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has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different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traffic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pattern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determined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factors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generally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hard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predict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beforehand.</a:t>
            </a:r>
            <a:endParaRPr sz="2000">
              <a:latin typeface="Calibri"/>
              <a:cs typeface="Calibri"/>
            </a:endParaRPr>
          </a:p>
          <a:p>
            <a:pPr marL="355600" marR="7620" indent="-342900">
              <a:lnSpc>
                <a:spcPct val="150000"/>
              </a:lnSpc>
              <a:spcBef>
                <a:spcPts val="24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Capacity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planning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involves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determining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right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sizing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each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tier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deployment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in </a:t>
            </a:r>
            <a:r>
              <a:rPr dirty="0" sz="2000" b="1">
                <a:latin typeface="Calibri"/>
                <a:cs typeface="Calibri"/>
              </a:rPr>
              <a:t>terms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number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capacity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each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Capacity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planning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may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computing,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storage,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memory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55600" marR="5715" indent="-342900">
              <a:lnSpc>
                <a:spcPct val="150000"/>
              </a:lnSpc>
              <a:spcBef>
                <a:spcPts val="24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spc="-10">
                <a:latin typeface="Calibri"/>
                <a:cs typeface="Calibri"/>
              </a:rPr>
              <a:t>Traditional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approaches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capacity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planning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predicted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demands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account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for </a:t>
            </a:r>
            <a:r>
              <a:rPr dirty="0" sz="2000" b="1">
                <a:latin typeface="Calibri"/>
                <a:cs typeface="Calibri"/>
              </a:rPr>
              <a:t>worst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case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peak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load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applications.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97663"/>
            <a:ext cx="6056630" cy="10985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225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algn="ctr" marR="4445">
              <a:lnSpc>
                <a:spcPts val="4225"/>
              </a:lnSpc>
            </a:pPr>
            <a:r>
              <a:rPr dirty="0"/>
              <a:t>Scalability</a:t>
            </a:r>
            <a:r>
              <a:rPr dirty="0" spc="-120"/>
              <a:t> </a:t>
            </a:r>
            <a:r>
              <a:rPr dirty="0"/>
              <a:t>and</a:t>
            </a:r>
            <a:r>
              <a:rPr dirty="0" spc="-114"/>
              <a:t> </a:t>
            </a:r>
            <a:r>
              <a:rPr dirty="0" spc="-10"/>
              <a:t>Elasticity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212802"/>
            <a:ext cx="12035790" cy="536003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When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workloads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increase,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traditional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approaches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have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been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either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scale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up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 </a:t>
            </a:r>
            <a:r>
              <a:rPr dirty="0" sz="2000" spc="-10" b="1">
                <a:latin typeface="Calibri"/>
                <a:cs typeface="Calibri"/>
              </a:rPr>
              <a:t>scale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spc="-20" b="1">
                <a:latin typeface="Calibri"/>
                <a:cs typeface="Calibri"/>
              </a:rPr>
              <a:t>out.</a:t>
            </a:r>
            <a:endParaRPr sz="2000">
              <a:latin typeface="Calibri"/>
              <a:cs typeface="Calibri"/>
            </a:endParaRPr>
          </a:p>
          <a:p>
            <a:pPr marL="355600" marR="6350" indent="-342900">
              <a:lnSpc>
                <a:spcPct val="150000"/>
              </a:lnSpc>
              <a:spcBef>
                <a:spcPts val="2400"/>
              </a:spcBef>
              <a:buFont typeface="Arial MT"/>
              <a:buChar char="•"/>
              <a:tabLst>
                <a:tab pos="355600" algn="l"/>
                <a:tab pos="1225550" algn="l"/>
                <a:tab pos="1635760" algn="l"/>
                <a:tab pos="2630805" algn="l"/>
                <a:tab pos="3829050" algn="l"/>
                <a:tab pos="4318000" algn="l"/>
                <a:tab pos="5467350" algn="l"/>
                <a:tab pos="6619875" algn="l"/>
                <a:tab pos="7535545" algn="l"/>
                <a:tab pos="8844915" algn="l"/>
                <a:tab pos="9899650" algn="l"/>
                <a:tab pos="10799445" algn="l"/>
                <a:tab pos="11158855" algn="l"/>
              </a:tabLst>
            </a:pPr>
            <a:r>
              <a:rPr dirty="0" sz="2000" spc="-10" b="1">
                <a:latin typeface="Calibri"/>
                <a:cs typeface="Calibri"/>
              </a:rPr>
              <a:t>Scaling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up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involves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upgrading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the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hardware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resources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(adding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computing,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memory,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storage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or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network </a:t>
            </a:r>
            <a:r>
              <a:rPr dirty="0" sz="2000">
                <a:latin typeface="Calibri"/>
                <a:cs typeface="Calibri"/>
              </a:rPr>
              <a:t>resources.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Scaling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out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involves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addition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more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same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type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spc="-20">
                <a:latin typeface="Calibri"/>
                <a:cs typeface="Calibri"/>
              </a:rPr>
              <a:t>Traditional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scaling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scaling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out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approaches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demand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forecasts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regular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intervals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time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7014209" algn="l"/>
              </a:tabLst>
            </a:pP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variations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workload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rapid,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traditional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approaches</a:t>
            </a:r>
            <a:r>
              <a:rPr dirty="0" sz="2000">
                <a:latin typeface="Calibri"/>
                <a:cs typeface="Calibri"/>
              </a:rPr>
              <a:t>	are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unable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keep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track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demand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either</a:t>
            </a:r>
            <a:r>
              <a:rPr dirty="0" sz="2000" spc="-10" b="1">
                <a:latin typeface="Calibri"/>
                <a:cs typeface="Calibri"/>
              </a:rPr>
              <a:t> overprovisioning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under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provisioning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55600" marR="6350" indent="-342900">
              <a:lnSpc>
                <a:spcPct val="150000"/>
              </a:lnSpc>
              <a:spcBef>
                <a:spcPts val="24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Over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provisioning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resources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resources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leads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higher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capital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expenditure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8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under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provisioning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of </a:t>
            </a:r>
            <a:r>
              <a:rPr dirty="0" sz="2000" spc="-10" b="1">
                <a:latin typeface="Calibri"/>
                <a:cs typeface="Calibri"/>
              </a:rPr>
              <a:t>resources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leads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traffic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overloads,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slow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response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time,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low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throughput.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97663"/>
            <a:ext cx="6056630" cy="10985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225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algn="ctr">
              <a:lnSpc>
                <a:spcPts val="4225"/>
              </a:lnSpc>
            </a:pPr>
            <a:r>
              <a:rPr dirty="0" spc="-10"/>
              <a:t>Deployment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182751"/>
            <a:ext cx="7827009" cy="5513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Figure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deployment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lifecycle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Deployment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prototyping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help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making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architecture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design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choices.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5600" marR="292100" indent="-342900">
              <a:lnSpc>
                <a:spcPct val="125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comparing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performance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alternative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deployment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architectures</a:t>
            </a:r>
            <a:r>
              <a:rPr dirty="0" sz="2000" spc="-10">
                <a:latin typeface="Calibri"/>
                <a:cs typeface="Calibri"/>
              </a:rPr>
              <a:t>, </a:t>
            </a:r>
            <a:r>
              <a:rPr dirty="0" sz="2000">
                <a:latin typeface="Calibri"/>
                <a:cs typeface="Calibri"/>
              </a:rPr>
              <a:t>deployment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prototyping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help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choosing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best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most </a:t>
            </a:r>
            <a:r>
              <a:rPr dirty="0" sz="2000" spc="-10" b="1">
                <a:latin typeface="Calibri"/>
                <a:cs typeface="Calibri"/>
              </a:rPr>
              <a:t>effective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deployment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architecture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meet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600"/>
              </a:spcBef>
            </a:pP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-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performance</a:t>
            </a:r>
            <a:r>
              <a:rPr dirty="0" sz="2000" spc="-9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requirements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55600" marR="401955" indent="-342900">
              <a:lnSpc>
                <a:spcPct val="125000"/>
              </a:lnSpc>
              <a:spcBef>
                <a:spcPts val="18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Deployment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design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iterative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involves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following steps:</a:t>
            </a:r>
            <a:endParaRPr sz="2000">
              <a:latin typeface="Calibri"/>
              <a:cs typeface="Calibri"/>
            </a:endParaRPr>
          </a:p>
          <a:p>
            <a:pPr lvl="1" marL="1094740" indent="-342900">
              <a:lnSpc>
                <a:spcPct val="100000"/>
              </a:lnSpc>
              <a:spcBef>
                <a:spcPts val="1205"/>
              </a:spcBef>
              <a:buFont typeface="Wingdings"/>
              <a:buChar char=""/>
              <a:tabLst>
                <a:tab pos="1094740" algn="l"/>
              </a:tabLst>
            </a:pPr>
            <a:r>
              <a:rPr dirty="0" sz="2000" b="1">
                <a:solidFill>
                  <a:srgbClr val="00632C"/>
                </a:solidFill>
                <a:latin typeface="Calibri"/>
                <a:cs typeface="Calibri"/>
              </a:rPr>
              <a:t>Deployment</a:t>
            </a:r>
            <a:r>
              <a:rPr dirty="0" sz="2000" spc="-50" b="1">
                <a:solidFill>
                  <a:srgbClr val="00632C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632C"/>
                </a:solidFill>
                <a:latin typeface="Calibri"/>
                <a:cs typeface="Calibri"/>
              </a:rPr>
              <a:t>Design</a:t>
            </a:r>
            <a:endParaRPr sz="2000">
              <a:latin typeface="Calibri"/>
              <a:cs typeface="Calibri"/>
            </a:endParaRPr>
          </a:p>
          <a:p>
            <a:pPr lvl="1" marL="1094740" indent="-342900">
              <a:lnSpc>
                <a:spcPct val="100000"/>
              </a:lnSpc>
              <a:spcBef>
                <a:spcPts val="2400"/>
              </a:spcBef>
              <a:buFont typeface="Wingdings"/>
              <a:buChar char=""/>
              <a:tabLst>
                <a:tab pos="1094740" algn="l"/>
              </a:tabLst>
            </a:pPr>
            <a:r>
              <a:rPr dirty="0" sz="2000" spc="-10" b="1">
                <a:solidFill>
                  <a:srgbClr val="00632C"/>
                </a:solidFill>
                <a:latin typeface="Calibri"/>
                <a:cs typeface="Calibri"/>
              </a:rPr>
              <a:t>Performance</a:t>
            </a:r>
            <a:r>
              <a:rPr dirty="0" sz="2000" spc="-25" b="1">
                <a:solidFill>
                  <a:srgbClr val="00632C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632C"/>
                </a:solidFill>
                <a:latin typeface="Calibri"/>
                <a:cs typeface="Calibri"/>
              </a:rPr>
              <a:t>Evaluation</a:t>
            </a:r>
            <a:endParaRPr sz="2000">
              <a:latin typeface="Calibri"/>
              <a:cs typeface="Calibri"/>
            </a:endParaRPr>
          </a:p>
          <a:p>
            <a:pPr lvl="1" marL="1094740" indent="-342900">
              <a:lnSpc>
                <a:spcPct val="100000"/>
              </a:lnSpc>
              <a:spcBef>
                <a:spcPts val="2400"/>
              </a:spcBef>
              <a:buFont typeface="Wingdings"/>
              <a:buChar char=""/>
              <a:tabLst>
                <a:tab pos="1094740" algn="l"/>
              </a:tabLst>
            </a:pPr>
            <a:r>
              <a:rPr dirty="0" sz="2000" b="1">
                <a:solidFill>
                  <a:srgbClr val="00632C"/>
                </a:solidFill>
                <a:latin typeface="Calibri"/>
                <a:cs typeface="Calibri"/>
              </a:rPr>
              <a:t>Deployment</a:t>
            </a:r>
            <a:r>
              <a:rPr dirty="0" sz="2000" spc="-70" b="1">
                <a:solidFill>
                  <a:srgbClr val="00632C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632C"/>
                </a:solidFill>
                <a:latin typeface="Calibri"/>
                <a:cs typeface="Calibri"/>
              </a:rPr>
              <a:t>Refinement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69935" y="1115567"/>
            <a:ext cx="4322064" cy="4872228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97663"/>
            <a:ext cx="6056630" cy="10985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225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algn="ctr">
              <a:lnSpc>
                <a:spcPts val="4225"/>
              </a:lnSpc>
            </a:pPr>
            <a:r>
              <a:rPr dirty="0" spc="-10"/>
              <a:t>Deployment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440307"/>
            <a:ext cx="12036425" cy="44938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77495" indent="-264795">
              <a:lnSpc>
                <a:spcPct val="100000"/>
              </a:lnSpc>
              <a:spcBef>
                <a:spcPts val="105"/>
              </a:spcBef>
              <a:buAutoNum type="arabicParenR"/>
              <a:tabLst>
                <a:tab pos="277495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Deployment</a:t>
            </a:r>
            <a:r>
              <a:rPr dirty="0" sz="20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Design</a:t>
            </a:r>
            <a:endParaRPr sz="2000">
              <a:latin typeface="Calibri"/>
              <a:cs typeface="Calibri"/>
            </a:endParaRPr>
          </a:p>
          <a:p>
            <a:pPr lvl="1" marL="355600" marR="5080" indent="-342900">
              <a:lnSpc>
                <a:spcPct val="100000"/>
              </a:lnSpc>
              <a:spcBef>
                <a:spcPts val="2170"/>
              </a:spcBef>
              <a:buFont typeface="Arial MT"/>
              <a:buChar char="•"/>
              <a:tabLst>
                <a:tab pos="355600" algn="l"/>
                <a:tab pos="695325" algn="l"/>
                <a:tab pos="1214755" algn="l"/>
                <a:tab pos="1859914" algn="l"/>
                <a:tab pos="2347595" algn="l"/>
                <a:tab pos="3662679" algn="l"/>
                <a:tab pos="5080000" algn="l"/>
                <a:tab pos="5386705" algn="l"/>
                <a:tab pos="6322695" algn="l"/>
                <a:tab pos="6939915" algn="l"/>
                <a:tab pos="7849870" algn="l"/>
                <a:tab pos="8459470" algn="l"/>
                <a:tab pos="8828405" algn="l"/>
                <a:tab pos="9911715" algn="l"/>
                <a:tab pos="10252075" algn="l"/>
                <a:tab pos="10747375" algn="l"/>
              </a:tabLst>
            </a:pPr>
            <a:r>
              <a:rPr dirty="0" sz="2000" spc="-25">
                <a:latin typeface="Calibri"/>
                <a:cs typeface="Calibri"/>
              </a:rPr>
              <a:t>In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this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step,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the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application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deployment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is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created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0" b="1">
                <a:latin typeface="Calibri"/>
                <a:cs typeface="Calibri"/>
              </a:rPr>
              <a:t>with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various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tiers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as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specified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in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the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deployment configuration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7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lvl="1" marL="355600" marR="4854575" indent="-342900">
              <a:lnSpc>
                <a:spcPct val="1501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variables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step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include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number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each tier,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computing,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memory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storage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capacities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servers,</a:t>
            </a:r>
            <a:r>
              <a:rPr dirty="0" sz="2000" spc="5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 </a:t>
            </a:r>
            <a:r>
              <a:rPr dirty="0" sz="2000" spc="-10" b="1">
                <a:latin typeface="Calibri"/>
                <a:cs typeface="Calibri"/>
              </a:rPr>
              <a:t>interconnection,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load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balancing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replication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strategies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lvl="1" marL="355600" marR="5237480" indent="-34290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Deployment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created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provisioning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as </a:t>
            </a:r>
            <a:r>
              <a:rPr dirty="0" sz="2000">
                <a:latin typeface="Calibri"/>
                <a:cs typeface="Calibri"/>
              </a:rPr>
              <a:t>specified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deployment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configuration.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06056" y="2697479"/>
            <a:ext cx="4876419" cy="3973067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-142240"/>
            <a:ext cx="6056630" cy="111633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295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algn="ctr" marR="635">
              <a:lnSpc>
                <a:spcPts val="4295"/>
              </a:lnSpc>
            </a:pPr>
            <a:r>
              <a:rPr dirty="0" spc="-10"/>
              <a:t>Deployment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855954"/>
            <a:ext cx="12036425" cy="5723255"/>
          </a:xfrm>
          <a:prstGeom prst="rect">
            <a:avLst/>
          </a:prstGeom>
        </p:spPr>
        <p:txBody>
          <a:bodyPr wrap="square" lIns="0" tIns="1174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2)</a:t>
            </a:r>
            <a:r>
              <a:rPr dirty="0" sz="20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Performance</a:t>
            </a:r>
            <a:r>
              <a:rPr dirty="0" sz="2000" spc="-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Evaluation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3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Once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deployed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next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step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deployment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lifecycle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verify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whether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meets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performance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requirements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deployment.</a:t>
            </a:r>
            <a:endParaRPr sz="2000">
              <a:latin typeface="Calibri"/>
              <a:cs typeface="Calibri"/>
            </a:endParaRPr>
          </a:p>
          <a:p>
            <a:pPr algn="just" marL="352425" marR="5715" indent="-339725">
              <a:lnSpc>
                <a:spcPct val="150000"/>
              </a:lnSpc>
              <a:spcBef>
                <a:spcPts val="24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step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involves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monitoring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workload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measuring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various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workload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parameters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such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response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time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throughput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addition,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utilization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servers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(CPU,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memory,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disk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I/O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etc.)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is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monitored.</a:t>
            </a:r>
            <a:endParaRPr sz="2000">
              <a:latin typeface="Calibri"/>
              <a:cs typeface="Calibri"/>
            </a:endParaRPr>
          </a:p>
          <a:p>
            <a:pPr marL="68580">
              <a:lnSpc>
                <a:spcPct val="100000"/>
              </a:lnSpc>
              <a:spcBef>
                <a:spcPts val="2405"/>
              </a:spcBef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3)</a:t>
            </a:r>
            <a:r>
              <a:rPr dirty="0" sz="20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Deployment</a:t>
            </a:r>
            <a:r>
              <a:rPr dirty="0" sz="20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Refinement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After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evaluating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performance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application,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deployments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refined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meet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performance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requirements.</a:t>
            </a:r>
            <a:endParaRPr sz="2000">
              <a:latin typeface="Calibri"/>
              <a:cs typeface="Calibri"/>
            </a:endParaRPr>
          </a:p>
          <a:p>
            <a:pPr algn="just" marL="352425" marR="5715" indent="-339725">
              <a:lnSpc>
                <a:spcPct val="15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Various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alternatives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exits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deployment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refinement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such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vertical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scaling,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horizontal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scaling,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alternative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server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interconnections,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alternative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load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balancing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replication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strategies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97663"/>
            <a:ext cx="6056630" cy="10985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225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algn="ctr">
              <a:lnSpc>
                <a:spcPts val="4225"/>
              </a:lnSpc>
            </a:pPr>
            <a:r>
              <a:rPr dirty="0" spc="-10"/>
              <a:t>Deployment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335151"/>
            <a:ext cx="794702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below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table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lists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some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popular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deployment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management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tools.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81203" y="2034539"/>
            <a:ext cx="7939809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-142240"/>
            <a:ext cx="6056630" cy="10795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15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algn="ctr" marR="4445">
              <a:lnSpc>
                <a:spcPts val="4150"/>
              </a:lnSpc>
            </a:pPr>
            <a:r>
              <a:rPr dirty="0" spc="-10"/>
              <a:t>Replication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076325"/>
            <a:ext cx="12037060" cy="5666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>
                <a:latin typeface="Calibri"/>
                <a:cs typeface="Calibri"/>
              </a:rPr>
              <a:t>Replication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create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maintain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copies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cloud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spc="-10">
                <a:latin typeface="Calibri"/>
                <a:cs typeface="Calibri"/>
              </a:rPr>
              <a:t>Replication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important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practical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reasons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such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business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continuity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disaster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recovery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5600" marR="635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event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loss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at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primary location,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organizations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continue to operate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their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from </a:t>
            </a:r>
            <a:r>
              <a:rPr dirty="0" sz="2000" b="1">
                <a:latin typeface="Calibri"/>
                <a:cs typeface="Calibri"/>
              </a:rPr>
              <a:t>secondary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sources.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spc="-20">
                <a:latin typeface="Calibri"/>
                <a:cs typeface="Calibri"/>
              </a:rPr>
              <a:t>Traditional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business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objective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(RTO).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5600" marR="5715" indent="-342900">
              <a:lnSpc>
                <a:spcPct val="100000"/>
              </a:lnSpc>
              <a:buChar char="•"/>
              <a:tabLst>
                <a:tab pos="355600" algn="l"/>
                <a:tab pos="413384" algn="l"/>
              </a:tabLst>
            </a:pPr>
            <a:r>
              <a:rPr dirty="0" sz="2000">
                <a:latin typeface="Arial MT"/>
                <a:cs typeface="Arial MT"/>
              </a:rPr>
              <a:t>	</a:t>
            </a:r>
            <a:r>
              <a:rPr dirty="0" sz="2000">
                <a:latin typeface="Calibri"/>
                <a:cs typeface="Calibri"/>
              </a:rPr>
              <a:t>continuity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disaster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recovery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approaches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don’t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efficient,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cost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effective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automated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recovery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of </a:t>
            </a:r>
            <a:r>
              <a:rPr dirty="0" sz="2000" spc="-10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5600" marR="9525" indent="-342900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replication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approaches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replication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locations,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automated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recovery, </a:t>
            </a:r>
            <a:r>
              <a:rPr dirty="0" sz="2000" b="1">
                <a:latin typeface="Calibri"/>
                <a:cs typeface="Calibri"/>
              </a:rPr>
              <a:t>low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recovery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point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objective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(RPO)and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low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recovery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time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24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replication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organizations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plan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disaster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recovery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without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making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any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capital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2000" spc="-10" b="1">
                <a:latin typeface="Calibri"/>
                <a:cs typeface="Calibri"/>
              </a:rPr>
              <a:t>expenditures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purchasing,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configuring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managing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secondary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site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locations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97663"/>
            <a:ext cx="6056630" cy="10985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225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algn="ctr" marR="4445">
              <a:lnSpc>
                <a:spcPts val="4225"/>
              </a:lnSpc>
            </a:pPr>
            <a:r>
              <a:rPr dirty="0" spc="-10"/>
              <a:t>Replication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There</a:t>
            </a:r>
            <a:r>
              <a:rPr dirty="0" spc="-45"/>
              <a:t> </a:t>
            </a:r>
            <a:r>
              <a:rPr dirty="0"/>
              <a:t>are</a:t>
            </a:r>
            <a:r>
              <a:rPr dirty="0" spc="-35"/>
              <a:t> </a:t>
            </a:r>
            <a:r>
              <a:rPr dirty="0"/>
              <a:t>three</a:t>
            </a:r>
            <a:r>
              <a:rPr dirty="0" spc="-30"/>
              <a:t> </a:t>
            </a:r>
            <a:r>
              <a:rPr dirty="0"/>
              <a:t>types</a:t>
            </a:r>
            <a:r>
              <a:rPr dirty="0" spc="-35"/>
              <a:t>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replication</a:t>
            </a:r>
            <a:r>
              <a:rPr dirty="0" spc="-40"/>
              <a:t> </a:t>
            </a:r>
            <a:r>
              <a:rPr dirty="0"/>
              <a:t>approaches</a:t>
            </a:r>
            <a:r>
              <a:rPr dirty="0" spc="-40"/>
              <a:t> </a:t>
            </a:r>
            <a:r>
              <a:rPr dirty="0"/>
              <a:t>as</a:t>
            </a:r>
            <a:r>
              <a:rPr dirty="0" spc="-30"/>
              <a:t> </a:t>
            </a:r>
            <a:r>
              <a:rPr dirty="0"/>
              <a:t>shown</a:t>
            </a:r>
            <a:r>
              <a:rPr dirty="0" spc="-60"/>
              <a:t> </a:t>
            </a:r>
            <a:r>
              <a:rPr dirty="0"/>
              <a:t>in</a:t>
            </a:r>
            <a:r>
              <a:rPr dirty="0" spc="-40"/>
              <a:t> </a:t>
            </a:r>
            <a:r>
              <a:rPr dirty="0"/>
              <a:t>below</a:t>
            </a:r>
            <a:r>
              <a:rPr dirty="0" spc="-50"/>
              <a:t> </a:t>
            </a:r>
            <a:r>
              <a:rPr dirty="0" spc="-10"/>
              <a:t>figure</a:t>
            </a:r>
          </a:p>
          <a:p>
            <a:pPr>
              <a:lnSpc>
                <a:spcPct val="100000"/>
              </a:lnSpc>
              <a:spcBef>
                <a:spcPts val="1885"/>
              </a:spcBef>
              <a:buFont typeface="Arial MT"/>
              <a:buChar char="•"/>
            </a:pPr>
          </a:p>
          <a:p>
            <a:pPr lvl="1" marL="926465" indent="-342265">
              <a:lnSpc>
                <a:spcPct val="100000"/>
              </a:lnSpc>
              <a:buFont typeface="Wingdings"/>
              <a:buChar char=""/>
              <a:tabLst>
                <a:tab pos="926465" algn="l"/>
              </a:tabLst>
            </a:pPr>
            <a:r>
              <a:rPr dirty="0" sz="2400" spc="-10" b="1">
                <a:solidFill>
                  <a:srgbClr val="00391A"/>
                </a:solidFill>
                <a:latin typeface="Calibri"/>
                <a:cs typeface="Calibri"/>
              </a:rPr>
              <a:t>Array</a:t>
            </a:r>
            <a:r>
              <a:rPr dirty="0" sz="2400" spc="-9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391A"/>
                </a:solidFill>
                <a:latin typeface="Calibri"/>
                <a:cs typeface="Calibri"/>
              </a:rPr>
              <a:t>Based</a:t>
            </a:r>
            <a:r>
              <a:rPr dirty="0" sz="2400" spc="-6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391A"/>
                </a:solidFill>
                <a:latin typeface="Calibri"/>
                <a:cs typeface="Calibri"/>
              </a:rPr>
              <a:t>Replication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590"/>
              </a:spcBef>
              <a:buClr>
                <a:srgbClr val="00391A"/>
              </a:buClr>
              <a:buFont typeface="Wingdings"/>
              <a:buChar char=""/>
            </a:pPr>
            <a:endParaRPr sz="2400"/>
          </a:p>
          <a:p>
            <a:pPr lvl="1" marL="926465" indent="-342265">
              <a:lnSpc>
                <a:spcPct val="100000"/>
              </a:lnSpc>
              <a:buFont typeface="Wingdings"/>
              <a:buChar char=""/>
              <a:tabLst>
                <a:tab pos="926465" algn="l"/>
              </a:tabLst>
            </a:pPr>
            <a:r>
              <a:rPr dirty="0" sz="2400" b="1">
                <a:solidFill>
                  <a:srgbClr val="00391A"/>
                </a:solidFill>
                <a:latin typeface="Calibri"/>
                <a:cs typeface="Calibri"/>
              </a:rPr>
              <a:t>Network</a:t>
            </a:r>
            <a:r>
              <a:rPr dirty="0" sz="2400" spc="-8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391A"/>
                </a:solidFill>
                <a:latin typeface="Calibri"/>
                <a:cs typeface="Calibri"/>
              </a:rPr>
              <a:t>Based</a:t>
            </a:r>
            <a:r>
              <a:rPr dirty="0" sz="2400" spc="-5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391A"/>
                </a:solidFill>
                <a:latin typeface="Calibri"/>
                <a:cs typeface="Calibri"/>
              </a:rPr>
              <a:t>Replication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595"/>
              </a:spcBef>
              <a:buClr>
                <a:srgbClr val="00391A"/>
              </a:buClr>
              <a:buFont typeface="Wingdings"/>
              <a:buChar char=""/>
            </a:pPr>
            <a:endParaRPr sz="2400"/>
          </a:p>
          <a:p>
            <a:pPr lvl="1" marL="926465" indent="-342265">
              <a:lnSpc>
                <a:spcPct val="100000"/>
              </a:lnSpc>
              <a:buFont typeface="Wingdings"/>
              <a:buChar char=""/>
              <a:tabLst>
                <a:tab pos="926465" algn="l"/>
              </a:tabLst>
            </a:pPr>
            <a:r>
              <a:rPr dirty="0" sz="2400" b="1">
                <a:solidFill>
                  <a:srgbClr val="00391A"/>
                </a:solidFill>
                <a:latin typeface="Calibri"/>
                <a:cs typeface="Calibri"/>
              </a:rPr>
              <a:t>Host</a:t>
            </a:r>
            <a:r>
              <a:rPr dirty="0" sz="2400" spc="-6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391A"/>
                </a:solidFill>
                <a:latin typeface="Calibri"/>
                <a:cs typeface="Calibri"/>
              </a:rPr>
              <a:t>Based</a:t>
            </a:r>
            <a:r>
              <a:rPr dirty="0" sz="240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391A"/>
                </a:solidFill>
                <a:latin typeface="Calibri"/>
                <a:cs typeface="Calibri"/>
              </a:rPr>
              <a:t>Replication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28132" y="1676400"/>
            <a:ext cx="6518599" cy="497281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97663"/>
            <a:ext cx="6056630" cy="10985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225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algn="ctr" marR="4445">
              <a:lnSpc>
                <a:spcPts val="4225"/>
              </a:lnSpc>
            </a:pPr>
            <a:r>
              <a:rPr dirty="0" spc="-10"/>
              <a:t>Replication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335151"/>
            <a:ext cx="12036425" cy="49041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75438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Array</a:t>
            </a:r>
            <a:r>
              <a:rPr dirty="0" sz="20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Based</a:t>
            </a:r>
            <a:r>
              <a:rPr dirty="0" sz="20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Replication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</a:pPr>
            <a:endParaRPr sz="2000">
              <a:latin typeface="Calibri"/>
              <a:cs typeface="Calibri"/>
            </a:endParaRPr>
          </a:p>
          <a:p>
            <a:pPr marL="355600" marR="5667375" indent="-342900">
              <a:lnSpc>
                <a:spcPct val="125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spc="-10">
                <a:latin typeface="Calibri"/>
                <a:cs typeface="Calibri"/>
              </a:rPr>
              <a:t>Array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Replication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uses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compatible</a:t>
            </a:r>
            <a:r>
              <a:rPr dirty="0" sz="2000" spc="-9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storage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arrays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to </a:t>
            </a:r>
            <a:r>
              <a:rPr dirty="0" sz="2000" spc="-10" b="1">
                <a:latin typeface="Calibri"/>
                <a:cs typeface="Calibri"/>
              </a:rPr>
              <a:t>automatically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copy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local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storage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array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600"/>
              </a:spcBef>
            </a:pP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remote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storage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array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algn="just" marL="351790" marR="5080" indent="-339090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Arrays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replicate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at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disk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sub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level</a:t>
            </a:r>
            <a:r>
              <a:rPr dirty="0" sz="2000">
                <a:latin typeface="Calibri"/>
                <a:cs typeface="Calibri"/>
              </a:rPr>
              <a:t>(in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terms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blocks),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therefore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type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hosts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accessing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the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2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3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type</a:t>
            </a:r>
            <a:r>
              <a:rPr dirty="0" sz="2000" spc="3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3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3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3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not</a:t>
            </a:r>
            <a:r>
              <a:rPr dirty="0" sz="2000" spc="3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important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49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Thus</a:t>
            </a:r>
            <a:r>
              <a:rPr dirty="0" sz="2000" spc="3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array</a:t>
            </a:r>
            <a:r>
              <a:rPr dirty="0" sz="2000" spc="3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3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replications</a:t>
            </a:r>
            <a:r>
              <a:rPr dirty="0" sz="2000" spc="3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4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work</a:t>
            </a:r>
            <a:r>
              <a:rPr dirty="0" sz="2000" spc="2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30" b="1">
                <a:latin typeface="Calibri"/>
                <a:cs typeface="Calibri"/>
              </a:rPr>
              <a:t>  </a:t>
            </a:r>
            <a:r>
              <a:rPr dirty="0" sz="2000" spc="-10" b="1">
                <a:latin typeface="Calibri"/>
                <a:cs typeface="Calibri"/>
              </a:rPr>
              <a:t>heterogeneous 	environments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different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operating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systems.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>
                <a:latin typeface="Calibri"/>
                <a:cs typeface="Calibri"/>
              </a:rPr>
              <a:t>Array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replication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Attached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Storage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(NAS)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Storage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(SAN)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replicate.</a:t>
            </a:r>
            <a:endParaRPr sz="20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00000"/>
              </a:lnSpc>
              <a:spcBef>
                <a:spcPts val="24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drawback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array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replication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requires</a:t>
            </a:r>
            <a:r>
              <a:rPr dirty="0" sz="2000" spc="3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similar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arrays</a:t>
            </a:r>
            <a:r>
              <a:rPr dirty="0" sz="2000" spc="3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at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local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remote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locations.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(Storage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methods,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methods,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block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size,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block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number,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arrays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etc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must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same).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Thus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costs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for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setting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up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array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replications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higher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than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other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approaches.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6525259"/>
            <a:ext cx="1134364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200" spc="-10">
                <a:solidFill>
                  <a:srgbClr val="1F2023"/>
                </a:solidFill>
                <a:latin typeface="Calibri"/>
                <a:cs typeface="Calibri"/>
              </a:rPr>
              <a:t>(Array-</a:t>
            </a:r>
            <a:r>
              <a:rPr dirty="0" sz="1200">
                <a:solidFill>
                  <a:srgbClr val="1F2023"/>
                </a:solidFill>
                <a:latin typeface="Calibri"/>
                <a:cs typeface="Calibri"/>
              </a:rPr>
              <a:t>based</a:t>
            </a:r>
            <a:r>
              <a:rPr dirty="0" sz="1200" spc="-40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spc="-10">
                <a:solidFill>
                  <a:srgbClr val="1F2023"/>
                </a:solidFill>
                <a:latin typeface="Calibri"/>
                <a:cs typeface="Calibri"/>
              </a:rPr>
              <a:t>replication</a:t>
            </a:r>
            <a:r>
              <a:rPr dirty="0" sz="1200" spc="-35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>
                <a:solidFill>
                  <a:srgbClr val="1F2023"/>
                </a:solidFill>
                <a:latin typeface="Calibri"/>
                <a:cs typeface="Calibri"/>
              </a:rPr>
              <a:t>is</a:t>
            </a:r>
            <a:r>
              <a:rPr dirty="0" sz="1200" spc="-5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023"/>
                </a:solidFill>
                <a:latin typeface="Calibri"/>
                <a:cs typeface="Calibri"/>
              </a:rPr>
              <a:t>an</a:t>
            </a:r>
            <a:r>
              <a:rPr dirty="0" sz="1200" spc="-15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023"/>
                </a:solidFill>
                <a:latin typeface="Calibri"/>
                <a:cs typeface="Calibri"/>
              </a:rPr>
              <a:t>approach</a:t>
            </a:r>
            <a:r>
              <a:rPr dirty="0" sz="1200" spc="-20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023"/>
                </a:solidFill>
                <a:latin typeface="Calibri"/>
                <a:cs typeface="Calibri"/>
              </a:rPr>
              <a:t>to</a:t>
            </a:r>
            <a:r>
              <a:rPr dirty="0" sz="1200" spc="-25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023"/>
                </a:solidFill>
                <a:latin typeface="Calibri"/>
                <a:cs typeface="Calibri"/>
              </a:rPr>
              <a:t>data</a:t>
            </a:r>
            <a:r>
              <a:rPr dirty="0" sz="1200" spc="-20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023"/>
                </a:solidFill>
                <a:latin typeface="Calibri"/>
                <a:cs typeface="Calibri"/>
              </a:rPr>
              <a:t>backup</a:t>
            </a:r>
            <a:r>
              <a:rPr dirty="0" sz="1200" spc="-10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023"/>
                </a:solidFill>
                <a:latin typeface="Calibri"/>
                <a:cs typeface="Calibri"/>
              </a:rPr>
              <a:t>in</a:t>
            </a:r>
            <a:r>
              <a:rPr dirty="0" sz="1200" spc="-15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023"/>
                </a:solidFill>
                <a:latin typeface="Calibri"/>
                <a:cs typeface="Calibri"/>
              </a:rPr>
              <a:t>which</a:t>
            </a:r>
            <a:r>
              <a:rPr dirty="0" sz="1200" spc="-10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023"/>
                </a:solidFill>
                <a:latin typeface="Calibri"/>
                <a:cs typeface="Calibri"/>
              </a:rPr>
              <a:t>compatible</a:t>
            </a:r>
            <a:r>
              <a:rPr dirty="0" sz="1200" spc="-25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2023"/>
                </a:solidFill>
                <a:latin typeface="Calibri"/>
                <a:cs typeface="Calibri"/>
              </a:rPr>
              <a:t>storage</a:t>
            </a:r>
            <a:r>
              <a:rPr dirty="0" sz="1200" spc="-35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2023"/>
                </a:solidFill>
                <a:latin typeface="Calibri"/>
                <a:cs typeface="Calibri"/>
              </a:rPr>
              <a:t>arrays</a:t>
            </a:r>
            <a:r>
              <a:rPr dirty="0" sz="1200" spc="-30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023"/>
                </a:solidFill>
                <a:latin typeface="Calibri"/>
                <a:cs typeface="Calibri"/>
              </a:rPr>
              <a:t>use</a:t>
            </a:r>
            <a:r>
              <a:rPr dirty="0" sz="1200" spc="-20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2023"/>
                </a:solidFill>
                <a:latin typeface="Calibri"/>
                <a:cs typeface="Calibri"/>
              </a:rPr>
              <a:t>built-</a:t>
            </a:r>
            <a:r>
              <a:rPr dirty="0" sz="1200" b="1">
                <a:solidFill>
                  <a:srgbClr val="1F2023"/>
                </a:solidFill>
                <a:latin typeface="Calibri"/>
                <a:cs typeface="Calibri"/>
              </a:rPr>
              <a:t>in</a:t>
            </a:r>
            <a:r>
              <a:rPr dirty="0" sz="1200" spc="-25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023"/>
                </a:solidFill>
                <a:latin typeface="Calibri"/>
                <a:cs typeface="Calibri"/>
              </a:rPr>
              <a:t>software</a:t>
            </a:r>
            <a:r>
              <a:rPr dirty="0" sz="1200" spc="-40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023"/>
                </a:solidFill>
                <a:latin typeface="Calibri"/>
                <a:cs typeface="Calibri"/>
              </a:rPr>
              <a:t>to</a:t>
            </a:r>
            <a:r>
              <a:rPr dirty="0" sz="1200" spc="-25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2023"/>
                </a:solidFill>
                <a:latin typeface="Calibri"/>
                <a:cs typeface="Calibri"/>
              </a:rPr>
              <a:t>automatically</a:t>
            </a:r>
            <a:r>
              <a:rPr dirty="0" sz="1200" spc="-20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023"/>
                </a:solidFill>
                <a:latin typeface="Calibri"/>
                <a:cs typeface="Calibri"/>
              </a:rPr>
              <a:t>copy</a:t>
            </a:r>
            <a:r>
              <a:rPr dirty="0" sz="1200" spc="-20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023"/>
                </a:solidFill>
                <a:latin typeface="Calibri"/>
                <a:cs typeface="Calibri"/>
              </a:rPr>
              <a:t>data</a:t>
            </a:r>
            <a:r>
              <a:rPr dirty="0" sz="1200" spc="-30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023"/>
                </a:solidFill>
                <a:latin typeface="Calibri"/>
                <a:cs typeface="Calibri"/>
              </a:rPr>
              <a:t>from</a:t>
            </a:r>
            <a:r>
              <a:rPr dirty="0" sz="1200" spc="-30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023"/>
                </a:solidFill>
                <a:latin typeface="Calibri"/>
                <a:cs typeface="Calibri"/>
              </a:rPr>
              <a:t>one</a:t>
            </a:r>
            <a:r>
              <a:rPr dirty="0" sz="1200" spc="-10" b="1">
                <a:solidFill>
                  <a:srgbClr val="1F2023"/>
                </a:solidFill>
                <a:latin typeface="Calibri"/>
                <a:cs typeface="Calibri"/>
              </a:rPr>
              <a:t> storage</a:t>
            </a:r>
            <a:r>
              <a:rPr dirty="0" sz="1200" spc="-40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023"/>
                </a:solidFill>
                <a:latin typeface="Calibri"/>
                <a:cs typeface="Calibri"/>
              </a:rPr>
              <a:t>array</a:t>
            </a:r>
            <a:r>
              <a:rPr dirty="0" sz="1200" spc="-25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F2023"/>
                </a:solidFill>
                <a:latin typeface="Calibri"/>
                <a:cs typeface="Calibri"/>
              </a:rPr>
              <a:t>to</a:t>
            </a:r>
            <a:r>
              <a:rPr dirty="0" sz="1200" spc="-15" b="1">
                <a:solidFill>
                  <a:srgbClr val="1F2023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F2023"/>
                </a:solidFill>
                <a:latin typeface="Calibri"/>
                <a:cs typeface="Calibri"/>
              </a:rPr>
              <a:t>another</a:t>
            </a:r>
            <a:r>
              <a:rPr dirty="0" sz="1200" spc="-10">
                <a:solidFill>
                  <a:srgbClr val="1F2023"/>
                </a:solidFill>
                <a:latin typeface="Calibri"/>
                <a:cs typeface="Calibri"/>
              </a:rPr>
              <a:t>.)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72528" y="617219"/>
            <a:ext cx="4820412" cy="2075688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97663"/>
            <a:ext cx="6056630" cy="10985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225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algn="ctr" marR="4445">
              <a:lnSpc>
                <a:spcPts val="4225"/>
              </a:lnSpc>
            </a:pPr>
            <a:r>
              <a:rPr dirty="0" spc="-10"/>
              <a:t>Replication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183846"/>
            <a:ext cx="12035790" cy="475043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584200">
              <a:lnSpc>
                <a:spcPct val="100000"/>
              </a:lnSpc>
              <a:spcBef>
                <a:spcPts val="1295"/>
              </a:spcBef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Network</a:t>
            </a:r>
            <a:r>
              <a:rPr dirty="0" sz="20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Based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Replication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replication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appliance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device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that</a:t>
            </a:r>
            <a:endParaRPr sz="2000">
              <a:latin typeface="Calibri"/>
              <a:cs typeface="Calibri"/>
            </a:endParaRPr>
          </a:p>
          <a:p>
            <a:pPr marL="355600" marR="4971415">
              <a:lnSpc>
                <a:spcPct val="150000"/>
              </a:lnSpc>
            </a:pPr>
            <a:r>
              <a:rPr dirty="0" sz="2000" b="1">
                <a:latin typeface="Calibri"/>
                <a:cs typeface="Calibri"/>
              </a:rPr>
              <a:t>sits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intercepts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packets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sent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from </a:t>
            </a:r>
            <a:r>
              <a:rPr dirty="0" sz="2000" b="1">
                <a:latin typeface="Calibri"/>
                <a:cs typeface="Calibri"/>
              </a:rPr>
              <a:t>hosts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storage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arrays</a:t>
            </a:r>
            <a:r>
              <a:rPr dirty="0" sz="2000" spc="-10">
                <a:latin typeface="Calibri"/>
                <a:cs typeface="Calibri"/>
              </a:rPr>
              <a:t>.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intercepted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packets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replicated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secondary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locations.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60"/>
              </a:spcBef>
            </a:pPr>
            <a:endParaRPr sz="20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0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offloading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replication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storage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systems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network-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replication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work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across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large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number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platforms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storage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systems,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making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ideal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highly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heterogeneous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environments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and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requires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single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point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management.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approach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involves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higher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initial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costs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due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replication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software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5219" y="1106424"/>
            <a:ext cx="4716780" cy="277368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97663"/>
            <a:ext cx="6056630" cy="109855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225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algn="ctr" marR="4445">
              <a:lnSpc>
                <a:spcPts val="4225"/>
              </a:lnSpc>
            </a:pPr>
            <a:r>
              <a:rPr dirty="0" spc="-10"/>
              <a:t>Replication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335151"/>
            <a:ext cx="12035155" cy="47517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6985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Host</a:t>
            </a:r>
            <a:r>
              <a:rPr dirty="0" sz="20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Based</a:t>
            </a:r>
            <a:r>
              <a:rPr dirty="0" sz="20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Replication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2000">
              <a:latin typeface="Calibri"/>
              <a:cs typeface="Calibri"/>
            </a:endParaRPr>
          </a:p>
          <a:p>
            <a:pPr marL="355600" marR="5660390" indent="-34290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replication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standard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servers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uses </a:t>
            </a: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transfer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local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remote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location.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agent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installed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communicates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agents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other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hosts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4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4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replication</a:t>
            </a:r>
            <a:r>
              <a:rPr dirty="0" sz="2000" spc="4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45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either</a:t>
            </a:r>
            <a:r>
              <a:rPr dirty="0" sz="2000" spc="4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4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block</a:t>
            </a:r>
            <a:r>
              <a:rPr dirty="0" sz="2000" spc="4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45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4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file</a:t>
            </a:r>
            <a:r>
              <a:rPr dirty="0" sz="2000" spc="4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Block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4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replication</a:t>
            </a:r>
            <a:r>
              <a:rPr dirty="0" sz="2000" spc="4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typically</a:t>
            </a:r>
            <a:r>
              <a:rPr dirty="0" sz="2000" spc="4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require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dedicated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volumes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same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size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both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local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remote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servers.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60"/>
              </a:spcBef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replication,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entire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replicated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real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time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67937" y="1208532"/>
            <a:ext cx="4519865" cy="2329956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-159639"/>
            <a:ext cx="6056630" cy="11156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29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algn="ctr" marR="3810">
              <a:lnSpc>
                <a:spcPts val="4290"/>
              </a:lnSpc>
            </a:pPr>
            <a:r>
              <a:rPr dirty="0" spc="-10"/>
              <a:t>Monitoring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942777"/>
            <a:ext cx="12036425" cy="3380104"/>
          </a:xfrm>
          <a:prstGeom prst="rect">
            <a:avLst/>
          </a:prstGeom>
        </p:spPr>
        <p:txBody>
          <a:bodyPr wrap="square" lIns="0" tIns="1657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providers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monitoring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allows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users</a:t>
            </a:r>
            <a:endParaRPr sz="2000">
              <a:latin typeface="Calibri"/>
              <a:cs typeface="Calibri"/>
            </a:endParaRPr>
          </a:p>
          <a:p>
            <a:pPr marL="41148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monitor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their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usage.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monitoring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service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collects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various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metrics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computing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instances.</a:t>
            </a:r>
            <a:endParaRPr sz="2000">
              <a:latin typeface="Calibri"/>
              <a:cs typeface="Calibri"/>
            </a:endParaRPr>
          </a:p>
          <a:p>
            <a:pPr marL="355600" marR="8890" indent="-34290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Users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define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various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actions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monitoring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eg: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Auto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scaling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when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CPU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usage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5" b="1">
                <a:latin typeface="Calibri"/>
                <a:cs typeface="Calibri"/>
              </a:rPr>
              <a:t> the </a:t>
            </a:r>
            <a:r>
              <a:rPr dirty="0" sz="2000" b="1">
                <a:latin typeface="Calibri"/>
                <a:cs typeface="Calibri"/>
              </a:rPr>
              <a:t>monitored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becomes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high.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Monitoring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services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also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various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statistics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monitoring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collected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shown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below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2000" spc="-10">
                <a:latin typeface="Calibri"/>
                <a:cs typeface="Calibri"/>
              </a:rPr>
              <a:t>table.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5363362"/>
            <a:ext cx="12035155" cy="1245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2425" marR="5080" indent="-33972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Monitoring</a:t>
            </a:r>
            <a:r>
              <a:rPr dirty="0" sz="2000" spc="4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48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48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resources</a:t>
            </a:r>
            <a:r>
              <a:rPr dirty="0" sz="2000" spc="4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4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important</a:t>
            </a:r>
            <a:r>
              <a:rPr dirty="0" sz="2000" spc="48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because</a:t>
            </a:r>
            <a:r>
              <a:rPr dirty="0" sz="2000" spc="4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48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allows</a:t>
            </a:r>
            <a:r>
              <a:rPr dirty="0" sz="2000" spc="4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4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</a:t>
            </a:r>
            <a:r>
              <a:rPr dirty="0" sz="2000" spc="4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48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keep</a:t>
            </a:r>
            <a:r>
              <a:rPr dirty="0" sz="2000" spc="4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track</a:t>
            </a:r>
            <a:r>
              <a:rPr dirty="0" sz="2000" spc="4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48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48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health</a:t>
            </a:r>
            <a:r>
              <a:rPr dirty="0" sz="2000" spc="47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of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services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deployed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cloud.</a:t>
            </a:r>
            <a:r>
              <a:rPr dirty="0" sz="2000" spc="204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eg: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organization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website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hosted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monitor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performance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website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website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traffic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3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make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operational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decisions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scaling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up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scaling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down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resources.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4800" y="752855"/>
            <a:ext cx="4267200" cy="2203704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33444" y="4122420"/>
            <a:ext cx="3991355" cy="1226819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-159639"/>
            <a:ext cx="60566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266941"/>
            <a:ext cx="8223250" cy="6443980"/>
          </a:xfrm>
          <a:prstGeom prst="rect">
            <a:avLst/>
          </a:prstGeom>
        </p:spPr>
        <p:txBody>
          <a:bodyPr wrap="square" lIns="0" tIns="128270" rIns="0" bIns="0" rtlCol="0" vert="horz">
            <a:spAutoFit/>
          </a:bodyPr>
          <a:lstStyle/>
          <a:p>
            <a:pPr marL="3824604">
              <a:lnSpc>
                <a:spcPct val="100000"/>
              </a:lnSpc>
              <a:spcBef>
                <a:spcPts val="1010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Software</a:t>
            </a:r>
            <a:r>
              <a:rPr dirty="0" sz="2800" spc="-1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Defined</a:t>
            </a:r>
            <a:r>
              <a:rPr dirty="0" sz="2800" spc="-1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Networking</a:t>
            </a:r>
            <a:endParaRPr sz="2800">
              <a:latin typeface="Calibri"/>
              <a:cs typeface="Calibri"/>
            </a:endParaRPr>
          </a:p>
          <a:p>
            <a:pPr algn="just" marL="1326515">
              <a:lnSpc>
                <a:spcPct val="100000"/>
              </a:lnSpc>
              <a:spcBef>
                <a:spcPts val="660"/>
              </a:spcBef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Software</a:t>
            </a:r>
            <a:r>
              <a:rPr dirty="0" sz="2000" spc="-8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Defined</a:t>
            </a:r>
            <a:r>
              <a:rPr dirty="0" sz="2000" spc="-9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Networking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SDN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decouples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control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forwarding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functions.</a:t>
            </a:r>
            <a:endParaRPr sz="2000">
              <a:latin typeface="Calibri"/>
              <a:cs typeface="Calibri"/>
            </a:endParaRPr>
          </a:p>
          <a:p>
            <a:pPr algn="just" marL="352425" marR="1376680" indent="-33972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SDN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stands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Software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Defined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Network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networking 	architecture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approach.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enables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control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management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network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software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applications.</a:t>
            </a:r>
            <a:endParaRPr sz="2000">
              <a:latin typeface="Calibri"/>
              <a:cs typeface="Calibri"/>
            </a:endParaRPr>
          </a:p>
          <a:p>
            <a:pPr marL="355600" marR="49784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Through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Software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Defined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Network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(SDN)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networking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behavior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of </a:t>
            </a:r>
            <a:r>
              <a:rPr dirty="0" sz="2000" b="1">
                <a:latin typeface="Calibri"/>
                <a:cs typeface="Calibri"/>
              </a:rPr>
              <a:t>entire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devices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programmed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centrally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controlled </a:t>
            </a:r>
            <a:r>
              <a:rPr dirty="0" sz="2000" b="1">
                <a:latin typeface="Calibri"/>
                <a:cs typeface="Calibri"/>
              </a:rPr>
              <a:t>manner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through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open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APIs.</a:t>
            </a:r>
            <a:endParaRPr sz="2000">
              <a:latin typeface="Calibri"/>
              <a:cs typeface="Calibri"/>
            </a:endParaRPr>
          </a:p>
          <a:p>
            <a:pPr algn="just" marL="1326515">
              <a:lnSpc>
                <a:spcPct val="100000"/>
              </a:lnSpc>
              <a:spcBef>
                <a:spcPts val="1205"/>
              </a:spcBef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Traditional</a:t>
            </a:r>
            <a:r>
              <a:rPr dirty="0" sz="20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Network</a:t>
            </a:r>
            <a:endParaRPr sz="2000">
              <a:latin typeface="Calibri"/>
              <a:cs typeface="Calibri"/>
            </a:endParaRPr>
          </a:p>
          <a:p>
            <a:pPr algn="just" marL="407670" marR="506730" indent="-39560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11480" algn="l"/>
              </a:tabLst>
            </a:pPr>
            <a:r>
              <a:rPr dirty="0" sz="2000" spc="-10" b="1">
                <a:latin typeface="Calibri"/>
                <a:cs typeface="Calibri"/>
              </a:rPr>
              <a:t>Traditional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refers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old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conventional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way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networking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which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fixed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dedicated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devices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such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routers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and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switches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control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traffic.</a:t>
            </a:r>
            <a:endParaRPr sz="2000">
              <a:latin typeface="Calibri"/>
              <a:cs typeface="Calibri"/>
            </a:endParaRPr>
          </a:p>
          <a:p>
            <a:pPr marL="355600" marR="48387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Inability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scale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security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performance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major </a:t>
            </a:r>
            <a:r>
              <a:rPr dirty="0" sz="2000" b="1">
                <a:latin typeface="Calibri"/>
                <a:cs typeface="Calibri"/>
              </a:rPr>
              <a:t>concern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now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days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current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growing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business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situation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that </a:t>
            </a:r>
            <a:r>
              <a:rPr dirty="0" sz="2000">
                <a:latin typeface="Calibri"/>
                <a:cs typeface="Calibri"/>
              </a:rPr>
              <a:t>SDN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taking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control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traditional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network.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 b="1">
                <a:latin typeface="Calibri"/>
                <a:cs typeface="Calibri"/>
              </a:rPr>
              <a:t>Traditional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static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hardware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network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appliances.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31910" y="974425"/>
            <a:ext cx="3191108" cy="194244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08035" y="4085842"/>
            <a:ext cx="4283964" cy="2650234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-159639"/>
            <a:ext cx="6056630" cy="11156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29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marL="200660">
              <a:lnSpc>
                <a:spcPts val="4290"/>
              </a:lnSpc>
            </a:pPr>
            <a:r>
              <a:rPr dirty="0" spc="-10"/>
              <a:t>Software</a:t>
            </a:r>
            <a:r>
              <a:rPr dirty="0" spc="-150"/>
              <a:t> </a:t>
            </a:r>
            <a:r>
              <a:rPr dirty="0"/>
              <a:t>Defined</a:t>
            </a:r>
            <a:r>
              <a:rPr dirty="0" spc="-114"/>
              <a:t> </a:t>
            </a:r>
            <a:r>
              <a:rPr dirty="0" spc="-10"/>
              <a:t>Networking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094943"/>
            <a:ext cx="12035155" cy="1398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SDN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decouples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control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forwarding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functions.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separates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control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plane</a:t>
            </a:r>
            <a:r>
              <a:rPr dirty="0" sz="2000" spc="204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(making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traffic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decision)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plane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(packet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forwarding).</a:t>
            </a:r>
            <a:endParaRPr sz="2000">
              <a:latin typeface="Calibri"/>
              <a:cs typeface="Calibri"/>
            </a:endParaRPr>
          </a:p>
          <a:p>
            <a:pPr marL="355600" marR="635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below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figure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conventional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network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architecture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built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specialized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hardware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(Switches,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routers etc).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5820867"/>
            <a:ext cx="12036425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2425" marR="5080" indent="-33972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conventional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architecture,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control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plane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plane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coupled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Control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plane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the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part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carries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signaling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routing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message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traffic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while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plane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part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the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carries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payload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traffic.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33116" y="2279904"/>
            <a:ext cx="5324856" cy="3140964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-159639"/>
            <a:ext cx="60566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273004"/>
            <a:ext cx="12004675" cy="657860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marL="1713230">
              <a:lnSpc>
                <a:spcPct val="100000"/>
              </a:lnSpc>
              <a:spcBef>
                <a:spcPts val="1000"/>
              </a:spcBef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Software</a:t>
            </a:r>
            <a:r>
              <a:rPr dirty="0" sz="2800" spc="-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Defined</a:t>
            </a:r>
            <a:r>
              <a:rPr dirty="0" sz="2800" spc="-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Networking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5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 b="1">
                <a:latin typeface="Calibri"/>
                <a:cs typeface="Calibri"/>
              </a:rPr>
              <a:t>Conventional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architecture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following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limitations</a:t>
            </a:r>
            <a:endParaRPr sz="2000">
              <a:latin typeface="Calibri"/>
              <a:cs typeface="Calibri"/>
            </a:endParaRPr>
          </a:p>
          <a:p>
            <a:pPr lvl="1" marL="810895" indent="-399415">
              <a:lnSpc>
                <a:spcPct val="100000"/>
              </a:lnSpc>
              <a:spcBef>
                <a:spcPts val="1175"/>
              </a:spcBef>
              <a:buFont typeface="Wingdings"/>
              <a:buChar char=""/>
              <a:tabLst>
                <a:tab pos="810895" algn="l"/>
              </a:tabLst>
            </a:pPr>
            <a:r>
              <a:rPr dirty="0" sz="2400" b="1">
                <a:solidFill>
                  <a:srgbClr val="00391A"/>
                </a:solidFill>
                <a:latin typeface="Calibri"/>
                <a:cs typeface="Calibri"/>
              </a:rPr>
              <a:t>Complex</a:t>
            </a:r>
            <a:r>
              <a:rPr dirty="0" sz="2400" spc="-9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00391A"/>
                </a:solidFill>
                <a:latin typeface="Calibri"/>
                <a:cs typeface="Calibri"/>
              </a:rPr>
              <a:t>Network</a:t>
            </a:r>
            <a:r>
              <a:rPr dirty="0" sz="2400" spc="-9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391A"/>
                </a:solidFill>
                <a:latin typeface="Calibri"/>
                <a:cs typeface="Calibri"/>
              </a:rPr>
              <a:t>Devices</a:t>
            </a:r>
            <a:endParaRPr sz="2400">
              <a:latin typeface="Calibri"/>
              <a:cs typeface="Calibri"/>
            </a:endParaRPr>
          </a:p>
          <a:p>
            <a:pPr marL="812800">
              <a:lnSpc>
                <a:spcPct val="100000"/>
              </a:lnSpc>
              <a:spcBef>
                <a:spcPts val="855"/>
              </a:spcBef>
            </a:pPr>
            <a:r>
              <a:rPr dirty="0" sz="2000" spc="-10" b="1">
                <a:latin typeface="Calibri"/>
                <a:cs typeface="Calibri"/>
              </a:rPr>
              <a:t>Conventional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getting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increasingly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complex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more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more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protocols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being</a:t>
            </a:r>
            <a:endParaRPr sz="2000">
              <a:latin typeface="Calibri"/>
              <a:cs typeface="Calibri"/>
            </a:endParaRPr>
          </a:p>
          <a:p>
            <a:pPr marL="86868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implemented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improve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link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reliability.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conventional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networks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well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suited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static</a:t>
            </a:r>
            <a:endParaRPr sz="2000">
              <a:latin typeface="Calibri"/>
              <a:cs typeface="Calibri"/>
            </a:endParaRPr>
          </a:p>
          <a:p>
            <a:pPr marL="868680" marR="109220">
              <a:lnSpc>
                <a:spcPct val="150000"/>
              </a:lnSpc>
              <a:spcBef>
                <a:spcPts val="5"/>
              </a:spcBef>
            </a:pPr>
            <a:r>
              <a:rPr dirty="0" sz="2000" b="1">
                <a:latin typeface="Calibri"/>
                <a:cs typeface="Calibri"/>
              </a:rPr>
              <a:t>traffic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patterns</a:t>
            </a:r>
            <a:r>
              <a:rPr dirty="0" sz="2000" spc="-10">
                <a:latin typeface="Calibri"/>
                <a:cs typeface="Calibri"/>
              </a:rPr>
              <a:t>.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Due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complexity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conventional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devices,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making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changes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networks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meet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dynamic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traffic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patterns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increasingly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difficult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lvl="1" marL="810895" indent="-399415">
              <a:lnSpc>
                <a:spcPct val="100000"/>
              </a:lnSpc>
              <a:spcBef>
                <a:spcPts val="1545"/>
              </a:spcBef>
              <a:buFont typeface="Wingdings"/>
              <a:buChar char=""/>
              <a:tabLst>
                <a:tab pos="810895" algn="l"/>
              </a:tabLst>
            </a:pPr>
            <a:r>
              <a:rPr dirty="0" sz="2400" spc="-10" b="1">
                <a:solidFill>
                  <a:srgbClr val="00391A"/>
                </a:solidFill>
                <a:latin typeface="Calibri"/>
                <a:cs typeface="Calibri"/>
              </a:rPr>
              <a:t>Management</a:t>
            </a:r>
            <a:r>
              <a:rPr dirty="0" sz="2400" spc="-9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391A"/>
                </a:solidFill>
                <a:latin typeface="Calibri"/>
                <a:cs typeface="Calibri"/>
              </a:rPr>
              <a:t>Overhead</a:t>
            </a:r>
            <a:endParaRPr sz="2400">
              <a:latin typeface="Calibri"/>
              <a:cs typeface="Calibri"/>
            </a:endParaRPr>
          </a:p>
          <a:p>
            <a:pPr marL="754380">
              <a:lnSpc>
                <a:spcPct val="100000"/>
              </a:lnSpc>
              <a:spcBef>
                <a:spcPts val="855"/>
              </a:spcBef>
            </a:pP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mangers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find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increasingly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difficult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devices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Upgradation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of</a:t>
            </a:r>
            <a:endParaRPr sz="2000">
              <a:latin typeface="Calibri"/>
              <a:cs typeface="Calibri"/>
            </a:endParaRPr>
          </a:p>
          <a:p>
            <a:pPr marL="75438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requires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configurations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changes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devices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</a:t>
            </a:r>
            <a:r>
              <a:rPr dirty="0" sz="2000" b="1">
                <a:latin typeface="Calibri"/>
                <a:cs typeface="Calibri"/>
              </a:rPr>
              <a:t>switches,</a:t>
            </a:r>
            <a:r>
              <a:rPr dirty="0" sz="2000" spc="-8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routers,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firewalls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etc.)</a:t>
            </a:r>
            <a:endParaRPr sz="2000">
              <a:latin typeface="Calibri"/>
              <a:cs typeface="Calibri"/>
            </a:endParaRPr>
          </a:p>
          <a:p>
            <a:pPr lvl="1" marL="791210" indent="-379730">
              <a:lnSpc>
                <a:spcPct val="100000"/>
              </a:lnSpc>
              <a:spcBef>
                <a:spcPts val="1545"/>
              </a:spcBef>
              <a:buFont typeface="Wingdings"/>
              <a:buChar char=""/>
              <a:tabLst>
                <a:tab pos="791210" algn="l"/>
              </a:tabLst>
            </a:pPr>
            <a:r>
              <a:rPr dirty="0" sz="2400" b="1">
                <a:solidFill>
                  <a:srgbClr val="00391A"/>
                </a:solidFill>
                <a:latin typeface="Calibri"/>
                <a:cs typeface="Calibri"/>
              </a:rPr>
              <a:t>Limited</a:t>
            </a:r>
            <a:r>
              <a:rPr dirty="0" sz="2400" spc="-9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00391A"/>
                </a:solidFill>
                <a:latin typeface="Calibri"/>
                <a:cs typeface="Calibri"/>
              </a:rPr>
              <a:t>scalability</a:t>
            </a:r>
            <a:endParaRPr sz="2400">
              <a:latin typeface="Calibri"/>
              <a:cs typeface="Calibri"/>
            </a:endParaRPr>
          </a:p>
          <a:p>
            <a:pPr marL="754380">
              <a:lnSpc>
                <a:spcPct val="100000"/>
              </a:lnSpc>
              <a:spcBef>
                <a:spcPts val="855"/>
              </a:spcBef>
            </a:pPr>
            <a:r>
              <a:rPr dirty="0" sz="2000" b="1">
                <a:latin typeface="Calibri"/>
                <a:cs typeface="Calibri"/>
              </a:rPr>
              <a:t>Big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distributed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algorithms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large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number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machines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computing</a:t>
            </a:r>
            <a:endParaRPr sz="2000">
              <a:latin typeface="Calibri"/>
              <a:cs typeface="Calibri"/>
            </a:endParaRPr>
          </a:p>
          <a:p>
            <a:pPr marL="754380" marR="5080">
              <a:lnSpc>
                <a:spcPct val="150000"/>
              </a:lnSpc>
              <a:spcBef>
                <a:spcPts val="5"/>
              </a:spcBef>
            </a:pPr>
            <a:r>
              <a:rPr dirty="0" sz="2000" spc="-10">
                <a:latin typeface="Calibri"/>
                <a:cs typeface="Calibri"/>
              </a:rPr>
              <a:t>environments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require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highly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scalable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minimum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manual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configurations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difficult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with </a:t>
            </a:r>
            <a:r>
              <a:rPr dirty="0" sz="2000" spc="-10">
                <a:latin typeface="Calibri"/>
                <a:cs typeface="Calibri"/>
              </a:rPr>
              <a:t>conventional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networks.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(running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module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applications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10">
                <a:latin typeface="Calibri"/>
                <a:cs typeface="Calibri"/>
              </a:rPr>
              <a:t> different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places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copies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10">
                <a:latin typeface="Calibri"/>
                <a:cs typeface="Calibri"/>
              </a:rPr>
              <a:t> different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locations,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scaling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network)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59040" y="377952"/>
            <a:ext cx="4479036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-159639"/>
            <a:ext cx="6056630" cy="11156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29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marL="200660">
              <a:lnSpc>
                <a:spcPts val="4290"/>
              </a:lnSpc>
            </a:pPr>
            <a:r>
              <a:rPr dirty="0" spc="-10"/>
              <a:t>Software</a:t>
            </a:r>
            <a:r>
              <a:rPr dirty="0" spc="-150"/>
              <a:t> </a:t>
            </a:r>
            <a:r>
              <a:rPr dirty="0"/>
              <a:t>Defined</a:t>
            </a:r>
            <a:r>
              <a:rPr dirty="0" spc="-114"/>
              <a:t> </a:t>
            </a:r>
            <a:r>
              <a:rPr dirty="0" spc="-10"/>
              <a:t>Networking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942777"/>
            <a:ext cx="12036425" cy="2922905"/>
          </a:xfrm>
          <a:prstGeom prst="rect">
            <a:avLst/>
          </a:prstGeom>
        </p:spPr>
        <p:txBody>
          <a:bodyPr wrap="square" lIns="0" tIns="1657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SDN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attempts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create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architecture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simpler,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inexpensive,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scalable,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agile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easy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manage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SDN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architecture,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control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plane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planes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decoupled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controller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centralized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09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underlying</a:t>
            </a:r>
            <a:r>
              <a:rPr dirty="0" sz="2000" spc="4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infrastructure</a:t>
            </a:r>
            <a:r>
              <a:rPr dirty="0" sz="2000" spc="4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40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SDN</a:t>
            </a:r>
            <a:r>
              <a:rPr dirty="0" sz="2000" spc="4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uses</a:t>
            </a:r>
            <a:r>
              <a:rPr dirty="0" sz="2000" spc="4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simple</a:t>
            </a:r>
            <a:r>
              <a:rPr dirty="0" sz="2000" spc="4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packet</a:t>
            </a:r>
            <a:r>
              <a:rPr dirty="0" sz="2000" spc="4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forwarding</a:t>
            </a:r>
            <a:r>
              <a:rPr dirty="0" sz="2000" spc="40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40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4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opposed</a:t>
            </a:r>
            <a:r>
              <a:rPr dirty="0" sz="2000" spc="4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39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specialized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conventional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networks.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355600" algn="l"/>
                <a:tab pos="1400810" algn="l"/>
                <a:tab pos="2312035" algn="l"/>
                <a:tab pos="3282950" algn="l"/>
                <a:tab pos="4107815" algn="l"/>
                <a:tab pos="4711700" algn="l"/>
                <a:tab pos="5285740" algn="l"/>
                <a:tab pos="5641340" algn="l"/>
                <a:tab pos="6238875" algn="l"/>
                <a:tab pos="6640830" algn="l"/>
                <a:tab pos="7130415" algn="l"/>
                <a:tab pos="9848215" algn="l"/>
                <a:tab pos="10840085" algn="l"/>
                <a:tab pos="11805285" algn="l"/>
              </a:tabLst>
            </a:pPr>
            <a:r>
              <a:rPr dirty="0" sz="2000" spc="-10" b="1">
                <a:latin typeface="Calibri"/>
                <a:cs typeface="Calibri"/>
              </a:rPr>
              <a:t>Network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devices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become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simple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0" b="1">
                <a:latin typeface="Calibri"/>
                <a:cs typeface="Calibri"/>
              </a:rPr>
              <a:t>with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SDN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as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0" b="1">
                <a:latin typeface="Calibri"/>
                <a:cs typeface="Calibri"/>
              </a:rPr>
              <a:t>they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do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not</a:t>
            </a:r>
            <a:r>
              <a:rPr dirty="0" sz="2000" b="1">
                <a:latin typeface="Calibri"/>
                <a:cs typeface="Calibri"/>
              </a:rPr>
              <a:t>	require</a:t>
            </a:r>
            <a:r>
              <a:rPr dirty="0" sz="2000" spc="4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implementation</a:t>
            </a:r>
            <a:r>
              <a:rPr dirty="0" sz="2000" b="1">
                <a:latin typeface="Calibri"/>
                <a:cs typeface="Calibri"/>
              </a:rPr>
              <a:t>	of</a:t>
            </a:r>
            <a:r>
              <a:rPr dirty="0" sz="2000" spc="35" b="1">
                <a:latin typeface="Calibri"/>
                <a:cs typeface="Calibri"/>
              </a:rPr>
              <a:t>  </a:t>
            </a:r>
            <a:r>
              <a:rPr dirty="0" sz="2000" spc="-10" b="1">
                <a:latin typeface="Calibri"/>
                <a:cs typeface="Calibri"/>
              </a:rPr>
              <a:t>large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number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of </a:t>
            </a:r>
            <a:r>
              <a:rPr dirty="0" sz="2000" spc="-10" b="1">
                <a:latin typeface="Calibri"/>
                <a:cs typeface="Calibri"/>
              </a:rPr>
              <a:t>protocols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devices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receive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instructions</a:t>
            </a:r>
            <a:r>
              <a:rPr dirty="0" sz="2000" spc="-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SDN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controller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how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forward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packets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5099" y="3901439"/>
            <a:ext cx="4342666" cy="2956559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02366" y="3901440"/>
            <a:ext cx="2959116" cy="269290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995671" y="3901439"/>
            <a:ext cx="3624072" cy="2956558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6222" y="-159639"/>
            <a:ext cx="6097270" cy="11156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8735">
              <a:lnSpc>
                <a:spcPts val="429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marL="12700">
              <a:lnSpc>
                <a:spcPts val="4290"/>
              </a:lnSpc>
            </a:pPr>
            <a:r>
              <a:rPr dirty="0"/>
              <a:t>Network</a:t>
            </a:r>
            <a:r>
              <a:rPr dirty="0" spc="-150"/>
              <a:t> </a:t>
            </a:r>
            <a:r>
              <a:rPr dirty="0" spc="-10"/>
              <a:t>Virtualization</a:t>
            </a:r>
            <a:r>
              <a:rPr dirty="0" spc="-145"/>
              <a:t> </a:t>
            </a:r>
            <a:r>
              <a:rPr dirty="0" spc="-10"/>
              <a:t>Function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-159639"/>
            <a:ext cx="6056630" cy="11156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ts val="429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  <a:p>
            <a:pPr algn="ctr" marR="3810">
              <a:lnSpc>
                <a:spcPts val="4290"/>
              </a:lnSpc>
            </a:pPr>
            <a:r>
              <a:rPr dirty="0"/>
              <a:t>Map</a:t>
            </a:r>
            <a:r>
              <a:rPr dirty="0" spc="-70"/>
              <a:t> </a:t>
            </a:r>
            <a:r>
              <a:rPr dirty="0" spc="-10"/>
              <a:t>Reduce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247901"/>
            <a:ext cx="12035790" cy="3074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2425" marR="5080" indent="-33972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Map</a:t>
            </a:r>
            <a:r>
              <a:rPr dirty="0" sz="2000" spc="4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Reduce</a:t>
            </a:r>
            <a:r>
              <a:rPr dirty="0" sz="2000" spc="4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43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4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parallel</a:t>
            </a:r>
            <a:r>
              <a:rPr dirty="0" sz="2000" spc="4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4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processing</a:t>
            </a:r>
            <a:r>
              <a:rPr dirty="0" sz="2000" spc="43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technique</a:t>
            </a:r>
            <a:r>
              <a:rPr dirty="0" sz="2000" spc="4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4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processing</a:t>
            </a:r>
            <a:r>
              <a:rPr dirty="0" sz="2000" spc="4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4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analyzing</a:t>
            </a:r>
            <a:r>
              <a:rPr dirty="0" sz="2000" spc="4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large</a:t>
            </a:r>
            <a:r>
              <a:rPr dirty="0" sz="2000" spc="43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scale</a:t>
            </a:r>
            <a:r>
              <a:rPr dirty="0" sz="2000" spc="4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4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(data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intensive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problem).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(The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framework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takes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care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scheduling tasks,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monitoring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them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re-</a:t>
            </a:r>
            <a:r>
              <a:rPr dirty="0" sz="2000">
                <a:latin typeface="Calibri"/>
                <a:cs typeface="Calibri"/>
              </a:rPr>
              <a:t>executing any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failed 	tasks.)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Map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Reduce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model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includes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two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important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phases: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Map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Reduce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functions.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algn="just" marL="352425" marR="5715" indent="-33972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Map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function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takes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set</a:t>
            </a:r>
            <a:r>
              <a:rPr dirty="0" sz="2000" spc="3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converts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3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into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another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set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3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data,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where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individual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elements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are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broken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down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into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tuples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(key/value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pairs).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Secondly,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reduce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function,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which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takes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output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map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an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input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combines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those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tuples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into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smaller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set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tuples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4901" y="55879"/>
            <a:ext cx="844105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295650" marR="5080" indent="-3283585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000000"/>
                </a:solidFill>
              </a:rPr>
              <a:t>MAPREDUCE</a:t>
            </a:r>
            <a:r>
              <a:rPr dirty="0" sz="2400" spc="-8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PROGRAMMING</a:t>
            </a:r>
            <a:r>
              <a:rPr dirty="0" sz="2400" spc="-90">
                <a:solidFill>
                  <a:srgbClr val="000000"/>
                </a:solidFill>
              </a:rPr>
              <a:t> </a:t>
            </a:r>
            <a:r>
              <a:rPr dirty="0" sz="2400">
                <a:solidFill>
                  <a:srgbClr val="000000"/>
                </a:solidFill>
              </a:rPr>
              <a:t>MODEL:</a:t>
            </a:r>
            <a:r>
              <a:rPr dirty="0" sz="2400" spc="-75">
                <a:solidFill>
                  <a:srgbClr val="000000"/>
                </a:solidFill>
              </a:rPr>
              <a:t> </a:t>
            </a:r>
            <a:r>
              <a:rPr dirty="0" sz="2400"/>
              <a:t>Example</a:t>
            </a:r>
            <a:r>
              <a:rPr dirty="0" sz="2400" spc="-80"/>
              <a:t> </a:t>
            </a:r>
            <a:r>
              <a:rPr dirty="0" sz="2400" spc="-10"/>
              <a:t>taken</a:t>
            </a:r>
            <a:r>
              <a:rPr dirty="0" sz="2400" spc="-65"/>
              <a:t> </a:t>
            </a:r>
            <a:r>
              <a:rPr dirty="0" sz="2400"/>
              <a:t>from</a:t>
            </a:r>
            <a:r>
              <a:rPr dirty="0" sz="2400" spc="-90"/>
              <a:t> </a:t>
            </a:r>
            <a:r>
              <a:rPr dirty="0" sz="2400"/>
              <a:t>net</a:t>
            </a:r>
            <a:r>
              <a:rPr dirty="0" sz="2400" spc="-70"/>
              <a:t> </a:t>
            </a:r>
            <a:r>
              <a:rPr dirty="0" sz="2400" spc="-25"/>
              <a:t>for </a:t>
            </a:r>
            <a:r>
              <a:rPr dirty="0" sz="2400"/>
              <a:t>your</a:t>
            </a:r>
            <a:r>
              <a:rPr dirty="0" sz="2400" spc="-70"/>
              <a:t> </a:t>
            </a:r>
            <a:r>
              <a:rPr dirty="0" sz="2400" spc="-10"/>
              <a:t>reference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2060194" y="918463"/>
            <a:ext cx="8072755" cy="3568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latin typeface="Calibri"/>
                <a:cs typeface="Calibri"/>
              </a:rPr>
              <a:t>A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Word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Count</a:t>
            </a:r>
            <a:r>
              <a:rPr dirty="0" sz="2800" spc="-60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Example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of</a:t>
            </a:r>
            <a:r>
              <a:rPr dirty="0" sz="2800" spc="-65" b="1">
                <a:latin typeface="Calibri"/>
                <a:cs typeface="Calibri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MapReduce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800">
              <a:latin typeface="Calibri"/>
              <a:cs typeface="Calibri"/>
            </a:endParaRPr>
          </a:p>
          <a:p>
            <a:pPr algn="just" marL="12700" marR="635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Let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understand,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how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MapReduce</a:t>
            </a:r>
            <a:r>
              <a:rPr dirty="0" sz="2000" spc="3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works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taking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3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example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where </a:t>
            </a:r>
            <a:r>
              <a:rPr dirty="0" sz="2000">
                <a:latin typeface="Calibri"/>
                <a:cs typeface="Calibri"/>
              </a:rPr>
              <a:t>there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text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example.txt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whose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contents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follows: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5"/>
              </a:spcBef>
            </a:pPr>
            <a:endParaRPr sz="2000">
              <a:latin typeface="Calibri"/>
              <a:cs typeface="Calibri"/>
            </a:endParaRPr>
          </a:p>
          <a:p>
            <a:pPr algn="ctr" marL="2540">
              <a:lnSpc>
                <a:spcPct val="100000"/>
              </a:lnSpc>
              <a:spcBef>
                <a:spcPts val="5"/>
              </a:spcBef>
            </a:pPr>
            <a:r>
              <a:rPr dirty="0" sz="2000" spc="-25" b="1">
                <a:latin typeface="Calibri"/>
                <a:cs typeface="Calibri"/>
              </a:rPr>
              <a:t>Dear,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Bear,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River,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Car,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Car,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River,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Deer,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Car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Bear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19"/>
              </a:spcBef>
            </a:pPr>
            <a:endParaRPr sz="2000">
              <a:latin typeface="Calibri"/>
              <a:cs typeface="Calibri"/>
            </a:endParaRPr>
          </a:p>
          <a:p>
            <a:pPr algn="just" marL="12700" marR="5080">
              <a:lnSpc>
                <a:spcPct val="100000"/>
              </a:lnSpc>
            </a:pPr>
            <a:r>
              <a:rPr dirty="0" sz="2000">
                <a:latin typeface="Calibri"/>
                <a:cs typeface="Calibri"/>
              </a:rPr>
              <a:t>Now,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suppose,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we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perform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word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count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example.txt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using </a:t>
            </a:r>
            <a:r>
              <a:rPr dirty="0" sz="2000">
                <a:latin typeface="Calibri"/>
                <a:cs typeface="Calibri"/>
              </a:rPr>
              <a:t>MapReduce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unique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words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occurrences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those </a:t>
            </a:r>
            <a:r>
              <a:rPr dirty="0" sz="2000">
                <a:latin typeface="Calibri"/>
                <a:cs typeface="Calibri"/>
              </a:rPr>
              <a:t>unique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words.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8739" y="2585048"/>
            <a:ext cx="12037060" cy="398843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34620" indent="-121920">
              <a:lnSpc>
                <a:spcPct val="100000"/>
              </a:lnSpc>
              <a:spcBef>
                <a:spcPts val="480"/>
              </a:spcBef>
              <a:buFont typeface="Arial MT"/>
              <a:buChar char="•"/>
              <a:tabLst>
                <a:tab pos="134620" algn="l"/>
              </a:tabLst>
            </a:pPr>
            <a:r>
              <a:rPr dirty="0" sz="1600">
                <a:latin typeface="Calibri"/>
                <a:cs typeface="Calibri"/>
              </a:rPr>
              <a:t>First,</a:t>
            </a:r>
            <a:r>
              <a:rPr dirty="0" sz="1600" spc="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we</a:t>
            </a:r>
            <a:r>
              <a:rPr dirty="0" sz="1600" spc="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divide</a:t>
            </a:r>
            <a:r>
              <a:rPr dirty="0" sz="1600" spc="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input</a:t>
            </a:r>
            <a:r>
              <a:rPr dirty="0" sz="1600" spc="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three</a:t>
            </a:r>
            <a:r>
              <a:rPr dirty="0" sz="1600" spc="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splits</a:t>
            </a:r>
            <a:r>
              <a:rPr dirty="0" sz="1600" spc="8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as</a:t>
            </a:r>
            <a:r>
              <a:rPr dirty="0" sz="1600" spc="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shown</a:t>
            </a:r>
            <a:r>
              <a:rPr dirty="0" sz="1600" spc="7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7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figure.</a:t>
            </a:r>
            <a:r>
              <a:rPr dirty="0" sz="1600" spc="8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This</a:t>
            </a:r>
            <a:r>
              <a:rPr dirty="0" sz="1600" spc="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will</a:t>
            </a:r>
            <a:r>
              <a:rPr dirty="0" sz="1600" spc="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distribute</a:t>
            </a:r>
            <a:r>
              <a:rPr dirty="0" sz="1600" spc="7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7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work</a:t>
            </a:r>
            <a:r>
              <a:rPr dirty="0" sz="1600" spc="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among</a:t>
            </a:r>
            <a:r>
              <a:rPr dirty="0" sz="1600" spc="8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all</a:t>
            </a:r>
            <a:r>
              <a:rPr dirty="0" sz="1600" spc="7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map</a:t>
            </a:r>
            <a:r>
              <a:rPr dirty="0" sz="1600" spc="7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nodes</a:t>
            </a:r>
            <a:r>
              <a:rPr dirty="0" sz="1100">
                <a:latin typeface="Calibri"/>
                <a:cs typeface="Calibri"/>
              </a:rPr>
              <a:t>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(Divides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file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into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subfiles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and</a:t>
            </a:r>
            <a:endParaRPr sz="1100">
              <a:latin typeface="Calibri"/>
              <a:cs typeface="Calibri"/>
            </a:endParaRPr>
          </a:p>
          <a:p>
            <a:pPr marL="134620">
              <a:lnSpc>
                <a:spcPct val="100000"/>
              </a:lnSpc>
              <a:spcBef>
                <a:spcPts val="270"/>
              </a:spcBef>
            </a:pPr>
            <a:r>
              <a:rPr dirty="0" sz="1100">
                <a:latin typeface="Calibri"/>
                <a:cs typeface="Calibri"/>
              </a:rPr>
              <a:t>each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file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given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each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Map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node.)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1100">
              <a:latin typeface="Calibri"/>
              <a:cs typeface="Calibri"/>
            </a:endParaRPr>
          </a:p>
          <a:p>
            <a:pPr marL="134620" indent="-121920">
              <a:lnSpc>
                <a:spcPct val="100000"/>
              </a:lnSpc>
              <a:buFont typeface="Arial MT"/>
              <a:buChar char="•"/>
              <a:tabLst>
                <a:tab pos="134620" algn="l"/>
              </a:tabLst>
            </a:pPr>
            <a:r>
              <a:rPr dirty="0" sz="1600">
                <a:latin typeface="Calibri"/>
                <a:cs typeface="Calibri"/>
              </a:rPr>
              <a:t>Then,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Map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function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within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each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Map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node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tokenize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words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file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give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hardcoded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value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(1)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each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tokens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words.</a:t>
            </a:r>
            <a:endParaRPr sz="1600">
              <a:latin typeface="Calibri"/>
              <a:cs typeface="Calibri"/>
            </a:endParaRPr>
          </a:p>
          <a:p>
            <a:pPr marL="134620" marR="8255" indent="-121920">
              <a:lnSpc>
                <a:spcPts val="1700"/>
              </a:lnSpc>
              <a:spcBef>
                <a:spcPts val="1714"/>
              </a:spcBef>
              <a:buFont typeface="Arial MT"/>
              <a:buChar char="•"/>
              <a:tabLst>
                <a:tab pos="134620" algn="l"/>
              </a:tabLst>
            </a:pPr>
            <a:r>
              <a:rPr dirty="0" sz="1600" spc="-10">
                <a:latin typeface="Calibri"/>
                <a:cs typeface="Calibri"/>
              </a:rPr>
              <a:t>Now,</a:t>
            </a:r>
            <a:r>
              <a:rPr dirty="0" sz="1600" spc="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list</a:t>
            </a:r>
            <a:r>
              <a:rPr dirty="0" sz="1600" spc="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4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key-</a:t>
            </a:r>
            <a:r>
              <a:rPr dirty="0" sz="1600">
                <a:latin typeface="Calibri"/>
                <a:cs typeface="Calibri"/>
              </a:rPr>
              <a:t>value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pair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will</a:t>
            </a:r>
            <a:r>
              <a:rPr dirty="0" sz="1600" spc="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created</a:t>
            </a:r>
            <a:r>
              <a:rPr dirty="0" sz="1600" spc="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where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nothing</a:t>
            </a:r>
            <a:r>
              <a:rPr dirty="0" sz="1600" spc="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but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individual</a:t>
            </a:r>
            <a:r>
              <a:rPr dirty="0" sz="1600" spc="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words</a:t>
            </a:r>
            <a:r>
              <a:rPr dirty="0" sz="1600" spc="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value</a:t>
            </a:r>
            <a:r>
              <a:rPr dirty="0" sz="1600" spc="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one.</a:t>
            </a:r>
            <a:r>
              <a:rPr dirty="0" sz="1600" spc="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So,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first</a:t>
            </a:r>
            <a:r>
              <a:rPr dirty="0" sz="1600" spc="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line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(Dear</a:t>
            </a:r>
            <a:r>
              <a:rPr dirty="0" sz="1600" spc="45" b="1">
                <a:latin typeface="Calibri"/>
                <a:cs typeface="Calibri"/>
              </a:rPr>
              <a:t> </a:t>
            </a:r>
            <a:r>
              <a:rPr dirty="0" sz="1600" spc="-20" b="1">
                <a:latin typeface="Calibri"/>
                <a:cs typeface="Calibri"/>
              </a:rPr>
              <a:t>Bear </a:t>
            </a:r>
            <a:r>
              <a:rPr dirty="0" sz="1600" b="1">
                <a:latin typeface="Calibri"/>
                <a:cs typeface="Calibri"/>
              </a:rPr>
              <a:t>River)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have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3</a:t>
            </a:r>
            <a:r>
              <a:rPr dirty="0" sz="1600" spc="-30">
                <a:latin typeface="Calibri"/>
                <a:cs typeface="Calibri"/>
              </a:rPr>
              <a:t> key-</a:t>
            </a:r>
            <a:r>
              <a:rPr dirty="0" sz="1600">
                <a:latin typeface="Calibri"/>
                <a:cs typeface="Calibri"/>
              </a:rPr>
              <a:t>value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pairs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–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20" b="1">
                <a:latin typeface="Calibri"/>
                <a:cs typeface="Calibri"/>
              </a:rPr>
              <a:t>(Dear,</a:t>
            </a:r>
            <a:r>
              <a:rPr dirty="0" sz="1600" spc="-1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1);</a:t>
            </a:r>
            <a:r>
              <a:rPr dirty="0" sz="1600" spc="-20" b="1">
                <a:latin typeface="Calibri"/>
                <a:cs typeface="Calibri"/>
              </a:rPr>
              <a:t> (Bear,</a:t>
            </a:r>
            <a:r>
              <a:rPr dirty="0" sz="1600" spc="-1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1);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spc="-20" b="1">
                <a:latin typeface="Calibri"/>
                <a:cs typeface="Calibri"/>
              </a:rPr>
              <a:t>(River,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1)</a:t>
            </a:r>
            <a:r>
              <a:rPr dirty="0" sz="1600">
                <a:latin typeface="Calibri"/>
                <a:cs typeface="Calibri"/>
              </a:rPr>
              <a:t>.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mapping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process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remains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same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all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nodes.</a:t>
            </a:r>
            <a:endParaRPr sz="1600">
              <a:latin typeface="Calibri"/>
              <a:cs typeface="Calibri"/>
            </a:endParaRPr>
          </a:p>
          <a:p>
            <a:pPr marL="134620" indent="-121920">
              <a:lnSpc>
                <a:spcPts val="1814"/>
              </a:lnSpc>
              <a:spcBef>
                <a:spcPts val="1460"/>
              </a:spcBef>
              <a:buFont typeface="Arial MT"/>
              <a:buChar char="•"/>
              <a:tabLst>
                <a:tab pos="134620" algn="l"/>
              </a:tabLst>
            </a:pPr>
            <a:r>
              <a:rPr dirty="0" sz="1600">
                <a:latin typeface="Calibri"/>
                <a:cs typeface="Calibri"/>
              </a:rPr>
              <a:t>After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mapper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phase,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partition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process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takes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place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where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sorting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shuffling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happens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so that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all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tuples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with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same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sent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the</a:t>
            </a:r>
            <a:endParaRPr sz="1600">
              <a:latin typeface="Calibri"/>
              <a:cs typeface="Calibri"/>
            </a:endParaRPr>
          </a:p>
          <a:p>
            <a:pPr marL="134620">
              <a:lnSpc>
                <a:spcPts val="1814"/>
              </a:lnSpc>
            </a:pPr>
            <a:r>
              <a:rPr dirty="0" sz="1600" spc="-10">
                <a:latin typeface="Calibri"/>
                <a:cs typeface="Calibri"/>
              </a:rPr>
              <a:t>corresponding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reducer.</a:t>
            </a:r>
            <a:endParaRPr sz="1600">
              <a:latin typeface="Calibri"/>
              <a:cs typeface="Calibri"/>
            </a:endParaRPr>
          </a:p>
          <a:p>
            <a:pPr marL="134620" marR="9525" indent="-121920">
              <a:lnSpc>
                <a:spcPts val="1700"/>
              </a:lnSpc>
              <a:spcBef>
                <a:spcPts val="1714"/>
              </a:spcBef>
              <a:buFont typeface="Arial MT"/>
              <a:buChar char="•"/>
              <a:tabLst>
                <a:tab pos="134620" algn="l"/>
              </a:tabLst>
            </a:pPr>
            <a:r>
              <a:rPr dirty="0" sz="1600">
                <a:latin typeface="Calibri"/>
                <a:cs typeface="Calibri"/>
              </a:rPr>
              <a:t>So,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after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sorting</a:t>
            </a:r>
            <a:r>
              <a:rPr dirty="0" sz="1600" spc="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shuffling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phase,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each</a:t>
            </a:r>
            <a:r>
              <a:rPr dirty="0" sz="1600" spc="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reducer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will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have</a:t>
            </a:r>
            <a:r>
              <a:rPr dirty="0" sz="1600" spc="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unique</a:t>
            </a:r>
            <a:r>
              <a:rPr dirty="0" sz="1600" spc="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list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values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corresponding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key.</a:t>
            </a:r>
            <a:r>
              <a:rPr dirty="0" sz="1600" spc="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example,</a:t>
            </a:r>
            <a:r>
              <a:rPr dirty="0" sz="1600" spc="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Bear, </a:t>
            </a:r>
            <a:r>
              <a:rPr dirty="0" sz="1600">
                <a:latin typeface="Calibri"/>
                <a:cs typeface="Calibri"/>
              </a:rPr>
              <a:t>[1,1];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Car,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[1,1,1]..,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etc</a:t>
            </a:r>
            <a:r>
              <a:rPr dirty="0" sz="1200">
                <a:latin typeface="Calibri"/>
                <a:cs typeface="Calibri"/>
              </a:rPr>
              <a:t>.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(Input</a:t>
            </a:r>
            <a:r>
              <a:rPr dirty="0" sz="1200" spc="-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Reduce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Node)</a:t>
            </a:r>
            <a:endParaRPr sz="1200">
              <a:latin typeface="Calibri"/>
              <a:cs typeface="Calibri"/>
            </a:endParaRPr>
          </a:p>
          <a:p>
            <a:pPr marL="134620" indent="-121920">
              <a:lnSpc>
                <a:spcPts val="1810"/>
              </a:lnSpc>
              <a:spcBef>
                <a:spcPts val="1460"/>
              </a:spcBef>
              <a:buFont typeface="Arial MT"/>
              <a:buChar char="•"/>
              <a:tabLst>
                <a:tab pos="134620" algn="l"/>
              </a:tabLst>
            </a:pPr>
            <a:r>
              <a:rPr dirty="0" sz="1600" spc="-10">
                <a:latin typeface="Calibri"/>
                <a:cs typeface="Calibri"/>
              </a:rPr>
              <a:t>Now,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each</a:t>
            </a:r>
            <a:r>
              <a:rPr dirty="0" sz="1600" spc="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Reducer</a:t>
            </a:r>
            <a:r>
              <a:rPr dirty="0" sz="1600" spc="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counts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values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which</a:t>
            </a:r>
            <a:r>
              <a:rPr dirty="0" sz="1600" spc="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</a:t>
            </a:r>
            <a:r>
              <a:rPr dirty="0" sz="1600" spc="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present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list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values.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As</a:t>
            </a:r>
            <a:r>
              <a:rPr dirty="0" sz="1600" spc="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shown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figure,</a:t>
            </a:r>
            <a:r>
              <a:rPr dirty="0" sz="1600" spc="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reducer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gets</a:t>
            </a:r>
            <a:r>
              <a:rPr dirty="0" sz="1600" spc="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list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values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which</a:t>
            </a:r>
            <a:r>
              <a:rPr dirty="0" sz="1600" spc="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[1,1]</a:t>
            </a:r>
            <a:endParaRPr sz="1600">
              <a:latin typeface="Calibri"/>
              <a:cs typeface="Calibri"/>
            </a:endParaRPr>
          </a:p>
          <a:p>
            <a:pPr marL="134620">
              <a:lnSpc>
                <a:spcPts val="1810"/>
              </a:lnSpc>
            </a:pP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key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Bear.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Then,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counts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number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ones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list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gives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final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output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–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Bear,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2.</a:t>
            </a:r>
            <a:endParaRPr sz="1600">
              <a:latin typeface="Calibri"/>
              <a:cs typeface="Calibri"/>
            </a:endParaRPr>
          </a:p>
          <a:p>
            <a:pPr marL="134620" indent="-121920">
              <a:lnSpc>
                <a:spcPct val="100000"/>
              </a:lnSpc>
              <a:spcBef>
                <a:spcPts val="1480"/>
              </a:spcBef>
              <a:buFont typeface="Arial MT"/>
              <a:buChar char="•"/>
              <a:tabLst>
                <a:tab pos="134620" algn="l"/>
              </a:tabLst>
            </a:pPr>
            <a:r>
              <a:rPr dirty="0" sz="1600" spc="-10">
                <a:latin typeface="Calibri"/>
                <a:cs typeface="Calibri"/>
              </a:rPr>
              <a:t>Finally,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all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output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key/value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pairs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collected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written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output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file.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4000" y="335576"/>
            <a:ext cx="9144000" cy="223158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78688" y="734059"/>
            <a:ext cx="927735" cy="1397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0"/>
              <a:t>Example taken </a:t>
            </a:r>
            <a:r>
              <a:rPr dirty="0" sz="1800"/>
              <a:t>from</a:t>
            </a:r>
            <a:r>
              <a:rPr dirty="0" sz="1800" spc="-45"/>
              <a:t> </a:t>
            </a:r>
            <a:r>
              <a:rPr dirty="0" sz="1800" spc="-25"/>
              <a:t>net </a:t>
            </a:r>
            <a:r>
              <a:rPr dirty="0" sz="1800"/>
              <a:t>for</a:t>
            </a:r>
            <a:r>
              <a:rPr dirty="0" sz="1800" spc="-50"/>
              <a:t> </a:t>
            </a:r>
            <a:r>
              <a:rPr dirty="0" sz="1800" spc="-20"/>
              <a:t>your reference</a:t>
            </a:r>
            <a:endParaRPr sz="18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-159639"/>
            <a:ext cx="60566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88111"/>
            <a:ext cx="12036425" cy="39503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Map</a:t>
            </a:r>
            <a:r>
              <a:rPr dirty="0" sz="2800" spc="-8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Reduce</a:t>
            </a:r>
            <a:r>
              <a:rPr dirty="0" sz="28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(</a:t>
            </a:r>
            <a:r>
              <a:rPr dirty="0" sz="28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dirty="0" sz="28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your</a:t>
            </a:r>
            <a:r>
              <a:rPr dirty="0" sz="28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reference)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>
                <a:latin typeface="Calibri"/>
                <a:cs typeface="Calibri"/>
              </a:rPr>
              <a:t>Among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cluster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nodes,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acts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like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“</a:t>
            </a:r>
            <a:r>
              <a:rPr dirty="0" sz="1800" b="1">
                <a:latin typeface="Calibri"/>
                <a:cs typeface="Calibri"/>
              </a:rPr>
              <a:t>master</a:t>
            </a:r>
            <a:r>
              <a:rPr dirty="0" sz="1800">
                <a:latin typeface="Calibri"/>
                <a:cs typeface="Calibri"/>
              </a:rPr>
              <a:t>”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rest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“</a:t>
            </a:r>
            <a:r>
              <a:rPr dirty="0" sz="1800" spc="-10" b="1">
                <a:latin typeface="Calibri"/>
                <a:cs typeface="Calibri"/>
              </a:rPr>
              <a:t>workers</a:t>
            </a:r>
            <a:r>
              <a:rPr dirty="0" sz="1800" spc="-10">
                <a:latin typeface="Calibri"/>
                <a:cs typeface="Calibri"/>
              </a:rPr>
              <a:t>.”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master</a:t>
            </a:r>
            <a:r>
              <a:rPr dirty="0" sz="1800" spc="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responsible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scheduling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(assigns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map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reduce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tasks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worker)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7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monitoring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(monitors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task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progress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the</a:t>
            </a:r>
            <a:endParaRPr sz="1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30"/>
              </a:spcBef>
            </a:pPr>
            <a:r>
              <a:rPr dirty="0" sz="1400" spc="-10">
                <a:latin typeface="Calibri"/>
                <a:cs typeface="Calibri"/>
              </a:rPr>
              <a:t>worker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health</a:t>
            </a:r>
            <a:r>
              <a:rPr dirty="0" sz="1050">
                <a:latin typeface="Calibri"/>
                <a:cs typeface="Calibri"/>
              </a:rPr>
              <a:t>). (Master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instructs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which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nodes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should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act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like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mapper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and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which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nodes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should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act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like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reducer.</a:t>
            </a:r>
            <a:r>
              <a:rPr dirty="0" sz="1050" spc="-4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Also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responsible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for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monitoring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health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condition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of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each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worker</a:t>
            </a:r>
            <a:r>
              <a:rPr dirty="0" sz="1050" spc="-4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node)</a:t>
            </a:r>
            <a:endParaRPr sz="105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7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>
                <a:latin typeface="Calibri"/>
                <a:cs typeface="Calibri"/>
              </a:rPr>
              <a:t>When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map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tasks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arise,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master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assigns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task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idle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worker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taking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into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account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locality.</a:t>
            </a:r>
            <a:endParaRPr sz="1800">
              <a:latin typeface="Calibri"/>
              <a:cs typeface="Calibri"/>
            </a:endParaRPr>
          </a:p>
          <a:p>
            <a:pPr marL="355600" marR="5080" indent="-342900">
              <a:lnSpc>
                <a:spcPct val="102200"/>
              </a:lnSpc>
              <a:spcBef>
                <a:spcPts val="55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7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worker</a:t>
            </a:r>
            <a:r>
              <a:rPr dirty="0" sz="1800" spc="8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reads</a:t>
            </a:r>
            <a:r>
              <a:rPr dirty="0" sz="1800" spc="7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8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content</a:t>
            </a:r>
            <a:r>
              <a:rPr dirty="0" sz="1800" spc="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8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corresponding</a:t>
            </a:r>
            <a:r>
              <a:rPr dirty="0" sz="1800" spc="8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input</a:t>
            </a:r>
            <a:r>
              <a:rPr dirty="0" sz="1800" spc="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split</a:t>
            </a:r>
            <a:r>
              <a:rPr dirty="0" sz="1800" spc="8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emits</a:t>
            </a:r>
            <a:r>
              <a:rPr dirty="0" sz="1800" spc="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7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key/value</a:t>
            </a:r>
            <a:r>
              <a:rPr dirty="0" sz="1800" spc="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pairs</a:t>
            </a:r>
            <a:r>
              <a:rPr dirty="0" sz="1800">
                <a:latin typeface="Calibri"/>
                <a:cs typeface="Calibri"/>
              </a:rPr>
              <a:t>.</a:t>
            </a:r>
            <a:r>
              <a:rPr dirty="0" sz="18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what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</a:t>
            </a:r>
            <a:r>
              <a:rPr dirty="0" sz="1200" spc="-20">
                <a:latin typeface="Calibri"/>
                <a:cs typeface="Calibri"/>
              </a:rPr>
              <a:t> performing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corresponding </a:t>
            </a:r>
            <a:r>
              <a:rPr dirty="0" sz="1200">
                <a:latin typeface="Calibri"/>
                <a:cs typeface="Calibri"/>
              </a:rPr>
              <a:t>analysed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value)</a:t>
            </a:r>
            <a:endParaRPr sz="1200">
              <a:latin typeface="Calibri"/>
              <a:cs typeface="Calibri"/>
            </a:endParaRPr>
          </a:p>
          <a:p>
            <a:pPr marL="354965" indent="-342265">
              <a:lnSpc>
                <a:spcPts val="1910"/>
              </a:lnSpc>
              <a:spcBef>
                <a:spcPts val="57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intermediate</a:t>
            </a:r>
            <a:r>
              <a:rPr dirty="0" sz="1600" spc="2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key/value</a:t>
            </a:r>
            <a:r>
              <a:rPr dirty="0" sz="1600" spc="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pairs</a:t>
            </a:r>
            <a:r>
              <a:rPr dirty="0" sz="1600" spc="20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produced</a:t>
            </a:r>
            <a:r>
              <a:rPr dirty="0" sz="1600" spc="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by</a:t>
            </a:r>
            <a:r>
              <a:rPr dirty="0" sz="1600" spc="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Map</a:t>
            </a:r>
            <a:r>
              <a:rPr dirty="0" sz="1600" spc="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function</a:t>
            </a:r>
            <a:r>
              <a:rPr dirty="0" sz="1600" spc="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are</a:t>
            </a:r>
            <a:r>
              <a:rPr dirty="0" sz="1600" spc="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first</a:t>
            </a:r>
            <a:r>
              <a:rPr dirty="0" sz="1600" spc="15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buffered</a:t>
            </a:r>
            <a:r>
              <a:rPr dirty="0" sz="1600" spc="1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in</a:t>
            </a:r>
            <a:r>
              <a:rPr dirty="0" sz="1600" spc="1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memory</a:t>
            </a:r>
            <a:r>
              <a:rPr dirty="0" sz="1600" spc="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and</a:t>
            </a:r>
            <a:r>
              <a:rPr dirty="0" sz="1600" spc="2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then</a:t>
            </a:r>
            <a:r>
              <a:rPr dirty="0" sz="1600" spc="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periodically</a:t>
            </a:r>
            <a:r>
              <a:rPr dirty="0" sz="1600" spc="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written</a:t>
            </a:r>
            <a:r>
              <a:rPr dirty="0" sz="1600" spc="1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to</a:t>
            </a:r>
            <a:r>
              <a:rPr dirty="0" sz="1600" spc="1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</a:t>
            </a:r>
            <a:r>
              <a:rPr dirty="0" sz="1600" spc="1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local</a:t>
            </a:r>
            <a:r>
              <a:rPr dirty="0" sz="1600" spc="20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disk</a:t>
            </a:r>
            <a:r>
              <a:rPr dirty="0" sz="1600" spc="-10">
                <a:latin typeface="Calibri"/>
                <a:cs typeface="Calibri"/>
              </a:rPr>
              <a:t>,</a:t>
            </a:r>
            <a:endParaRPr sz="1600">
              <a:latin typeface="Calibri"/>
              <a:cs typeface="Calibri"/>
            </a:endParaRPr>
          </a:p>
          <a:p>
            <a:pPr marL="355600">
              <a:lnSpc>
                <a:spcPts val="2150"/>
              </a:lnSpc>
            </a:pPr>
            <a:r>
              <a:rPr dirty="0" sz="1600" b="1">
                <a:latin typeface="Calibri"/>
                <a:cs typeface="Calibri"/>
              </a:rPr>
              <a:t>sorts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intermediate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keys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all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occurrences</a:t>
            </a:r>
            <a:r>
              <a:rPr dirty="0" sz="1600" b="1">
                <a:latin typeface="Calibri"/>
                <a:cs typeface="Calibri"/>
              </a:rPr>
              <a:t> of</a:t>
            </a:r>
            <a:r>
              <a:rPr dirty="0" sz="1600" spc="-2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the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same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key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are</a:t>
            </a:r>
            <a:r>
              <a:rPr dirty="0" sz="1600" spc="-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grouped</a:t>
            </a:r>
            <a:r>
              <a:rPr dirty="0" sz="1600" spc="5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together</a:t>
            </a:r>
            <a:r>
              <a:rPr dirty="0" sz="1600" spc="-2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into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R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sets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by</a:t>
            </a:r>
            <a:r>
              <a:rPr dirty="0" sz="1600" spc="-1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the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partitioning</a:t>
            </a:r>
            <a:r>
              <a:rPr dirty="0" sz="1600" spc="-10" b="1">
                <a:latin typeface="Calibri"/>
                <a:cs typeface="Calibri"/>
              </a:rPr>
              <a:t> function</a:t>
            </a:r>
            <a:r>
              <a:rPr dirty="0" sz="1800" spc="-1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master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passes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location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these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stored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pairs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reduce</a:t>
            </a:r>
            <a:r>
              <a:rPr dirty="0" sz="1600" spc="-15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worker</a:t>
            </a:r>
            <a:r>
              <a:rPr dirty="0" sz="1600" spc="-10">
                <a:latin typeface="Calibri"/>
                <a:cs typeface="Calibri"/>
              </a:rPr>
              <a:t>,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which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reads</a:t>
            </a:r>
            <a:r>
              <a:rPr dirty="0" sz="1600" spc="-35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buffered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using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remote</a:t>
            </a:r>
            <a:r>
              <a:rPr dirty="0" sz="1600" spc="-10">
                <a:latin typeface="Calibri"/>
                <a:cs typeface="Calibri"/>
              </a:rPr>
              <a:t> procedure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calls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(</a:t>
            </a:r>
            <a:r>
              <a:rPr dirty="0" sz="1600" spc="-10" b="1">
                <a:latin typeface="Calibri"/>
                <a:cs typeface="Calibri"/>
              </a:rPr>
              <a:t>RPC</a:t>
            </a:r>
            <a:r>
              <a:rPr dirty="0" sz="1600" spc="-10">
                <a:latin typeface="Calibri"/>
                <a:cs typeface="Calibri"/>
              </a:rPr>
              <a:t>).</a:t>
            </a:r>
            <a:endParaRPr sz="1600">
              <a:latin typeface="Calibri"/>
              <a:cs typeface="Calibri"/>
            </a:endParaRPr>
          </a:p>
          <a:p>
            <a:pPr marL="299085" marR="5080" indent="-287020">
              <a:lnSpc>
                <a:spcPct val="101499"/>
              </a:lnSpc>
              <a:spcBef>
                <a:spcPts val="570"/>
              </a:spcBef>
              <a:buChar char="•"/>
              <a:tabLst>
                <a:tab pos="299085" algn="l"/>
                <a:tab pos="344805" algn="l"/>
              </a:tabLst>
            </a:pPr>
            <a:r>
              <a:rPr dirty="0" sz="1600">
                <a:latin typeface="Arial MT"/>
                <a:cs typeface="Arial MT"/>
              </a:rPr>
              <a:t>	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204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each</a:t>
            </a:r>
            <a:r>
              <a:rPr dirty="0" sz="1600" spc="20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key,</a:t>
            </a:r>
            <a:r>
              <a:rPr dirty="0" sz="1600" spc="20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2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worker</a:t>
            </a:r>
            <a:r>
              <a:rPr dirty="0" sz="1600" spc="2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passes</a:t>
            </a:r>
            <a:r>
              <a:rPr dirty="0" sz="1600" spc="2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204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corresponding</a:t>
            </a:r>
            <a:r>
              <a:rPr dirty="0" sz="1600" spc="204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intermediate</a:t>
            </a:r>
            <a:r>
              <a:rPr dirty="0" sz="1600" spc="20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value</a:t>
            </a:r>
            <a:r>
              <a:rPr dirty="0" sz="1600" spc="20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2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its</a:t>
            </a:r>
            <a:r>
              <a:rPr dirty="0" sz="1600" spc="20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entire</a:t>
            </a:r>
            <a:r>
              <a:rPr dirty="0" sz="1600" spc="2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occurrence</a:t>
            </a:r>
            <a:r>
              <a:rPr dirty="0" sz="1600" spc="2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19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204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Reduce</a:t>
            </a:r>
            <a:r>
              <a:rPr dirty="0" sz="1600" spc="21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function</a:t>
            </a:r>
            <a:r>
              <a:rPr dirty="0" sz="1600">
                <a:latin typeface="Calibri"/>
                <a:cs typeface="Calibri"/>
              </a:rPr>
              <a:t>.</a:t>
            </a:r>
            <a:r>
              <a:rPr dirty="0" sz="1600" spc="2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(worker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node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gives intermediate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reduce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function,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 </a:t>
            </a:r>
            <a:r>
              <a:rPr dirty="0" sz="1200" spc="-10">
                <a:latin typeface="Calibri"/>
                <a:cs typeface="Calibri"/>
              </a:rPr>
              <a:t>generates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output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file)</a:t>
            </a:r>
            <a:endParaRPr sz="12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5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1800" spc="-10">
                <a:latin typeface="Calibri"/>
                <a:cs typeface="Calibri"/>
              </a:rPr>
              <a:t>Finally,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output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available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output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files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(one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per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reduce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task).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5968" y="4410325"/>
            <a:ext cx="6153333" cy="2375564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-159639"/>
            <a:ext cx="60566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88111"/>
            <a:ext cx="12035790" cy="35077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Map</a:t>
            </a:r>
            <a:r>
              <a:rPr dirty="0" sz="28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Reduce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below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figure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shows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workflow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MapReduce.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Map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phase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read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distributed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file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</a:t>
            </a:r>
            <a:r>
              <a:rPr dirty="0" sz="2000" spc="-10">
                <a:latin typeface="Calibri"/>
                <a:cs typeface="Calibri"/>
              </a:rPr>
              <a:t>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partitioned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among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set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computing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nodes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469900" marR="7620" indent="-4572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Map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tasks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input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records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independently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each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other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produce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intermediate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results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as </a:t>
            </a:r>
            <a:r>
              <a:rPr dirty="0" sz="2000" spc="-35" b="1">
                <a:latin typeface="Calibri"/>
                <a:cs typeface="Calibri"/>
              </a:rPr>
              <a:t>Key-</a:t>
            </a:r>
            <a:r>
              <a:rPr dirty="0" sz="2000" spc="-10" b="1">
                <a:latin typeface="Calibri"/>
                <a:cs typeface="Calibri"/>
              </a:rPr>
              <a:t>Value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pairs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000" b="1">
                <a:latin typeface="Calibri"/>
                <a:cs typeface="Calibri"/>
              </a:rPr>
              <a:t>When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Map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tasks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completed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Reduce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phase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begins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intermediate</a:t>
            </a:r>
            <a:r>
              <a:rPr dirty="0" sz="2000" spc="20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dirty="0" sz="2000" b="1">
                <a:latin typeface="Calibri"/>
                <a:cs typeface="Calibri"/>
              </a:rPr>
              <a:t>same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key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aggregated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optional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combine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task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used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perform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aggregation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intermediate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same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key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output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Mapper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before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transferring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Reduce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task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00362" y="3995448"/>
            <a:ext cx="6788231" cy="2862548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-159639"/>
            <a:ext cx="60566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273004"/>
            <a:ext cx="6948805" cy="95504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000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Map</a:t>
            </a:r>
            <a:r>
              <a:rPr dirty="0" sz="28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Reduce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5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below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figure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shows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flow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MapReduce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job.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4555616"/>
            <a:ext cx="12034520" cy="1703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2425" marR="5715" indent="-33972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MapReduce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model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take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advantage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locality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processing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takes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place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nodes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where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resides.</a:t>
            </a:r>
            <a:endParaRPr sz="20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traditional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approach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analysis,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moved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compute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nodes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results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significant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of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transmission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between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nodes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whereas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MapReduce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model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moves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computation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where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data </a:t>
            </a:r>
            <a:r>
              <a:rPr dirty="0" sz="2000" spc="-2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resides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thus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decreasing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transmission</a:t>
            </a:r>
            <a:r>
              <a:rPr dirty="0" sz="2000" spc="-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improving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efficiency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6274" y="1254252"/>
            <a:ext cx="6221441" cy="3171444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-159639"/>
            <a:ext cx="60566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88111"/>
            <a:ext cx="12033250" cy="25933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Identity</a:t>
            </a:r>
            <a:r>
              <a:rPr dirty="0" sz="28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8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Access</a:t>
            </a:r>
            <a:r>
              <a:rPr dirty="0" sz="28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Management</a:t>
            </a:r>
            <a:endParaRPr sz="2800">
              <a:latin typeface="Calibri"/>
              <a:cs typeface="Calibri"/>
            </a:endParaRPr>
          </a:p>
          <a:p>
            <a:pPr marL="355600" marR="8255" indent="-342900">
              <a:lnSpc>
                <a:spcPct val="100000"/>
              </a:lnSpc>
              <a:spcBef>
                <a:spcPts val="246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Identity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Access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Management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(IDAM)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describes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authentication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authorization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to </a:t>
            </a:r>
            <a:r>
              <a:rPr dirty="0" sz="2000" b="1">
                <a:latin typeface="Calibri"/>
                <a:cs typeface="Calibri"/>
              </a:rPr>
              <a:t>provide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access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Organization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multiple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IDAM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services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provided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service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provider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management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identifiers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permissions.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3564763"/>
            <a:ext cx="4429125" cy="6356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IDAM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services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allow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organizations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to </a:t>
            </a:r>
            <a:r>
              <a:rPr dirty="0" sz="2000" b="1">
                <a:latin typeface="Calibri"/>
                <a:cs typeface="Calibri"/>
              </a:rPr>
              <a:t>access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keys.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695571" y="3564763"/>
            <a:ext cx="741870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b="1">
                <a:latin typeface="Calibri"/>
                <a:cs typeface="Calibri"/>
              </a:rPr>
              <a:t>centrally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users,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access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permission,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security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credentials</a:t>
            </a:r>
            <a:r>
              <a:rPr dirty="0" sz="2000" spc="30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8739" y="4784216"/>
            <a:ext cx="12036425" cy="1550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IDAM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services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allow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creation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groups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where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group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have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same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access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permissions.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Identity</a:t>
            </a:r>
            <a:r>
              <a:rPr dirty="0" sz="2000" spc="4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4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Management</a:t>
            </a:r>
            <a:r>
              <a:rPr dirty="0" sz="2000" spc="4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4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enabled</a:t>
            </a:r>
            <a:r>
              <a:rPr dirty="0" sz="2000" spc="4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4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4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number</a:t>
            </a:r>
            <a:r>
              <a:rPr dirty="0" sz="2000" spc="4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technologies</a:t>
            </a:r>
            <a:r>
              <a:rPr dirty="0" sz="2000" spc="45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such</a:t>
            </a:r>
            <a:r>
              <a:rPr dirty="0" sz="2000" spc="45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45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OpenAuth,</a:t>
            </a:r>
            <a:r>
              <a:rPr dirty="0" sz="2000" spc="45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Role-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4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Access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dirty="0" sz="2000" spc="-10" b="1">
                <a:latin typeface="Calibri"/>
                <a:cs typeface="Calibri"/>
              </a:rPr>
              <a:t>Control(RBAC),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Digital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Identities,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Security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30" b="1">
                <a:latin typeface="Calibri"/>
                <a:cs typeface="Calibri"/>
              </a:rPr>
              <a:t>Tokens,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Identity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Providers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8885" y="-8763"/>
            <a:ext cx="60490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6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82118"/>
            <a:ext cx="12033250" cy="1260475"/>
          </a:xfrm>
          <a:prstGeom prst="rect">
            <a:avLst/>
          </a:prstGeom>
        </p:spPr>
        <p:txBody>
          <a:bodyPr wrap="square" lIns="0" tIns="1276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5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Identity</a:t>
            </a:r>
            <a:r>
              <a:rPr dirty="0" sz="28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8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access</a:t>
            </a:r>
            <a:r>
              <a:rPr dirty="0" sz="28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Management</a:t>
            </a:r>
            <a:endParaRPr sz="28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65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below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figure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shows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examples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OAuth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identity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Access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Management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provided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the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providers.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4612640"/>
            <a:ext cx="12035790" cy="2160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Oauth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open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standard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authorization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allows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owners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share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their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private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2000" b="1">
                <a:latin typeface="Calibri"/>
                <a:cs typeface="Calibri"/>
              </a:rPr>
              <a:t>stored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site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other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site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without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handling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out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credentials.</a:t>
            </a:r>
            <a:endParaRPr sz="20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Oauth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(which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resource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owner)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requests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access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controlled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by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owner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(but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hosted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server),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owner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grants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permission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access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in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form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token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matched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shared-secret.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35" b="1">
                <a:latin typeface="Calibri"/>
                <a:cs typeface="Calibri"/>
              </a:rPr>
              <a:t>Tokens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issued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restricted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scope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limited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lifetime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revoked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independently.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70632" y="1815083"/>
            <a:ext cx="5949696" cy="2866644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-159639"/>
            <a:ext cx="60566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66816"/>
            <a:ext cx="12035155" cy="2814320"/>
          </a:xfrm>
          <a:prstGeom prst="rect">
            <a:avLst/>
          </a:prstGeom>
        </p:spPr>
        <p:txBody>
          <a:bodyPr wrap="square" lIns="0" tIns="2330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35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Identity</a:t>
            </a:r>
            <a:r>
              <a:rPr dirty="0" sz="28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8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access</a:t>
            </a:r>
            <a:r>
              <a:rPr dirty="0" sz="28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Management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6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RBAC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approach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restricting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access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authorized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users.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below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figure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shows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example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typical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RBAC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framework.</a:t>
            </a:r>
            <a:endParaRPr sz="20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who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wants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access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resources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required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send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his/her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administrator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who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assigns</a:t>
            </a:r>
            <a:r>
              <a:rPr dirty="0" sz="2000" spc="20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permissions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access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control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policies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which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20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stored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0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</a:t>
            </a:r>
            <a:r>
              <a:rPr dirty="0" sz="2000" spc="20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Roles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20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Access</a:t>
            </a:r>
            <a:r>
              <a:rPr dirty="0" sz="2000" spc="204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Policies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databases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respectively.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7649" y="3179005"/>
            <a:ext cx="4819274" cy="343363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-76961"/>
            <a:ext cx="605663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25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610057"/>
            <a:ext cx="12035790" cy="36601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Service</a:t>
            </a:r>
            <a:r>
              <a:rPr dirty="0" sz="2800" spc="-8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Level</a:t>
            </a:r>
            <a:r>
              <a:rPr dirty="0" sz="28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Agreement</a:t>
            </a:r>
            <a:endParaRPr sz="28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186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Level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Agreement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(SLA)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 cloud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specifies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level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formally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defined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part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 </a:t>
            </a:r>
            <a:r>
              <a:rPr dirty="0" sz="2000" spc="-25" b="1">
                <a:latin typeface="Calibri"/>
                <a:cs typeface="Calibri"/>
              </a:rPr>
              <a:t>the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contract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provider.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SLAs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level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each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specified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form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minimum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level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service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dirty="0" sz="2000" spc="-10" b="1">
                <a:latin typeface="Calibri"/>
                <a:cs typeface="Calibri"/>
              </a:rPr>
              <a:t>guaranteed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target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level.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SLAs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contain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number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performance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metrics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corresponding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objectives.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below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table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lists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common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crireria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SLAs.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04872" y="4088891"/>
            <a:ext cx="6943344" cy="2666997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2764" y="-48945"/>
            <a:ext cx="605409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6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30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pc="-16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4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4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273004"/>
            <a:ext cx="12035790" cy="6153150"/>
          </a:xfrm>
          <a:prstGeom prst="rect">
            <a:avLst/>
          </a:prstGeom>
        </p:spPr>
        <p:txBody>
          <a:bodyPr wrap="square" lIns="0" tIns="1270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0"/>
              </a:spcBef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Billing</a:t>
            </a:r>
            <a:endParaRPr sz="2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5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providers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offer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number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billing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models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described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follows:</a:t>
            </a:r>
            <a:endParaRPr sz="2000">
              <a:latin typeface="Calibri"/>
              <a:cs typeface="Calibri"/>
            </a:endParaRPr>
          </a:p>
          <a:p>
            <a:pPr lvl="1" marL="1001394" indent="-457200">
              <a:lnSpc>
                <a:spcPct val="100000"/>
              </a:lnSpc>
              <a:spcBef>
                <a:spcPts val="1175"/>
              </a:spcBef>
              <a:buFont typeface="Wingdings"/>
              <a:buChar char=""/>
              <a:tabLst>
                <a:tab pos="1001394" algn="l"/>
              </a:tabLst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Elastic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Pricing</a:t>
            </a:r>
            <a:endParaRPr sz="2400">
              <a:latin typeface="Calibri"/>
              <a:cs typeface="Calibri"/>
            </a:endParaRPr>
          </a:p>
          <a:p>
            <a:pPr lvl="1" marL="1001394" indent="-4572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1001394" algn="l"/>
              </a:tabLst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Fixed</a:t>
            </a:r>
            <a:r>
              <a:rPr dirty="0" sz="2400" spc="-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Pricing</a:t>
            </a:r>
            <a:endParaRPr sz="2400">
              <a:latin typeface="Calibri"/>
              <a:cs typeface="Calibri"/>
            </a:endParaRPr>
          </a:p>
          <a:p>
            <a:pPr lvl="1" marL="1001394" indent="-457200">
              <a:lnSpc>
                <a:spcPct val="100000"/>
              </a:lnSpc>
              <a:spcBef>
                <a:spcPts val="1200"/>
              </a:spcBef>
              <a:buFont typeface="Wingdings"/>
              <a:buChar char=""/>
              <a:tabLst>
                <a:tab pos="1001394" algn="l"/>
              </a:tabLst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Spot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Pricing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5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Elastic</a:t>
            </a:r>
            <a:r>
              <a:rPr dirty="0" sz="24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Pricing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82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Elastic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pricing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 spc="-30" b="1">
                <a:latin typeface="Calibri"/>
                <a:cs typeface="Calibri"/>
              </a:rPr>
              <a:t>Pay-</a:t>
            </a:r>
            <a:r>
              <a:rPr dirty="0" sz="2000" spc="-10" b="1">
                <a:latin typeface="Calibri"/>
                <a:cs typeface="Calibri"/>
              </a:rPr>
              <a:t>as-you-</a:t>
            </a:r>
            <a:r>
              <a:rPr dirty="0" sz="2000" b="1">
                <a:latin typeface="Calibri"/>
                <a:cs typeface="Calibri"/>
              </a:rPr>
              <a:t>use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pricing</a:t>
            </a:r>
            <a:r>
              <a:rPr dirty="0" sz="2000" spc="20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model,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customers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charged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usage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cloud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dirty="0" sz="2000" spc="-10" b="1">
                <a:latin typeface="Calibri"/>
                <a:cs typeface="Calibri"/>
              </a:rPr>
              <a:t>resources.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40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computing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benefit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provision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demand.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000" spc="-10" b="1">
                <a:latin typeface="Calibri"/>
                <a:cs typeface="Calibri"/>
              </a:rPr>
              <a:t>On-</a:t>
            </a:r>
            <a:r>
              <a:rPr dirty="0" sz="2000" b="1">
                <a:latin typeface="Calibri"/>
                <a:cs typeface="Calibri"/>
              </a:rPr>
              <a:t>demand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provisioning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elastic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pricing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models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bring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cost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savings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customers.</a:t>
            </a:r>
            <a:endParaRPr sz="20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000">
                <a:latin typeface="Calibri"/>
                <a:cs typeface="Calibri"/>
              </a:rPr>
              <a:t>Elastic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pricing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suited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customers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who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consume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resources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short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durations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who </a:t>
            </a:r>
            <a:r>
              <a:rPr dirty="0" sz="2000" b="1">
                <a:latin typeface="Calibri"/>
                <a:cs typeface="Calibri"/>
              </a:rPr>
              <a:t>cannot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predict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usage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beforehand.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00805" y="-108457"/>
            <a:ext cx="5393690" cy="94869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z="320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20" b="0">
                <a:solidFill>
                  <a:srgbClr val="000000"/>
                </a:solidFill>
                <a:latin typeface="Calibri Light"/>
                <a:cs typeface="Calibri Light"/>
              </a:rPr>
              <a:t>Concepts</a:t>
            </a:r>
            <a:r>
              <a:rPr dirty="0" sz="320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z="3200" spc="-14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30" b="0">
                <a:solidFill>
                  <a:srgbClr val="000000"/>
                </a:solidFill>
                <a:latin typeface="Calibri Light"/>
                <a:cs typeface="Calibri Light"/>
              </a:rPr>
              <a:t>Technologies</a:t>
            </a:r>
            <a:endParaRPr sz="3200">
              <a:latin typeface="Calibri Light"/>
              <a:cs typeface="Calibri Light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dirty="0" sz="2800" spc="-10"/>
              <a:t>Billing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78739" y="709513"/>
            <a:ext cx="12036425" cy="3796665"/>
          </a:xfrm>
          <a:prstGeom prst="rect">
            <a:avLst/>
          </a:prstGeom>
        </p:spPr>
        <p:txBody>
          <a:bodyPr wrap="square" lIns="0" tIns="1206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Fixed</a:t>
            </a:r>
            <a:r>
              <a:rPr dirty="0" sz="2400" spc="-10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Pricing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fixed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pricing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models,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customers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are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charged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fixed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amount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per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month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resources.</a:t>
            </a:r>
            <a:endParaRPr sz="1800">
              <a:latin typeface="Calibri"/>
              <a:cs typeface="Calibri"/>
            </a:endParaRPr>
          </a:p>
          <a:p>
            <a:pPr marL="469900" marR="5080" indent="-4572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2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eg:</a:t>
            </a:r>
            <a:r>
              <a:rPr dirty="0" sz="1800" spc="2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Fixed</a:t>
            </a:r>
            <a:r>
              <a:rPr dirty="0" sz="1800" spc="2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amount</a:t>
            </a:r>
            <a:r>
              <a:rPr dirty="0" sz="1800" spc="20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2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22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charged</a:t>
            </a:r>
            <a:r>
              <a:rPr dirty="0" sz="1800" spc="2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per</a:t>
            </a:r>
            <a:r>
              <a:rPr dirty="0" sz="1800" spc="2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month</a:t>
            </a:r>
            <a:r>
              <a:rPr dirty="0" sz="1800" spc="2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2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2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running</a:t>
            </a:r>
            <a:r>
              <a:rPr dirty="0" sz="1800" spc="2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2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virtual</a:t>
            </a:r>
            <a:r>
              <a:rPr dirty="0" sz="1800" spc="2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machine</a:t>
            </a:r>
            <a:r>
              <a:rPr dirty="0" sz="1800" spc="2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instance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 spc="21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irrespective</a:t>
            </a:r>
            <a:r>
              <a:rPr dirty="0" sz="1800" spc="2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2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2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actual usage.</a:t>
            </a:r>
            <a:endParaRPr sz="1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1800">
                <a:latin typeface="Calibri"/>
                <a:cs typeface="Calibri"/>
              </a:rPr>
              <a:t>Fixed</a:t>
            </a:r>
            <a:r>
              <a:rPr dirty="0" sz="1800" spc="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pricing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model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suited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customers</a:t>
            </a:r>
            <a:r>
              <a:rPr dirty="0" sz="1800" spc="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who</a:t>
            </a:r>
            <a:r>
              <a:rPr dirty="0" sz="1800" spc="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want</a:t>
            </a:r>
            <a:r>
              <a:rPr dirty="0" sz="1800" spc="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use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resources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longer</a:t>
            </a:r>
            <a:r>
              <a:rPr dirty="0" sz="1800" spc="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durations</a:t>
            </a:r>
            <a:r>
              <a:rPr dirty="0" sz="1800" spc="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want</a:t>
            </a:r>
            <a:r>
              <a:rPr dirty="0" sz="1800" spc="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more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control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ts val="2145"/>
              </a:lnSpc>
            </a:pPr>
            <a:r>
              <a:rPr dirty="0" sz="1800" b="1">
                <a:latin typeface="Calibri"/>
                <a:cs typeface="Calibri"/>
              </a:rPr>
              <a:t>over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expenses.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ts val="2865"/>
              </a:lnSpc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Spot</a:t>
            </a:r>
            <a:r>
              <a:rPr dirty="0" sz="24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Pricing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3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1800" b="1">
                <a:latin typeface="Calibri"/>
                <a:cs typeface="Calibri"/>
              </a:rPr>
              <a:t>Spot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pricing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models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offer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variables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pricing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resources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which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driven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market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demand.</a:t>
            </a:r>
            <a:endParaRPr sz="1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1800" b="1">
                <a:latin typeface="Calibri"/>
                <a:cs typeface="Calibri"/>
              </a:rPr>
              <a:t>When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demand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-10" b="1">
                <a:latin typeface="Calibri"/>
                <a:cs typeface="Calibri"/>
              </a:rPr>
              <a:t> resources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high,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prices</a:t>
            </a:r>
            <a:r>
              <a:rPr dirty="0" sz="1800" spc="-10" b="1">
                <a:latin typeface="Calibri"/>
                <a:cs typeface="Calibri"/>
              </a:rPr>
              <a:t> increase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1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when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demand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lower,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prices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decrease.</a:t>
            </a:r>
            <a:endParaRPr sz="1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below</a:t>
            </a:r>
            <a:r>
              <a:rPr dirty="0" sz="1800" spc="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table</a:t>
            </a:r>
            <a:r>
              <a:rPr dirty="0" sz="1800" spc="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lists</a:t>
            </a:r>
            <a:r>
              <a:rPr dirty="0" sz="1800" spc="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billable</a:t>
            </a:r>
            <a:r>
              <a:rPr dirty="0" sz="1800" spc="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resources</a:t>
            </a:r>
            <a:r>
              <a:rPr dirty="0" sz="1800" spc="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including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virtual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machines,</a:t>
            </a:r>
            <a:r>
              <a:rPr dirty="0" sz="1800" spc="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network.,</a:t>
            </a:r>
            <a:r>
              <a:rPr dirty="0" sz="1800" spc="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storage,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data</a:t>
            </a:r>
            <a:r>
              <a:rPr dirty="0" sz="1800" spc="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services,</a:t>
            </a:r>
            <a:r>
              <a:rPr dirty="0" sz="1800" spc="1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security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dirty="0" sz="1800" b="1">
                <a:latin typeface="Calibri"/>
                <a:cs typeface="Calibri"/>
              </a:rPr>
              <a:t>services,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support,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application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services,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deployment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management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services.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5223" y="4599431"/>
            <a:ext cx="5410578" cy="2258566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50617" y="-48945"/>
            <a:ext cx="6896100" cy="5746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pc="-18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Based</a:t>
            </a:r>
            <a:r>
              <a:rPr dirty="0" spc="-18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Services</a:t>
            </a:r>
            <a:r>
              <a:rPr dirty="0" spc="-18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pc="-18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pc="-10" b="0">
                <a:solidFill>
                  <a:srgbClr val="000000"/>
                </a:solidFill>
                <a:latin typeface="Calibri Light"/>
                <a:cs typeface="Calibri Light"/>
              </a:rPr>
              <a:t>Applications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79501"/>
            <a:ext cx="12034520" cy="63525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285115" algn="l"/>
              </a:tabLst>
            </a:pPr>
            <a:r>
              <a:rPr dirty="0" sz="2000" b="1">
                <a:latin typeface="Calibri"/>
                <a:cs typeface="Calibri"/>
              </a:rPr>
              <a:t>Some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examples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are: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0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Computing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dirty="0" sz="20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Healthcare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figure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application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computing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environments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600"/>
              </a:spcBef>
            </a:pP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healthcare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ecosystem.</a:t>
            </a:r>
            <a:endParaRPr sz="2000">
              <a:latin typeface="Calibri"/>
              <a:cs typeface="Calibri"/>
            </a:endParaRPr>
          </a:p>
          <a:p>
            <a:pPr marL="355600" marR="4705350" indent="-342900">
              <a:lnSpc>
                <a:spcPct val="125000"/>
              </a:lnSpc>
              <a:spcBef>
                <a:spcPts val="6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Hospitals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affiliated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providers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securely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patient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hospitals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physicians.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>
                <a:latin typeface="Calibri"/>
                <a:cs typeface="Calibri"/>
              </a:rPr>
              <a:t>Patients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own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health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information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care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600"/>
              </a:spcBef>
            </a:pPr>
            <a:r>
              <a:rPr dirty="0" sz="2000" spc="-10">
                <a:latin typeface="Calibri"/>
                <a:cs typeface="Calibri"/>
              </a:rPr>
              <a:t>providers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personal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health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record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(PHR)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PHR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vehicle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e-</a:t>
            </a:r>
            <a:r>
              <a:rPr dirty="0" sz="2000">
                <a:latin typeface="Calibri"/>
                <a:cs typeface="Calibri"/>
              </a:rPr>
              <a:t>prescribing,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technique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known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35">
                <a:latin typeface="Calibri"/>
                <a:cs typeface="Calibri"/>
              </a:rPr>
              <a:t>to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reduce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medication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dispensing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errors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facilitate medication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reconciliation.</a:t>
            </a:r>
            <a:endParaRPr sz="2000">
              <a:latin typeface="Calibri"/>
              <a:cs typeface="Calibri"/>
            </a:endParaRPr>
          </a:p>
          <a:p>
            <a:pPr marL="355600" marR="5715" indent="-342900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History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information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stored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streamline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admissions,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care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discharege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by </a:t>
            </a:r>
            <a:r>
              <a:rPr dirty="0" sz="2000">
                <a:latin typeface="Calibri"/>
                <a:cs typeface="Calibri"/>
              </a:rPr>
              <a:t>eliminating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redundant</a:t>
            </a:r>
            <a:r>
              <a:rPr dirty="0" sz="2000" spc="-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collection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entry.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Health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payers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increase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effectiveness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lower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cost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management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programs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providing </a:t>
            </a:r>
            <a:r>
              <a:rPr dirty="0" sz="2000">
                <a:latin typeface="Calibri"/>
                <a:cs typeface="Calibri"/>
              </a:rPr>
              <a:t>value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added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services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giving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health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information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members.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58970" y="967739"/>
            <a:ext cx="4133029" cy="3829812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2473" y="-81279"/>
            <a:ext cx="616140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z="320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Based</a:t>
            </a:r>
            <a:r>
              <a:rPr dirty="0" sz="3200" spc="-14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Services</a:t>
            </a:r>
            <a:r>
              <a:rPr dirty="0" sz="3200" spc="-15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z="3200" spc="-12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Applications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503679"/>
            <a:ext cx="12035790" cy="4091304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0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Computing</a:t>
            </a:r>
            <a:r>
              <a:rPr dirty="0" sz="20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dirty="0" sz="20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Energy</a:t>
            </a:r>
            <a:r>
              <a:rPr dirty="0" sz="20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Systems</a:t>
            </a:r>
            <a:endParaRPr sz="2000">
              <a:latin typeface="Calibri"/>
              <a:cs typeface="Calibri"/>
            </a:endParaRPr>
          </a:p>
          <a:p>
            <a:pPr marL="469900" marR="7620" indent="-457200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1800">
                <a:latin typeface="Calibri"/>
                <a:cs typeface="Calibri"/>
              </a:rPr>
              <a:t>Energy</a:t>
            </a:r>
            <a:r>
              <a:rPr dirty="0" sz="1800" spc="25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systems</a:t>
            </a:r>
            <a:r>
              <a:rPr dirty="0" sz="1800" spc="2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such</a:t>
            </a:r>
            <a:r>
              <a:rPr dirty="0" sz="1800" spc="25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2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Smart</a:t>
            </a:r>
            <a:r>
              <a:rPr dirty="0" sz="1800" spc="2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Grids,</a:t>
            </a:r>
            <a:r>
              <a:rPr dirty="0" sz="1800" spc="2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Power</a:t>
            </a:r>
            <a:r>
              <a:rPr dirty="0" sz="1800" spc="2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Plants,</a:t>
            </a:r>
            <a:r>
              <a:rPr dirty="0" sz="1800" spc="2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Wind</a:t>
            </a:r>
            <a:r>
              <a:rPr dirty="0" sz="1800" spc="2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Turbine</a:t>
            </a:r>
            <a:r>
              <a:rPr dirty="0" sz="1800" spc="25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etc.</a:t>
            </a:r>
            <a:r>
              <a:rPr dirty="0" sz="1800" spc="254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have</a:t>
            </a:r>
            <a:r>
              <a:rPr dirty="0" sz="1800" spc="2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thousands</a:t>
            </a:r>
            <a:r>
              <a:rPr dirty="0" sz="1800" spc="2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2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sensors</a:t>
            </a:r>
            <a:r>
              <a:rPr dirty="0" sz="1800" spc="2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2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gather</a:t>
            </a:r>
            <a:r>
              <a:rPr dirty="0" sz="1800" spc="2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real</a:t>
            </a:r>
            <a:r>
              <a:rPr dirty="0" sz="1800" spc="254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time </a:t>
            </a:r>
            <a:r>
              <a:rPr dirty="0" sz="1800" spc="-10">
                <a:latin typeface="Calibri"/>
                <a:cs typeface="Calibri"/>
              </a:rPr>
              <a:t>maintenance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data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continuously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condition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monitoring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failure</a:t>
            </a:r>
            <a:r>
              <a:rPr dirty="0" sz="1800" spc="-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prediction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purposes.</a:t>
            </a:r>
            <a:endParaRPr sz="18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energy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systems</a:t>
            </a:r>
            <a:r>
              <a:rPr dirty="0" sz="1800" spc="3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have</a:t>
            </a:r>
            <a:r>
              <a:rPr dirty="0" sz="1800" spc="3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large</a:t>
            </a:r>
            <a:r>
              <a:rPr dirty="0" sz="1800" spc="3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number</a:t>
            </a:r>
            <a:r>
              <a:rPr dirty="0" sz="1800" spc="2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critical</a:t>
            </a:r>
            <a:r>
              <a:rPr dirty="0" sz="1800" spc="3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components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must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function</a:t>
            </a:r>
            <a:r>
              <a:rPr dirty="0" sz="1800" spc="3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correctly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systems</a:t>
            </a:r>
            <a:r>
              <a:rPr dirty="0" sz="1800" spc="30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can</a:t>
            </a:r>
            <a:endParaRPr sz="18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latin typeface="Calibri"/>
                <a:cs typeface="Calibri"/>
              </a:rPr>
              <a:t>perform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their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operations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correctly.</a:t>
            </a:r>
            <a:endParaRPr sz="1800">
              <a:latin typeface="Calibri"/>
              <a:cs typeface="Calibri"/>
            </a:endParaRPr>
          </a:p>
          <a:p>
            <a:pPr algn="just" marL="469900" marR="5080" indent="-4572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eg: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wind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turbine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has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number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critical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components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like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bearings,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turning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gears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etc.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that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must</a:t>
            </a:r>
            <a:r>
              <a:rPr dirty="0" sz="1800" spc="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monitored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carefully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wear</a:t>
            </a:r>
            <a:r>
              <a:rPr dirty="0" sz="1800" spc="2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2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rear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such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critical</a:t>
            </a:r>
            <a:r>
              <a:rPr dirty="0" sz="1800" spc="2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components</a:t>
            </a:r>
            <a:r>
              <a:rPr dirty="0" sz="1800" spc="3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2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sudden</a:t>
            </a:r>
            <a:r>
              <a:rPr dirty="0" sz="1800" spc="30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change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2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operating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conditions</a:t>
            </a:r>
            <a:r>
              <a:rPr dirty="0" sz="1800" spc="2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machines</a:t>
            </a:r>
            <a:r>
              <a:rPr dirty="0" sz="1800" spc="2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2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result</a:t>
            </a:r>
            <a:r>
              <a:rPr dirty="0" sz="1800" spc="285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in </a:t>
            </a:r>
            <a:r>
              <a:rPr dirty="0" sz="1800">
                <a:latin typeface="Calibri"/>
                <a:cs typeface="Calibri"/>
              </a:rPr>
              <a:t>failures.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systems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such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as</a:t>
            </a:r>
            <a:r>
              <a:rPr dirty="0" sz="1800" spc="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power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grids,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real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time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information</a:t>
            </a:r>
            <a:r>
              <a:rPr dirty="0" sz="1800" spc="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collected</a:t>
            </a:r>
            <a:r>
              <a:rPr dirty="0" sz="1800" spc="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using</a:t>
            </a:r>
            <a:r>
              <a:rPr dirty="0" sz="1800" spc="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specialized</a:t>
            </a:r>
            <a:r>
              <a:rPr dirty="0" sz="1800" spc="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electrical</a:t>
            </a:r>
            <a:r>
              <a:rPr dirty="0" sz="1800" spc="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sensors</a:t>
            </a:r>
            <a:r>
              <a:rPr dirty="0" sz="1800" spc="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called</a:t>
            </a:r>
            <a:r>
              <a:rPr dirty="0" sz="1800" spc="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Phasor </a:t>
            </a:r>
            <a:r>
              <a:rPr dirty="0" sz="1800">
                <a:latin typeface="Calibri"/>
                <a:cs typeface="Calibri"/>
              </a:rPr>
              <a:t>Measurement</a:t>
            </a:r>
            <a:r>
              <a:rPr dirty="0" sz="1800" spc="1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Units</a:t>
            </a:r>
            <a:r>
              <a:rPr dirty="0" sz="1800" spc="1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(PMU)</a:t>
            </a:r>
            <a:r>
              <a:rPr dirty="0" sz="1800" spc="1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at</a:t>
            </a:r>
            <a:r>
              <a:rPr dirty="0" sz="1800" spc="1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7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sub-</a:t>
            </a:r>
            <a:r>
              <a:rPr dirty="0" sz="1800">
                <a:latin typeface="Calibri"/>
                <a:cs typeface="Calibri"/>
              </a:rPr>
              <a:t>stations.</a:t>
            </a:r>
            <a:r>
              <a:rPr dirty="0" sz="1800" spc="1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1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information</a:t>
            </a:r>
            <a:r>
              <a:rPr dirty="0" sz="1800" spc="1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received</a:t>
            </a:r>
            <a:r>
              <a:rPr dirty="0" sz="1800" spc="1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1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PMUs</a:t>
            </a:r>
            <a:r>
              <a:rPr dirty="0" sz="1800" spc="1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must</a:t>
            </a:r>
            <a:r>
              <a:rPr dirty="0" sz="1800" spc="1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1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monitored</a:t>
            </a:r>
            <a:r>
              <a:rPr dirty="0" sz="1800" spc="1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1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real</a:t>
            </a:r>
            <a:r>
              <a:rPr dirty="0" sz="1800" spc="16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time</a:t>
            </a:r>
            <a:r>
              <a:rPr dirty="0" sz="1800" spc="17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for </a:t>
            </a:r>
            <a:r>
              <a:rPr dirty="0" sz="1800">
                <a:latin typeface="Calibri"/>
                <a:cs typeface="Calibri"/>
              </a:rPr>
              <a:t>estimating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state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predicting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failures.</a:t>
            </a:r>
            <a:endParaRPr sz="1800">
              <a:latin typeface="Calibri"/>
              <a:cs typeface="Calibri"/>
            </a:endParaRPr>
          </a:p>
          <a:p>
            <a:pPr algn="just" marL="469900" marR="7620" indent="-457200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1800">
                <a:latin typeface="Calibri"/>
                <a:cs typeface="Calibri"/>
              </a:rPr>
              <a:t>There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3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generic</a:t>
            </a:r>
            <a:r>
              <a:rPr dirty="0" sz="1800" spc="3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framework</a:t>
            </a:r>
            <a:r>
              <a:rPr dirty="0" sz="1800" spc="2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“CloudView”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storage,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processing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30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analysis</a:t>
            </a:r>
            <a:r>
              <a:rPr dirty="0" sz="1800" spc="28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29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massive</a:t>
            </a:r>
            <a:r>
              <a:rPr dirty="0" sz="1800" spc="29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machine</a:t>
            </a:r>
            <a:r>
              <a:rPr dirty="0" sz="1800" spc="30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maintenance</a:t>
            </a:r>
            <a:r>
              <a:rPr dirty="0" sz="1800" spc="300">
                <a:latin typeface="Calibri"/>
                <a:cs typeface="Calibri"/>
              </a:rPr>
              <a:t> </a:t>
            </a:r>
            <a:r>
              <a:rPr dirty="0" sz="1800" spc="-20">
                <a:latin typeface="Calibri"/>
                <a:cs typeface="Calibri"/>
              </a:rPr>
              <a:t>data </a:t>
            </a:r>
            <a:r>
              <a:rPr dirty="0" sz="1800">
                <a:latin typeface="Calibri"/>
                <a:cs typeface="Calibri"/>
              </a:rPr>
              <a:t>collected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from</a:t>
            </a:r>
            <a:r>
              <a:rPr dirty="0" sz="1800" spc="-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large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number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sensors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embedded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industrial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machines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cloud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computing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environment.</a:t>
            </a:r>
            <a:endParaRPr sz="1800">
              <a:latin typeface="Calibri"/>
              <a:cs typeface="Calibri"/>
            </a:endParaRPr>
          </a:p>
          <a:p>
            <a:pPr algn="just" marL="469265" indent="-456565">
              <a:lnSpc>
                <a:spcPct val="100000"/>
              </a:lnSpc>
              <a:spcBef>
                <a:spcPts val="600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below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figure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shows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generic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case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cloud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for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energy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systems.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46932" y="4683250"/>
            <a:ext cx="4875681" cy="2174746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2473" y="15062"/>
            <a:ext cx="616013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r>
              <a:rPr dirty="0" sz="320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Based</a:t>
            </a:r>
            <a:r>
              <a:rPr dirty="0" sz="320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Services</a:t>
            </a:r>
            <a:r>
              <a:rPr dirty="0" sz="320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Applications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506983"/>
            <a:ext cx="509016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469265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Computing</a:t>
            </a:r>
            <a:r>
              <a:rPr dirty="0" sz="20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dirty="0" sz="20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Transportation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36622" y="2714701"/>
            <a:ext cx="7318375" cy="148907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 indent="2854325">
              <a:lnSpc>
                <a:spcPct val="100000"/>
              </a:lnSpc>
              <a:spcBef>
                <a:spcPts val="100"/>
              </a:spcBef>
            </a:pPr>
            <a:r>
              <a:rPr dirty="0" sz="4800" spc="-10">
                <a:solidFill>
                  <a:srgbClr val="001F5F"/>
                </a:solidFill>
              </a:rPr>
              <a:t>Unit-</a:t>
            </a:r>
            <a:r>
              <a:rPr dirty="0" sz="4800" spc="-50">
                <a:solidFill>
                  <a:srgbClr val="001F5F"/>
                </a:solidFill>
              </a:rPr>
              <a:t>2 </a:t>
            </a:r>
            <a:r>
              <a:rPr dirty="0" sz="4800" spc="-40">
                <a:solidFill>
                  <a:srgbClr val="001F5F"/>
                </a:solidFill>
              </a:rPr>
              <a:t>VIRTUALIZATION</a:t>
            </a:r>
            <a:r>
              <a:rPr dirty="0" sz="4800" spc="-114">
                <a:solidFill>
                  <a:srgbClr val="001F5F"/>
                </a:solidFill>
              </a:rPr>
              <a:t> </a:t>
            </a:r>
            <a:r>
              <a:rPr dirty="0" sz="4800">
                <a:solidFill>
                  <a:srgbClr val="001F5F"/>
                </a:solidFill>
              </a:rPr>
              <a:t>FOR</a:t>
            </a:r>
            <a:r>
              <a:rPr dirty="0" sz="4800" spc="-114">
                <a:solidFill>
                  <a:srgbClr val="001F5F"/>
                </a:solidFill>
              </a:rPr>
              <a:t> </a:t>
            </a:r>
            <a:r>
              <a:rPr dirty="0" sz="4800" spc="-10">
                <a:solidFill>
                  <a:srgbClr val="001F5F"/>
                </a:solidFill>
              </a:rPr>
              <a:t>CLOUD</a:t>
            </a:r>
            <a:endParaRPr sz="480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9005" y="15062"/>
            <a:ext cx="371919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30" b="0">
                <a:solidFill>
                  <a:srgbClr val="000000"/>
                </a:solidFill>
                <a:latin typeface="Calibri Light"/>
                <a:cs typeface="Calibri Light"/>
              </a:rPr>
              <a:t>Virtualization</a:t>
            </a:r>
            <a:r>
              <a:rPr dirty="0" sz="3200" spc="-12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20" b="0">
                <a:solidFill>
                  <a:srgbClr val="000000"/>
                </a:solidFill>
                <a:latin typeface="Calibri Light"/>
                <a:cs typeface="Calibri Light"/>
              </a:rPr>
              <a:t>for</a:t>
            </a:r>
            <a:r>
              <a:rPr dirty="0" sz="3200" spc="-12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Cloud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60349"/>
            <a:ext cx="12035790" cy="1790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 technology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 makes it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possible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various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operating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systems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same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at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same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time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increases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utilization,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saves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energy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costs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4123" y="2551176"/>
            <a:ext cx="7862265" cy="3768987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02202" y="15062"/>
            <a:ext cx="439229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NEED</a:t>
            </a:r>
            <a:r>
              <a:rPr dirty="0" sz="3200" spc="-16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FOR</a:t>
            </a:r>
            <a:r>
              <a:rPr dirty="0" sz="3200" spc="-15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50" b="0">
                <a:solidFill>
                  <a:srgbClr val="000000"/>
                </a:solidFill>
                <a:latin typeface="Calibri Light"/>
                <a:cs typeface="Calibri Light"/>
              </a:rPr>
              <a:t>VIRTUALIZATION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60349"/>
            <a:ext cx="12036425" cy="123952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algn="just" marL="352425" marR="5080" indent="-339725">
              <a:lnSpc>
                <a:spcPct val="144200"/>
              </a:lnSpc>
              <a:spcBef>
                <a:spcPts val="23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3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various</a:t>
            </a:r>
            <a:r>
              <a:rPr dirty="0" sz="2000" spc="3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benefits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including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saving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time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energy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decreasing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costs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minimizing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overall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risk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(Saves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Time: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instead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maintaining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3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4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maintain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server,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configuring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server,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saves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power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energy,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costs,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>
                <a:latin typeface="Wingdings"/>
                <a:cs typeface="Wingdings"/>
              </a:rPr>
              <a:t>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Calibri"/>
                <a:cs typeface="Calibri"/>
              </a:rPr>
              <a:t>reduces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overall 	risks)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60679" y="2329942"/>
            <a:ext cx="1131697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467995" indent="-455295">
              <a:lnSpc>
                <a:spcPct val="100000"/>
              </a:lnSpc>
              <a:spcBef>
                <a:spcPts val="105"/>
              </a:spcBef>
              <a:buFont typeface="Wingdings"/>
              <a:buChar char=""/>
              <a:tabLst>
                <a:tab pos="467995" algn="l"/>
              </a:tabLst>
            </a:pP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ability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effectively</a:t>
            </a:r>
            <a:r>
              <a:rPr dirty="0" sz="2000" spc="-10">
                <a:latin typeface="Calibri"/>
                <a:cs typeface="Calibri"/>
              </a:rPr>
              <a:t>.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(Admin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can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concentrate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managing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few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number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of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servers)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11911" y="3328162"/>
            <a:ext cx="11799570" cy="878840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460375" marR="5080" indent="-448309">
              <a:lnSpc>
                <a:spcPct val="144200"/>
              </a:lnSpc>
              <a:spcBef>
                <a:spcPts val="375"/>
              </a:spcBef>
              <a:buFont typeface="Wingdings"/>
              <a:buChar char=""/>
              <a:tabLst>
                <a:tab pos="460375" algn="l"/>
              </a:tabLst>
            </a:pPr>
            <a:r>
              <a:rPr dirty="0" sz="2000" b="1">
                <a:latin typeface="Calibri"/>
                <a:cs typeface="Calibri"/>
              </a:rPr>
              <a:t>Increases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productivity,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secure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remote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access</a:t>
            </a:r>
            <a:r>
              <a:rPr dirty="0" sz="1600">
                <a:latin typeface="Calibri"/>
                <a:cs typeface="Calibri"/>
              </a:rPr>
              <a:t>.</a:t>
            </a:r>
            <a:r>
              <a:rPr dirty="0" sz="1600" spc="1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(More</a:t>
            </a:r>
            <a:r>
              <a:rPr dirty="0" sz="1600" spc="1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number</a:t>
            </a:r>
            <a:r>
              <a:rPr dirty="0" sz="1600" spc="1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1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users</a:t>
            </a:r>
            <a:r>
              <a:rPr dirty="0" sz="1600" spc="1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can</a:t>
            </a:r>
            <a:r>
              <a:rPr dirty="0" sz="1600" spc="1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access</a:t>
            </a:r>
            <a:r>
              <a:rPr dirty="0" sz="1600" spc="1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their</a:t>
            </a:r>
            <a:r>
              <a:rPr dirty="0" sz="1600" spc="1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own</a:t>
            </a:r>
            <a:r>
              <a:rPr dirty="0" sz="1600" spc="1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VM</a:t>
            </a:r>
            <a:r>
              <a:rPr dirty="0" sz="1600" spc="1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135">
                <a:latin typeface="Calibri"/>
                <a:cs typeface="Calibri"/>
              </a:rPr>
              <a:t> </a:t>
            </a:r>
            <a:r>
              <a:rPr dirty="0" sz="1600" spc="-50">
                <a:latin typeface="Calibri"/>
                <a:cs typeface="Calibri"/>
              </a:rPr>
              <a:t>a </a:t>
            </a:r>
            <a:r>
              <a:rPr dirty="0" sz="1600">
                <a:latin typeface="Calibri"/>
                <a:cs typeface="Calibri"/>
              </a:rPr>
              <a:t>single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server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more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secured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35">
                <a:latin typeface="Calibri"/>
                <a:cs typeface="Calibri"/>
              </a:rPr>
              <a:t>way.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Complete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VM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given,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access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within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organization,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while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roaming,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at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home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secured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way)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311911" y="4880813"/>
            <a:ext cx="11803380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0375" marR="5080" indent="-448309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460375" algn="l"/>
              </a:tabLst>
            </a:pP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loss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prevention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(No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data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leakage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users,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Complete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control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individual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VM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complete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given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secured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way)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2278" rIns="0" bIns="0" rtlCol="0" vert="horz">
            <a:spAutoFit/>
          </a:bodyPr>
          <a:lstStyle/>
          <a:p>
            <a:pPr marL="3836035">
              <a:lnSpc>
                <a:spcPct val="100000"/>
              </a:lnSpc>
              <a:spcBef>
                <a:spcPts val="105"/>
              </a:spcBef>
            </a:pP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NEED</a:t>
            </a:r>
            <a:r>
              <a:rPr dirty="0" sz="3200" spc="-16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FOR</a:t>
            </a:r>
            <a:r>
              <a:rPr dirty="0" sz="3200" spc="-15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50" b="0">
                <a:solidFill>
                  <a:srgbClr val="000000"/>
                </a:solidFill>
                <a:latin typeface="Calibri Light"/>
                <a:cs typeface="Calibri Light"/>
              </a:rPr>
              <a:t>VIRTUALIZATION</a:t>
            </a:r>
            <a:endParaRPr sz="3200">
              <a:latin typeface="Calibri Light"/>
              <a:cs typeface="Calibri Light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6020" y="15062"/>
            <a:ext cx="577532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20" b="0">
                <a:solidFill>
                  <a:srgbClr val="000000"/>
                </a:solidFill>
                <a:latin typeface="Calibri Light"/>
                <a:cs typeface="Calibri Light"/>
              </a:rPr>
              <a:t>What</a:t>
            </a:r>
            <a:r>
              <a:rPr dirty="0" sz="3200" spc="-9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50" b="0">
                <a:solidFill>
                  <a:srgbClr val="000000"/>
                </a:solidFill>
                <a:latin typeface="Calibri Light"/>
                <a:cs typeface="Calibri Light"/>
              </a:rPr>
              <a:t>makes</a:t>
            </a:r>
            <a:r>
              <a:rPr dirty="0" sz="3200" spc="-10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30" b="0">
                <a:solidFill>
                  <a:srgbClr val="000000"/>
                </a:solidFill>
                <a:latin typeface="Calibri Light"/>
                <a:cs typeface="Calibri Light"/>
              </a:rPr>
              <a:t>virtualization</a:t>
            </a:r>
            <a:r>
              <a:rPr dirty="0" sz="3200" spc="-12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possible?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60349"/>
            <a:ext cx="12034520" cy="28168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2425" marR="5080" indent="-339725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software</a:t>
            </a:r>
            <a:r>
              <a:rPr dirty="0" sz="2000" spc="45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makes</a:t>
            </a:r>
            <a:r>
              <a:rPr dirty="0" sz="2000" spc="4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virtualization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possible</a:t>
            </a:r>
            <a:r>
              <a:rPr dirty="0" sz="2000" spc="45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4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known</a:t>
            </a:r>
            <a:r>
              <a:rPr dirty="0" sz="2000" spc="4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4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44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Hypervisor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4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4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known</a:t>
            </a:r>
            <a:r>
              <a:rPr dirty="0" sz="2000" spc="4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4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450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Virtualization 	Manager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22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471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Hypervisor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sits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between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operating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assigns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amount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access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the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operating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systems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have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processor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other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</a:t>
            </a:r>
            <a:r>
              <a:rPr dirty="0" sz="1600" spc="-10">
                <a:latin typeface="Calibri"/>
                <a:cs typeface="Calibri"/>
              </a:rPr>
              <a:t>.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(Hypervisor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assigns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the </a:t>
            </a:r>
            <a:r>
              <a:rPr dirty="0" sz="1600" spc="-25">
                <a:latin typeface="Calibri"/>
                <a:cs typeface="Calibri"/>
              </a:rPr>
              <a:t>	</a:t>
            </a:r>
            <a:r>
              <a:rPr dirty="0" sz="1600">
                <a:latin typeface="Calibri"/>
                <a:cs typeface="Calibri"/>
              </a:rPr>
              <a:t>CPU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other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hardware resources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needed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run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&amp;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app)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1700" y="3567684"/>
            <a:ext cx="7156565" cy="3044952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2278" rIns="0" bIns="0" rtlCol="0" vert="horz">
            <a:spAutoFit/>
          </a:bodyPr>
          <a:lstStyle/>
          <a:p>
            <a:pPr marL="3905885">
              <a:lnSpc>
                <a:spcPct val="100000"/>
              </a:lnSpc>
              <a:spcBef>
                <a:spcPts val="105"/>
              </a:spcBef>
            </a:pP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TYPES</a:t>
            </a:r>
            <a:r>
              <a:rPr dirty="0" sz="320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50" b="0">
                <a:solidFill>
                  <a:srgbClr val="000000"/>
                </a:solidFill>
                <a:latin typeface="Calibri Light"/>
                <a:cs typeface="Calibri Light"/>
              </a:rPr>
              <a:t>VIRTUALIZATION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767588"/>
            <a:ext cx="4444365" cy="5543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"/>
              <a:tabLst>
                <a:tab pos="469265" algn="l"/>
              </a:tabLst>
            </a:pP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Hardware/Server</a:t>
            </a:r>
            <a:r>
              <a:rPr dirty="0" sz="24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4"/>
              </a:spcBef>
              <a:buClr>
                <a:srgbClr val="C00000"/>
              </a:buClr>
              <a:buFont typeface="Wingdings"/>
              <a:buChar char=""/>
            </a:pP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Network</a:t>
            </a:r>
            <a:r>
              <a:rPr dirty="0" sz="24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  <a:buClr>
                <a:srgbClr val="C00000"/>
              </a:buClr>
              <a:buFont typeface="Wingdings"/>
              <a:buChar char=""/>
            </a:pP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Storage</a:t>
            </a:r>
            <a:r>
              <a:rPr dirty="0" sz="2400" spc="-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50"/>
              </a:spcBef>
              <a:buClr>
                <a:srgbClr val="C00000"/>
              </a:buClr>
              <a:buFont typeface="Wingdings"/>
              <a:buChar char=""/>
            </a:pP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Memory</a:t>
            </a:r>
            <a:r>
              <a:rPr dirty="0" sz="2400" spc="-8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4"/>
              </a:spcBef>
              <a:buClr>
                <a:srgbClr val="C00000"/>
              </a:buClr>
              <a:buFont typeface="Wingdings"/>
              <a:buChar char=""/>
            </a:pP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Software</a:t>
            </a:r>
            <a:r>
              <a:rPr dirty="0" sz="2400" spc="-1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60"/>
              </a:spcBef>
              <a:buClr>
                <a:srgbClr val="C00000"/>
              </a:buClr>
              <a:buFont typeface="Wingdings"/>
              <a:buChar char=""/>
            </a:pP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Font typeface="Wingdings"/>
              <a:buChar char=""/>
              <a:tabLst>
                <a:tab pos="469265" algn="l"/>
              </a:tabLst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dirty="0" sz="2400" spc="-9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4"/>
              </a:spcBef>
              <a:buClr>
                <a:srgbClr val="C00000"/>
              </a:buClr>
              <a:buFont typeface="Wingdings"/>
              <a:buChar char=""/>
            </a:pP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69265" algn="l"/>
              </a:tabLst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Desktop</a:t>
            </a:r>
            <a:r>
              <a:rPr dirty="0" sz="2400" spc="-10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8144" y="2398776"/>
            <a:ext cx="852678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2305" y="15062"/>
            <a:ext cx="425386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TYPES</a:t>
            </a:r>
            <a:r>
              <a:rPr dirty="0" sz="320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50" b="0">
                <a:solidFill>
                  <a:srgbClr val="000000"/>
                </a:solidFill>
                <a:latin typeface="Calibri Light"/>
                <a:cs typeface="Calibri Light"/>
              </a:rPr>
              <a:t>VIRTUALIZATION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58216"/>
            <a:ext cx="12037060" cy="61436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Hardware/Server</a:t>
            </a:r>
            <a:r>
              <a:rPr dirty="0" sz="2800" spc="-1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endParaRPr sz="2800">
              <a:latin typeface="Calibri"/>
              <a:cs typeface="Calibri"/>
            </a:endParaRPr>
          </a:p>
          <a:p>
            <a:pPr algn="just" marL="351790" marR="5080" indent="-339090">
              <a:lnSpc>
                <a:spcPct val="150000"/>
              </a:lnSpc>
              <a:spcBef>
                <a:spcPts val="88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Server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technique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involves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partitioning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physical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into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number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of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small,</a:t>
            </a:r>
            <a:r>
              <a:rPr dirty="0" sz="2000" spc="4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4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servers</a:t>
            </a:r>
            <a:r>
              <a:rPr dirty="0" sz="2000" spc="3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4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4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help</a:t>
            </a:r>
            <a:r>
              <a:rPr dirty="0" sz="2000" spc="2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3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2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30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3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4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processor</a:t>
            </a:r>
            <a:r>
              <a:rPr dirty="0" sz="2000" spc="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2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25">
                <a:latin typeface="Calibri"/>
                <a:cs typeface="Calibri"/>
              </a:rPr>
              <a:t>  </a:t>
            </a:r>
            <a:r>
              <a:rPr dirty="0" sz="2000" spc="-20">
                <a:latin typeface="Calibri"/>
                <a:cs typeface="Calibri"/>
              </a:rPr>
              <a:t>more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effectively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efficiently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algn="just" marL="351790" marR="6350" indent="-339090">
              <a:lnSpc>
                <a:spcPct val="145800"/>
              </a:lnSpc>
              <a:spcBef>
                <a:spcPts val="19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hypervisor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controls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processor,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memory,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components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allowing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different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OS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same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machine.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(This</a:t>
            </a:r>
            <a:r>
              <a:rPr dirty="0" sz="1400" spc="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hypervisor</a:t>
            </a:r>
            <a:r>
              <a:rPr dirty="0" sz="1400" spc="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s/w</a:t>
            </a:r>
            <a:r>
              <a:rPr dirty="0" sz="1400" spc="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responsible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controlling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allocating</a:t>
            </a:r>
            <a:r>
              <a:rPr dirty="0" sz="1400" spc="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required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percentage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CPU,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memory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other</a:t>
            </a:r>
            <a:r>
              <a:rPr dirty="0" sz="1400" spc="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hardware</a:t>
            </a:r>
            <a:r>
              <a:rPr dirty="0" sz="1400" spc="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resources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to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individual</a:t>
            </a:r>
            <a:r>
              <a:rPr dirty="0" sz="1400" spc="-7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VM)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35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spc="-10">
                <a:latin typeface="Calibri"/>
                <a:cs typeface="Calibri"/>
              </a:rPr>
              <a:t>Hardware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virtualization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further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subdivided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following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types: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2000">
              <a:latin typeface="Calibri"/>
              <a:cs typeface="Calibri"/>
            </a:endParaRPr>
          </a:p>
          <a:p>
            <a:pPr marL="384175" indent="-371475">
              <a:lnSpc>
                <a:spcPct val="100000"/>
              </a:lnSpc>
              <a:buClr>
                <a:srgbClr val="000000"/>
              </a:buClr>
              <a:buFont typeface="Wingdings"/>
              <a:buChar char=""/>
              <a:tabLst>
                <a:tab pos="384175" algn="l"/>
              </a:tabLst>
            </a:pP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Full</a:t>
            </a:r>
            <a:r>
              <a:rPr dirty="0" sz="2000" spc="-1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Virtualization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384175" indent="-371475">
              <a:lnSpc>
                <a:spcPct val="100000"/>
              </a:lnSpc>
              <a:buFont typeface="Wingdings"/>
              <a:buChar char=""/>
              <a:tabLst>
                <a:tab pos="384175" algn="l"/>
              </a:tabLst>
            </a:pP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Para</a:t>
            </a:r>
            <a:r>
              <a:rPr dirty="0" sz="2000" spc="-9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Virtualization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60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384175" indent="-371475">
              <a:lnSpc>
                <a:spcPct val="100000"/>
              </a:lnSpc>
              <a:buFont typeface="Wingdings"/>
              <a:buChar char=""/>
              <a:tabLst>
                <a:tab pos="384175" algn="l"/>
              </a:tabLst>
            </a:pP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Partial</a:t>
            </a:r>
            <a:r>
              <a:rPr dirty="0" sz="2000" spc="-7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Virtualization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2305" y="15062"/>
            <a:ext cx="425386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TYPES</a:t>
            </a:r>
            <a:r>
              <a:rPr dirty="0" sz="320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50" b="0">
                <a:solidFill>
                  <a:srgbClr val="000000"/>
                </a:solidFill>
                <a:latin typeface="Calibri Light"/>
                <a:cs typeface="Calibri Light"/>
              </a:rPr>
              <a:t>VIRTUALIZATION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35128" y="458216"/>
            <a:ext cx="26219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391A"/>
                </a:solidFill>
                <a:latin typeface="Calibri"/>
                <a:cs typeface="Calibri"/>
              </a:rPr>
              <a:t>Full</a:t>
            </a:r>
            <a:r>
              <a:rPr dirty="0" sz="280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391A"/>
                </a:solidFill>
                <a:latin typeface="Calibri"/>
                <a:cs typeface="Calibri"/>
              </a:rPr>
              <a:t>Virtualization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996117"/>
            <a:ext cx="12036425" cy="5239385"/>
          </a:xfrm>
          <a:prstGeom prst="rect">
            <a:avLst/>
          </a:prstGeom>
        </p:spPr>
        <p:txBody>
          <a:bodyPr wrap="square" lIns="0" tIns="26034" rIns="0" bIns="0" rtlCol="0" vert="horz">
            <a:spAutoFit/>
          </a:bodyPr>
          <a:lstStyle/>
          <a:p>
            <a:pPr algn="just" marL="351790" marR="6985" indent="-339090">
              <a:lnSpc>
                <a:spcPct val="145800"/>
              </a:lnSpc>
              <a:spcBef>
                <a:spcPts val="204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3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Full</a:t>
            </a:r>
            <a:r>
              <a:rPr dirty="0" sz="2000" spc="3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3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complete</a:t>
            </a:r>
            <a:r>
              <a:rPr dirty="0" sz="2000" spc="3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simulation</a:t>
            </a:r>
            <a:r>
              <a:rPr dirty="0" sz="2000" spc="4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3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actual</a:t>
            </a:r>
            <a:r>
              <a:rPr dirty="0" sz="2000" spc="3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hardware</a:t>
            </a:r>
            <a:r>
              <a:rPr dirty="0" sz="2000" spc="3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takes</a:t>
            </a:r>
            <a:r>
              <a:rPr dirty="0" sz="2000" spc="3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place.</a:t>
            </a:r>
            <a:r>
              <a:rPr dirty="0" sz="2000" spc="3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3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is,</a:t>
            </a:r>
            <a:r>
              <a:rPr dirty="0" sz="2000" spc="4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hypervisor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complete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abstraction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2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(The</a:t>
            </a:r>
            <a:r>
              <a:rPr dirty="0" sz="1400" spc="1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h/w</a:t>
            </a:r>
            <a:r>
              <a:rPr dirty="0" sz="1400" spc="1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resources</a:t>
            </a:r>
            <a:r>
              <a:rPr dirty="0" sz="1400" spc="1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1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completely</a:t>
            </a:r>
            <a:r>
              <a:rPr dirty="0" sz="1400" spc="1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emulated</a:t>
            </a:r>
            <a:r>
              <a:rPr dirty="0" sz="1400" spc="1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1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each</a:t>
            </a:r>
            <a:r>
              <a:rPr dirty="0" sz="1400" spc="1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individual</a:t>
            </a:r>
            <a:r>
              <a:rPr dirty="0" sz="1400" spc="1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VM’s.</a:t>
            </a:r>
            <a:r>
              <a:rPr dirty="0" sz="1400" spc="1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1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eg:</a:t>
            </a:r>
            <a:r>
              <a:rPr dirty="0" sz="1400" spc="1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VM1,VM2,VM3</a:t>
            </a:r>
            <a:r>
              <a:rPr dirty="0" sz="1400" spc="1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runs</a:t>
            </a:r>
            <a:r>
              <a:rPr dirty="0" sz="1400" spc="1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as</a:t>
            </a:r>
            <a:r>
              <a:rPr dirty="0" sz="1400" spc="1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individual 	machines)</a:t>
            </a:r>
            <a:endParaRPr sz="14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47200"/>
              </a:lnSpc>
              <a:spcBef>
                <a:spcPts val="23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Each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operating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3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unaware</a:t>
            </a:r>
            <a:r>
              <a:rPr dirty="0" sz="2000" spc="3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virtualized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environment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2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therefore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hardware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is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virtualized</a:t>
            </a:r>
            <a:r>
              <a:rPr dirty="0" sz="2000" spc="3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host</a:t>
            </a:r>
            <a:r>
              <a:rPr dirty="0" sz="2000" spc="30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operating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3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3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3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1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3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3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issue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commands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3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what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3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thinks</a:t>
            </a:r>
            <a:r>
              <a:rPr dirty="0" sz="2000" spc="3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3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actual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but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really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just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simulated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devices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created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(guest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not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knowing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running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on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 spc="-10">
                <a:latin typeface="Calibri"/>
                <a:cs typeface="Calibri"/>
              </a:rPr>
              <a:t>virtualized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environment.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just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issue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command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read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or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write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operation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memory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like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original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OS,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which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handled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host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OS)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operating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systems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unaware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each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other.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Each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its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works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just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if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was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running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alone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independent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computers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29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special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modifications</a:t>
            </a:r>
            <a:r>
              <a:rPr dirty="0" sz="2000" spc="-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adaptations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needed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operating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(no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extra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patch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work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needed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guest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OS)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2305" y="15062"/>
            <a:ext cx="425386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TYPES</a:t>
            </a:r>
            <a:r>
              <a:rPr dirty="0" sz="320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50" b="0">
                <a:solidFill>
                  <a:srgbClr val="000000"/>
                </a:solidFill>
                <a:latin typeface="Calibri Light"/>
                <a:cs typeface="Calibri Light"/>
              </a:rPr>
              <a:t>VIRTUALIZATION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648716"/>
            <a:ext cx="12037060" cy="31038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00391A"/>
                </a:solidFill>
                <a:latin typeface="Calibri"/>
                <a:cs typeface="Calibri"/>
              </a:rPr>
              <a:t>Para</a:t>
            </a:r>
            <a:r>
              <a:rPr dirty="0" sz="2800" spc="-1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391A"/>
                </a:solidFill>
                <a:latin typeface="Calibri"/>
                <a:cs typeface="Calibri"/>
              </a:rPr>
              <a:t>virtualization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Para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virtualization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operating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(the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being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virtualized)</a:t>
            </a:r>
            <a:r>
              <a:rPr dirty="0" sz="1600" spc="6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aware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50" b="1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guest.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(aware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not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original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OS.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Each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system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call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replaced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hyper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call.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h/w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resources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are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sharing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among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VM’s)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90"/>
              </a:spcBef>
            </a:pPr>
            <a:endParaRPr sz="1400">
              <a:latin typeface="Calibri"/>
              <a:cs typeface="Calibri"/>
            </a:endParaRPr>
          </a:p>
          <a:p>
            <a:pPr algn="just" marL="352425" marR="6350" indent="-339725">
              <a:lnSpc>
                <a:spcPct val="1458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Para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modify OS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kernel to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replace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 sensitive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instructions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hyper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calls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behaves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like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spc="-50" b="1">
                <a:latin typeface="Calibri"/>
                <a:cs typeface="Calibri"/>
              </a:rPr>
              <a:t>a </a:t>
            </a:r>
            <a:r>
              <a:rPr dirty="0" sz="2000" spc="-5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user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program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making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calls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–</a:t>
            </a:r>
            <a:r>
              <a:rPr dirty="0" sz="2000" spc="1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Hypervisor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executes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privileged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operation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invoked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hyper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</a:t>
            </a:r>
            <a:r>
              <a:rPr dirty="0" sz="1400">
                <a:latin typeface="Calibri"/>
                <a:cs typeface="Calibri"/>
              </a:rPr>
              <a:t>.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(In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para </a:t>
            </a:r>
            <a:r>
              <a:rPr dirty="0" sz="1400" spc="-20">
                <a:latin typeface="Calibri"/>
                <a:cs typeface="Calibri"/>
              </a:rPr>
              <a:t>	</a:t>
            </a:r>
            <a:r>
              <a:rPr dirty="0" sz="1400" spc="-10">
                <a:latin typeface="Calibri"/>
                <a:cs typeface="Calibri"/>
              </a:rPr>
              <a:t>virtualization,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all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system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call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guest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replaced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hyper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call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which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call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hypervisor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which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turn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makes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system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call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access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h/w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resources)</a:t>
            </a:r>
            <a:endParaRPr sz="14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7958" y="4182508"/>
            <a:ext cx="7249605" cy="2518107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2305" y="15062"/>
            <a:ext cx="425386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TYPES</a:t>
            </a:r>
            <a:r>
              <a:rPr dirty="0" sz="320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50" b="0">
                <a:solidFill>
                  <a:srgbClr val="000000"/>
                </a:solidFill>
                <a:latin typeface="Calibri Light"/>
                <a:cs typeface="Calibri Light"/>
              </a:rPr>
              <a:t>VIRTUALIZATION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58216"/>
            <a:ext cx="12036425" cy="57200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2)</a:t>
            </a:r>
            <a:r>
              <a:rPr dirty="0" sz="2800" spc="-8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Network</a:t>
            </a:r>
            <a:r>
              <a:rPr dirty="0" sz="28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endParaRPr sz="28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46100"/>
              </a:lnSpc>
              <a:spcBef>
                <a:spcPts val="37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It </a:t>
            </a:r>
            <a:r>
              <a:rPr dirty="0" sz="2000" spc="-10" b="1">
                <a:latin typeface="Calibri"/>
                <a:cs typeface="Calibri"/>
              </a:rPr>
              <a:t>refers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 the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management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monitoring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 a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computer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single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managerial entity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single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software-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administrator’s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console.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(NV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combine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physical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virtual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network,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divide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physical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separate,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independent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virtual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networks.Creates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virtual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within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physical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management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&amp;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monitoring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functionality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combined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entity,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within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that </a:t>
            </a:r>
            <a:r>
              <a:rPr dirty="0" sz="1200" spc="-2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transfer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takes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place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through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virtual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n/w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without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sharing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VM’s)</a:t>
            </a:r>
            <a:endParaRPr sz="12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50100"/>
              </a:lnSpc>
              <a:spcBef>
                <a:spcPts val="1000"/>
              </a:spcBef>
              <a:buFont typeface="Arial MT"/>
              <a:buChar char="•"/>
              <a:tabLst>
                <a:tab pos="355600" algn="l"/>
                <a:tab pos="410209" algn="l"/>
              </a:tabLst>
            </a:pPr>
            <a:r>
              <a:rPr dirty="0" sz="2000">
                <a:latin typeface="Calibri"/>
                <a:cs typeface="Calibri"/>
              </a:rPr>
              <a:t>	It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4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intended</a:t>
            </a:r>
            <a:r>
              <a:rPr dirty="0" sz="2000" spc="4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4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allow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40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optimization</a:t>
            </a:r>
            <a:r>
              <a:rPr dirty="0" sz="2000" spc="4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4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40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transfer</a:t>
            </a:r>
            <a:r>
              <a:rPr dirty="0" sz="2000" spc="4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rates,</a:t>
            </a:r>
            <a:r>
              <a:rPr dirty="0" sz="2000" spc="4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scalability,</a:t>
            </a:r>
            <a:r>
              <a:rPr dirty="0" sz="2000" spc="3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reliability,</a:t>
            </a:r>
            <a:r>
              <a:rPr dirty="0" sz="2000" spc="4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flexibility,</a:t>
            </a:r>
            <a:r>
              <a:rPr dirty="0" sz="2000" spc="40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and </a:t>
            </a:r>
            <a:r>
              <a:rPr dirty="0" sz="2000" spc="-10" b="1">
                <a:latin typeface="Calibri"/>
                <a:cs typeface="Calibri"/>
              </a:rPr>
              <a:t>security.</a:t>
            </a:r>
            <a:endParaRPr sz="20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50000"/>
              </a:lnSpc>
              <a:spcBef>
                <a:spcPts val="12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3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3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4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specifically</a:t>
            </a:r>
            <a:r>
              <a:rPr dirty="0" sz="2000" spc="4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useful</a:t>
            </a:r>
            <a:r>
              <a:rPr dirty="0" sz="2000" spc="3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4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networks</a:t>
            </a:r>
            <a:r>
              <a:rPr dirty="0" sz="2000" spc="3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experiencing</a:t>
            </a:r>
            <a:r>
              <a:rPr dirty="0" sz="2000" spc="4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3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huge,</a:t>
            </a:r>
            <a:r>
              <a:rPr dirty="0" sz="2000" spc="3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rapid,</a:t>
            </a:r>
            <a:r>
              <a:rPr dirty="0" sz="2000" spc="4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35" b="1">
                <a:latin typeface="Calibri"/>
                <a:cs typeface="Calibri"/>
              </a:rPr>
              <a:t>  </a:t>
            </a:r>
            <a:r>
              <a:rPr dirty="0" sz="2000" spc="-10" b="1">
                <a:latin typeface="Calibri"/>
                <a:cs typeface="Calibri"/>
              </a:rPr>
              <a:t>unpredictable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increase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usage.</a:t>
            </a:r>
            <a:endParaRPr sz="2000">
              <a:latin typeface="Calibri"/>
              <a:cs typeface="Calibri"/>
            </a:endParaRPr>
          </a:p>
          <a:p>
            <a:pPr algn="just" marL="352425" marR="5715" indent="-339725">
              <a:lnSpc>
                <a:spcPct val="138300"/>
              </a:lnSpc>
              <a:spcBef>
                <a:spcPts val="148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intended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result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0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improved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productivity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efficiency.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(Can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network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efficiently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sharing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same network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among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users)</a:t>
            </a:r>
            <a:endParaRPr sz="1200">
              <a:latin typeface="Calibri"/>
              <a:cs typeface="Calibri"/>
            </a:endParaRPr>
          </a:p>
          <a:p>
            <a:pPr algn="just" marL="134620" marR="5715" indent="-121920">
              <a:lnSpc>
                <a:spcPts val="1300"/>
              </a:lnSpc>
              <a:spcBef>
                <a:spcPts val="1840"/>
              </a:spcBef>
            </a:pPr>
            <a:r>
              <a:rPr dirty="0" sz="1200">
                <a:latin typeface="Calibri"/>
                <a:cs typeface="Calibri"/>
              </a:rPr>
              <a:t>(In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virtualization,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sub-</a:t>
            </a:r>
            <a:r>
              <a:rPr dirty="0" sz="1200">
                <a:latin typeface="Calibri"/>
                <a:cs typeface="Calibri"/>
              </a:rPr>
              <a:t>networks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created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same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physical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network.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This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enables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restriction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movement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across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networks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enhances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security,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allows </a:t>
            </a:r>
            <a:r>
              <a:rPr dirty="0" sz="1200">
                <a:latin typeface="Calibri"/>
                <a:cs typeface="Calibri"/>
              </a:rPr>
              <a:t>better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monitoring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identification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 usage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lets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administrator’s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scale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up the network </a:t>
            </a:r>
            <a:r>
              <a:rPr dirty="0" sz="1200" spc="-10">
                <a:latin typeface="Calibri"/>
                <a:cs typeface="Calibri"/>
              </a:rPr>
              <a:t>appropriately.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also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increases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reliability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disruption in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 </a:t>
            </a:r>
            <a:r>
              <a:rPr dirty="0" sz="1200" spc="-10">
                <a:latin typeface="Calibri"/>
                <a:cs typeface="Calibri"/>
              </a:rPr>
              <a:t>doesn’t affect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other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networks,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diagnosis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easier.)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2305" y="15062"/>
            <a:ext cx="425386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TYPES</a:t>
            </a:r>
            <a:r>
              <a:rPr dirty="0" sz="320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50" b="0">
                <a:solidFill>
                  <a:srgbClr val="000000"/>
                </a:solidFill>
                <a:latin typeface="Calibri Light"/>
                <a:cs typeface="Calibri Light"/>
              </a:rPr>
              <a:t>VIRTUALIZATION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612139"/>
            <a:ext cx="8379459" cy="15506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Two</a:t>
            </a:r>
            <a:r>
              <a:rPr dirty="0" sz="2000" spc="-10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categories:</a:t>
            </a:r>
            <a:endParaRPr sz="2000">
              <a:latin typeface="Calibri"/>
              <a:cs typeface="Calibri"/>
            </a:endParaRPr>
          </a:p>
          <a:p>
            <a:pPr lvl="1" marL="528955" indent="-400685">
              <a:lnSpc>
                <a:spcPct val="100000"/>
              </a:lnSpc>
              <a:spcBef>
                <a:spcPts val="2400"/>
              </a:spcBef>
              <a:buFont typeface="Wingdings"/>
              <a:buChar char=""/>
              <a:tabLst>
                <a:tab pos="528955" algn="l"/>
              </a:tabLst>
            </a:pPr>
            <a:r>
              <a:rPr dirty="0" sz="2000" b="1">
                <a:latin typeface="Calibri"/>
                <a:cs typeface="Calibri"/>
              </a:rPr>
              <a:t>Internal: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like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functionality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single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  <a:p>
            <a:pPr lvl="1" marL="528955" indent="-400685">
              <a:lnSpc>
                <a:spcPct val="100000"/>
              </a:lnSpc>
              <a:spcBef>
                <a:spcPts val="2400"/>
              </a:spcBef>
              <a:buFont typeface="Wingdings"/>
              <a:buChar char=""/>
              <a:tabLst>
                <a:tab pos="528955" algn="l"/>
              </a:tabLst>
            </a:pPr>
            <a:r>
              <a:rPr dirty="0" sz="2000" b="1">
                <a:latin typeface="Calibri"/>
                <a:cs typeface="Calibri"/>
              </a:rPr>
              <a:t>External: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Combine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many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networks,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parts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into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unit.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2305" y="15062"/>
            <a:ext cx="425386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TYPES</a:t>
            </a:r>
            <a:r>
              <a:rPr dirty="0" sz="320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50" b="0">
                <a:solidFill>
                  <a:srgbClr val="000000"/>
                </a:solidFill>
                <a:latin typeface="Calibri Light"/>
                <a:cs typeface="Calibri Light"/>
              </a:rPr>
              <a:t>VIRTUALIZATION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58216"/>
            <a:ext cx="38017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3)</a:t>
            </a:r>
            <a:r>
              <a:rPr dirty="0" sz="28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Software</a:t>
            </a:r>
            <a:r>
              <a:rPr dirty="0" sz="28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1122680"/>
            <a:ext cx="1114298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ability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main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computer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create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one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more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environments.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386819" y="1198880"/>
            <a:ext cx="72707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>
                <a:latin typeface="Calibri"/>
                <a:cs typeface="Calibri"/>
              </a:rPr>
              <a:t>(Software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78739" y="1448155"/>
            <a:ext cx="12034520" cy="22726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>
              <a:lnSpc>
                <a:spcPct val="150000"/>
              </a:lnSpc>
              <a:spcBef>
                <a:spcPts val="100"/>
              </a:spcBef>
            </a:pPr>
            <a:r>
              <a:rPr dirty="0" sz="1400">
                <a:latin typeface="Calibri"/>
                <a:cs typeface="Calibri"/>
              </a:rPr>
              <a:t>Virtualization involves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 creation of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operation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multiple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virtual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environments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host machine,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running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multiple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softwares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 a single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server,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running </a:t>
            </a:r>
            <a:r>
              <a:rPr dirty="0" sz="1400">
                <a:latin typeface="Calibri"/>
                <a:cs typeface="Calibri"/>
              </a:rPr>
              <a:t>guest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main</a:t>
            </a:r>
            <a:r>
              <a:rPr dirty="0" sz="1400" spc="-25">
                <a:latin typeface="Calibri"/>
                <a:cs typeface="Calibri"/>
              </a:rPr>
              <a:t> OS)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enable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complete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computer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order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allow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run.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1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instance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letting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Linux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natively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running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Microsoft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Windows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(or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vice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versa,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5"/>
              </a:spcBef>
            </a:pPr>
            <a:r>
              <a:rPr dirty="0" sz="2000">
                <a:latin typeface="Calibri"/>
                <a:cs typeface="Calibri"/>
              </a:rPr>
              <a:t>running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Windows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guest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Linux).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8739" y="4239895"/>
            <a:ext cx="12035790" cy="2336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" b="1">
                <a:latin typeface="Calibri"/>
                <a:cs typeface="Calibri"/>
              </a:rPr>
              <a:t>Types:</a:t>
            </a:r>
            <a:endParaRPr sz="2000">
              <a:latin typeface="Calibri"/>
              <a:cs typeface="Calibri"/>
            </a:endParaRPr>
          </a:p>
          <a:p>
            <a:pPr marL="411480" indent="-398780">
              <a:lnSpc>
                <a:spcPct val="100000"/>
              </a:lnSpc>
              <a:spcBef>
                <a:spcPts val="1830"/>
              </a:spcBef>
              <a:buClr>
                <a:srgbClr val="000000"/>
              </a:buClr>
              <a:buFont typeface="Wingdings"/>
              <a:buChar char=""/>
              <a:tabLst>
                <a:tab pos="411480" algn="l"/>
              </a:tabLst>
            </a:pP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Operating</a:t>
            </a:r>
            <a:r>
              <a:rPr dirty="0" sz="2000" spc="-6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System</a:t>
            </a:r>
            <a:r>
              <a:rPr dirty="0" sz="2000" spc="-8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(hosting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multiple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OS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native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OS)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84"/>
              </a:spcBef>
              <a:buFont typeface="Wingdings"/>
              <a:buChar char=""/>
            </a:pPr>
            <a:endParaRPr sz="1400">
              <a:latin typeface="Calibri"/>
              <a:cs typeface="Calibri"/>
            </a:endParaRPr>
          </a:p>
          <a:p>
            <a:pPr marL="411480" indent="-398780">
              <a:lnSpc>
                <a:spcPct val="100000"/>
              </a:lnSpc>
              <a:buClr>
                <a:srgbClr val="000000"/>
              </a:buClr>
              <a:buFont typeface="Wingdings"/>
              <a:buChar char=""/>
              <a:tabLst>
                <a:tab pos="411480" algn="l"/>
              </a:tabLst>
            </a:pP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Application</a:t>
            </a:r>
            <a:r>
              <a:rPr dirty="0" sz="2000" spc="-6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Virtualization</a:t>
            </a:r>
            <a:r>
              <a:rPr dirty="0" sz="2000" spc="-5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(hosting</a:t>
            </a:r>
            <a:r>
              <a:rPr dirty="0" sz="1400" spc="-10">
                <a:latin typeface="Calibri"/>
                <a:cs typeface="Calibri"/>
              </a:rPr>
              <a:t> individual applications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virtual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environment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separate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native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OS)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0"/>
              </a:spcBef>
              <a:buFont typeface="Wingdings"/>
              <a:buChar char=""/>
            </a:pPr>
            <a:endParaRPr sz="1400">
              <a:latin typeface="Calibri"/>
              <a:cs typeface="Calibri"/>
            </a:endParaRPr>
          </a:p>
          <a:p>
            <a:pPr marL="413384" indent="-400685">
              <a:lnSpc>
                <a:spcPct val="100000"/>
              </a:lnSpc>
              <a:buClr>
                <a:srgbClr val="000000"/>
              </a:buClr>
              <a:buFont typeface="Wingdings"/>
              <a:buChar char=""/>
              <a:tabLst>
                <a:tab pos="413384" algn="l"/>
              </a:tabLst>
            </a:pP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Service</a:t>
            </a:r>
            <a:r>
              <a:rPr dirty="0" sz="2000" spc="16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Virtualization</a:t>
            </a:r>
            <a:r>
              <a:rPr dirty="0" sz="2000" spc="15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(hosting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specific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related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particular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(Web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takes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10">
                <a:latin typeface="Calibri"/>
                <a:cs typeface="Calibri"/>
              </a:rPr>
              <a:t> organization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the</a:t>
            </a:r>
            <a:endParaRPr sz="1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919"/>
              </a:spcBef>
            </a:pPr>
            <a:r>
              <a:rPr dirty="0" sz="1200" spc="-20">
                <a:latin typeface="Calibri"/>
                <a:cs typeface="Calibri"/>
              </a:rPr>
              <a:t>user,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Flow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>
                <a:latin typeface="Wingdings"/>
                <a:cs typeface="Wingdings"/>
              </a:rPr>
              <a:t>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Calibri"/>
                <a:cs typeface="Calibri"/>
              </a:rPr>
              <a:t>Queue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transfer</a:t>
            </a:r>
            <a:r>
              <a:rPr dirty="0" sz="1200" spc="-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data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between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two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VMs,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Map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Reduce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service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runs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either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Mapper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Reducer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VM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etc)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2305" y="15062"/>
            <a:ext cx="425386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TYPES</a:t>
            </a:r>
            <a:r>
              <a:rPr dirty="0" sz="320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50" b="0">
                <a:solidFill>
                  <a:srgbClr val="000000"/>
                </a:solidFill>
                <a:latin typeface="Calibri Light"/>
                <a:cs typeface="Calibri Light"/>
              </a:rPr>
              <a:t>VIRTUALIZATION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58216"/>
            <a:ext cx="12036425" cy="59759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4)</a:t>
            </a:r>
            <a:r>
              <a:rPr dirty="0" sz="28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Storage</a:t>
            </a:r>
            <a:r>
              <a:rPr dirty="0" sz="28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endParaRPr sz="28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45800"/>
              </a:lnSpc>
              <a:spcBef>
                <a:spcPts val="38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Storage</a:t>
            </a:r>
            <a:r>
              <a:rPr dirty="0" sz="2000" spc="3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pooling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physical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storage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3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storage</a:t>
            </a:r>
            <a:r>
              <a:rPr dirty="0" sz="2000" spc="3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devices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into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what </a:t>
            </a:r>
            <a:r>
              <a:rPr dirty="0" sz="2000" spc="-2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appears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single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storage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device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managed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central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console. </a:t>
            </a:r>
            <a:r>
              <a:rPr dirty="0" sz="1050" spc="-20">
                <a:latin typeface="Calibri"/>
                <a:cs typeface="Calibri"/>
              </a:rPr>
              <a:t>(</a:t>
            </a:r>
            <a:r>
              <a:rPr dirty="0" sz="1400" spc="-20">
                <a:latin typeface="Calibri"/>
                <a:cs typeface="Calibri"/>
              </a:rPr>
              <a:t>Storage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Virtualization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process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which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helps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grouping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physical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storage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number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network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storage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devices.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Therefore,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works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single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storage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device.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  <a:p>
            <a:pPr marL="411480" indent="-398780">
              <a:lnSpc>
                <a:spcPct val="100000"/>
              </a:lnSpc>
              <a:spcBef>
                <a:spcPts val="2245"/>
              </a:spcBef>
              <a:buFont typeface="Arial MT"/>
              <a:buChar char="•"/>
              <a:tabLst>
                <a:tab pos="411480" algn="l"/>
              </a:tabLst>
            </a:pP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various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advantages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follows:</a:t>
            </a:r>
            <a:endParaRPr sz="2000">
              <a:latin typeface="Calibri"/>
              <a:cs typeface="Calibri"/>
            </a:endParaRPr>
          </a:p>
          <a:p>
            <a:pPr lvl="1" marL="702310" indent="-290830">
              <a:lnSpc>
                <a:spcPct val="100000"/>
              </a:lnSpc>
              <a:spcBef>
                <a:spcPts val="2400"/>
              </a:spcBef>
              <a:buFont typeface="Wingdings"/>
              <a:buChar char=""/>
              <a:tabLst>
                <a:tab pos="702310" algn="l"/>
              </a:tabLst>
            </a:pPr>
            <a:r>
              <a:rPr dirty="0" sz="2000" b="1">
                <a:latin typeface="Calibri"/>
                <a:cs typeface="Calibri"/>
              </a:rPr>
              <a:t>Improved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storage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management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heterogeneous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environment</a:t>
            </a:r>
            <a:endParaRPr sz="2000">
              <a:latin typeface="Calibri"/>
              <a:cs typeface="Calibri"/>
            </a:endParaRPr>
          </a:p>
          <a:p>
            <a:pPr lvl="1" marL="411480" marR="6350" indent="349250">
              <a:lnSpc>
                <a:spcPct val="138300"/>
              </a:lnSpc>
              <a:spcBef>
                <a:spcPts val="1480"/>
              </a:spcBef>
              <a:buFont typeface="Wingdings"/>
              <a:buChar char=""/>
              <a:tabLst>
                <a:tab pos="760730" algn="l"/>
              </a:tabLst>
            </a:pPr>
            <a:r>
              <a:rPr dirty="0" sz="2000" b="1">
                <a:latin typeface="Calibri"/>
                <a:cs typeface="Calibri"/>
              </a:rPr>
              <a:t>Easy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updates,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better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availability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(by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giving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dedicated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storage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device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individual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server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may</a:t>
            </a:r>
            <a:r>
              <a:rPr dirty="0" sz="1200" spc="-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lead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wastage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storage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space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utilized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100%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shortage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 spc="-10">
                <a:latin typeface="Calibri"/>
                <a:cs typeface="Calibri"/>
              </a:rPr>
              <a:t>storage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storage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space is</a:t>
            </a:r>
            <a:r>
              <a:rPr dirty="0" sz="1200" spc="-10">
                <a:latin typeface="Calibri"/>
                <a:cs typeface="Calibri"/>
              </a:rPr>
              <a:t> required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available)</a:t>
            </a:r>
            <a:endParaRPr sz="1200">
              <a:latin typeface="Calibri"/>
              <a:cs typeface="Calibri"/>
            </a:endParaRPr>
          </a:p>
          <a:p>
            <a:pPr lvl="1" marL="411480" marR="7620" indent="349250">
              <a:lnSpc>
                <a:spcPct val="141500"/>
              </a:lnSpc>
              <a:spcBef>
                <a:spcPts val="1210"/>
              </a:spcBef>
              <a:buFont typeface="Wingdings"/>
              <a:buChar char=""/>
              <a:tabLst>
                <a:tab pos="760730" algn="l"/>
              </a:tabLst>
            </a:pPr>
            <a:r>
              <a:rPr dirty="0" sz="2000" b="1">
                <a:latin typeface="Calibri"/>
                <a:cs typeface="Calibri"/>
              </a:rPr>
              <a:t>Reduced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downtime</a:t>
            </a:r>
            <a:r>
              <a:rPr dirty="0" sz="2000" spc="30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(Some</a:t>
            </a:r>
            <a:r>
              <a:rPr dirty="0" sz="1400" spc="1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technologies</a:t>
            </a:r>
            <a:r>
              <a:rPr dirty="0" sz="1400" spc="1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optimize</a:t>
            </a:r>
            <a:r>
              <a:rPr dirty="0" sz="1400" spc="1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1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performance</a:t>
            </a:r>
            <a:r>
              <a:rPr dirty="0" sz="1400" spc="1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by</a:t>
            </a:r>
            <a:r>
              <a:rPr dirty="0" sz="1400" spc="18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migrating</a:t>
            </a:r>
            <a:r>
              <a:rPr dirty="0" sz="1400" spc="1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1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strategically</a:t>
            </a:r>
            <a:r>
              <a:rPr dirty="0" sz="1400" spc="1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based</a:t>
            </a:r>
            <a:r>
              <a:rPr dirty="0" sz="1400" spc="1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upon</a:t>
            </a:r>
            <a:r>
              <a:rPr dirty="0" sz="1400" spc="18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1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utilization.</a:t>
            </a:r>
            <a:r>
              <a:rPr dirty="0" sz="1400" spc="1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1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instance,</a:t>
            </a:r>
            <a:r>
              <a:rPr dirty="0" sz="1400" spc="160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a </a:t>
            </a:r>
            <a:r>
              <a:rPr dirty="0" sz="1400" spc="-10">
                <a:latin typeface="Calibri"/>
                <a:cs typeface="Calibri"/>
              </a:rPr>
              <a:t>frequently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file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might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stored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high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performance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flash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storage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system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while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rarely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files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will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placed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simply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slower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array.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30"/>
              </a:spcBef>
              <a:buFont typeface="Wingdings"/>
              <a:buChar char=""/>
            </a:pPr>
            <a:endParaRPr sz="1400">
              <a:latin typeface="Calibri"/>
              <a:cs typeface="Calibri"/>
            </a:endParaRPr>
          </a:p>
          <a:p>
            <a:pPr lvl="1" marL="758825" indent="-34734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758825" algn="l"/>
              </a:tabLst>
            </a:pPr>
            <a:r>
              <a:rPr dirty="0" sz="2000" b="1">
                <a:latin typeface="Calibri"/>
                <a:cs typeface="Calibri"/>
              </a:rPr>
              <a:t>Better</a:t>
            </a:r>
            <a:r>
              <a:rPr dirty="0" sz="2000" spc="-10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storage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utilization</a:t>
            </a:r>
            <a:endParaRPr sz="2000">
              <a:latin typeface="Calibri"/>
              <a:cs typeface="Calibri"/>
            </a:endParaRPr>
          </a:p>
          <a:p>
            <a:pPr lvl="1" marL="758825" indent="-347345">
              <a:lnSpc>
                <a:spcPct val="100000"/>
              </a:lnSpc>
              <a:spcBef>
                <a:spcPts val="2400"/>
              </a:spcBef>
              <a:buFont typeface="Wingdings"/>
              <a:buChar char=""/>
              <a:tabLst>
                <a:tab pos="758825" algn="l"/>
              </a:tabLst>
            </a:pPr>
            <a:r>
              <a:rPr dirty="0" sz="2000" spc="-10" b="1">
                <a:latin typeface="Calibri"/>
                <a:cs typeface="Calibri"/>
              </a:rPr>
              <a:t>Automated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management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2305" y="15062"/>
            <a:ext cx="4253865" cy="5143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TYPES</a:t>
            </a:r>
            <a:r>
              <a:rPr dirty="0" sz="320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50" b="0">
                <a:solidFill>
                  <a:srgbClr val="000000"/>
                </a:solidFill>
                <a:latin typeface="Calibri Light"/>
                <a:cs typeface="Calibri Light"/>
              </a:rPr>
              <a:t>VIRTUALIZATION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612139"/>
            <a:ext cx="12034520" cy="21602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 b="1">
                <a:latin typeface="Calibri"/>
                <a:cs typeface="Calibri"/>
              </a:rPr>
              <a:t>Types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Storage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Virtualization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400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2000" spc="-10" b="1">
                <a:latin typeface="Calibri"/>
                <a:cs typeface="Calibri"/>
              </a:rPr>
              <a:t>Block-</a:t>
            </a:r>
            <a:r>
              <a:rPr dirty="0" sz="2000" b="1">
                <a:latin typeface="Calibri"/>
                <a:cs typeface="Calibri"/>
              </a:rPr>
              <a:t>Level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-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 of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virtualization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works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before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 file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exists.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replaces controllers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takes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over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disk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level.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2000" spc="-10" b="1">
                <a:latin typeface="Calibri"/>
                <a:cs typeface="Calibri"/>
              </a:rPr>
              <a:t>File-</a:t>
            </a:r>
            <a:r>
              <a:rPr dirty="0" sz="2000" b="1">
                <a:latin typeface="Calibri"/>
                <a:cs typeface="Calibri"/>
              </a:rPr>
              <a:t>Level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-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server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storage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must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have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software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installed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order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enable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file-</a:t>
            </a:r>
            <a:r>
              <a:rPr dirty="0" sz="2000">
                <a:latin typeface="Calibri"/>
                <a:cs typeface="Calibri"/>
              </a:rPr>
              <a:t>level </a:t>
            </a:r>
            <a:r>
              <a:rPr dirty="0" sz="2000" spc="-10">
                <a:latin typeface="Calibri"/>
                <a:cs typeface="Calibri"/>
              </a:rPr>
              <a:t>usage.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2305" y="-56006"/>
            <a:ext cx="425450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TYPES</a:t>
            </a:r>
            <a:r>
              <a:rPr dirty="0" sz="320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50" b="0">
                <a:solidFill>
                  <a:srgbClr val="000000"/>
                </a:solidFill>
                <a:latin typeface="Calibri Light"/>
                <a:cs typeface="Calibri Light"/>
              </a:rPr>
              <a:t>VIRTUALIZATION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88344"/>
            <a:ext cx="12036425" cy="3161030"/>
          </a:xfrm>
          <a:prstGeom prst="rect">
            <a:avLst/>
          </a:prstGeom>
        </p:spPr>
        <p:txBody>
          <a:bodyPr wrap="square" lIns="0" tIns="1739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70"/>
              </a:spcBef>
            </a:pPr>
            <a:r>
              <a:rPr dirty="0" sz="2800" spc="-20" b="1">
                <a:solidFill>
                  <a:srgbClr val="C00000"/>
                </a:solidFill>
                <a:latin typeface="Calibri"/>
                <a:cs typeface="Calibri"/>
              </a:rPr>
              <a:t>5)</a:t>
            </a:r>
            <a:r>
              <a:rPr dirty="0" sz="2800" spc="-1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Memory</a:t>
            </a:r>
            <a:r>
              <a:rPr dirty="0" sz="28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endParaRPr sz="2800">
              <a:latin typeface="Calibri"/>
              <a:cs typeface="Calibri"/>
            </a:endParaRPr>
          </a:p>
          <a:p>
            <a:pPr marL="283845" indent="-271145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83845" algn="l"/>
              </a:tabLst>
            </a:pPr>
            <a:r>
              <a:rPr dirty="0" sz="1800">
                <a:latin typeface="Calibri"/>
                <a:cs typeface="Calibri"/>
              </a:rPr>
              <a:t>Memory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virtualization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 way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decouple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memory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from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server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provide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shared,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distributed or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networked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function.</a:t>
            </a:r>
            <a:endParaRPr sz="1800">
              <a:latin typeface="Calibri"/>
              <a:cs typeface="Calibri"/>
            </a:endParaRPr>
          </a:p>
          <a:p>
            <a:pPr marL="283845" marR="5715">
              <a:lnSpc>
                <a:spcPct val="150000"/>
              </a:lnSpc>
              <a:spcBef>
                <a:spcPts val="200"/>
              </a:spcBef>
            </a:pPr>
            <a:r>
              <a:rPr dirty="0" sz="1000">
                <a:latin typeface="Calibri"/>
                <a:cs typeface="Calibri"/>
              </a:rPr>
              <a:t>(Memory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from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various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servers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n/w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pooled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into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single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memory)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(When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physical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memory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around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different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servers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is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combined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form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single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virtual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memory</a:t>
            </a:r>
            <a:r>
              <a:rPr dirty="0" sz="1000" spc="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as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pool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it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is</a:t>
            </a:r>
            <a:r>
              <a:rPr dirty="0" sz="1000" spc="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called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as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Memory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Virtualization.</a:t>
            </a:r>
            <a:r>
              <a:rPr dirty="0" sz="1000" spc="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With</a:t>
            </a:r>
            <a:r>
              <a:rPr dirty="0" sz="1000" spc="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this,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 spc="-25">
                <a:latin typeface="Calibri"/>
                <a:cs typeface="Calibri"/>
              </a:rPr>
              <a:t>you</a:t>
            </a:r>
            <a:r>
              <a:rPr dirty="0" sz="1000">
                <a:latin typeface="Calibri"/>
                <a:cs typeface="Calibri"/>
              </a:rPr>
              <a:t> can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get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benefit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bigger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working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memory.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Servers are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connected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such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way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that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memory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belonging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any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server can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be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used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accessed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by</a:t>
            </a:r>
            <a:r>
              <a:rPr dirty="0" sz="1000" spc="-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any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other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server)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000">
              <a:latin typeface="Calibri"/>
              <a:cs typeface="Calibri"/>
            </a:endParaRPr>
          </a:p>
          <a:p>
            <a:pPr marL="329565" indent="-316865">
              <a:lnSpc>
                <a:spcPct val="100000"/>
              </a:lnSpc>
              <a:buSzPct val="111111"/>
              <a:buFont typeface="Arial MT"/>
              <a:buChar char="•"/>
              <a:tabLst>
                <a:tab pos="329565" algn="l"/>
              </a:tabLst>
            </a:pPr>
            <a:r>
              <a:rPr dirty="0" sz="1800">
                <a:latin typeface="Calibri"/>
                <a:cs typeface="Calibri"/>
              </a:rPr>
              <a:t>It</a:t>
            </a:r>
            <a:r>
              <a:rPr dirty="0" sz="1800" spc="-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enhances</a:t>
            </a:r>
            <a:r>
              <a:rPr dirty="0" sz="1800" spc="-10">
                <a:latin typeface="Calibri"/>
                <a:cs typeface="Calibri"/>
              </a:rPr>
              <a:t> performance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by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providing </a:t>
            </a:r>
            <a:r>
              <a:rPr dirty="0" sz="1800" b="1">
                <a:latin typeface="Calibri"/>
                <a:cs typeface="Calibri"/>
              </a:rPr>
              <a:t>greater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memory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capacity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without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any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addition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main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memory.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2000" spc="-10" b="1">
                <a:solidFill>
                  <a:srgbClr val="00632C"/>
                </a:solidFill>
                <a:latin typeface="Calibri"/>
                <a:cs typeface="Calibri"/>
              </a:rPr>
              <a:t>Implementations</a:t>
            </a:r>
            <a:endParaRPr sz="2000">
              <a:latin typeface="Calibri"/>
              <a:cs typeface="Calibri"/>
            </a:endParaRPr>
          </a:p>
          <a:p>
            <a:pPr marL="475615" indent="-462915">
              <a:lnSpc>
                <a:spcPct val="100000"/>
              </a:lnSpc>
              <a:spcBef>
                <a:spcPts val="480"/>
              </a:spcBef>
              <a:buFont typeface="Wingdings"/>
              <a:buChar char=""/>
              <a:tabLst>
                <a:tab pos="475615" algn="l"/>
              </a:tabLst>
            </a:pPr>
            <a:r>
              <a:rPr dirty="0" sz="1800" spc="-10" b="1">
                <a:solidFill>
                  <a:srgbClr val="00632C"/>
                </a:solidFill>
                <a:latin typeface="Calibri"/>
                <a:cs typeface="Calibri"/>
              </a:rPr>
              <a:t>Application-</a:t>
            </a:r>
            <a:r>
              <a:rPr dirty="0" sz="1800" b="1">
                <a:solidFill>
                  <a:srgbClr val="00632C"/>
                </a:solidFill>
                <a:latin typeface="Calibri"/>
                <a:cs typeface="Calibri"/>
              </a:rPr>
              <a:t>level</a:t>
            </a:r>
            <a:r>
              <a:rPr dirty="0" sz="1800" spc="425" b="1">
                <a:solidFill>
                  <a:srgbClr val="00632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632C"/>
                </a:solidFill>
                <a:latin typeface="Calibri"/>
                <a:cs typeface="Calibri"/>
              </a:rPr>
              <a:t>integration</a:t>
            </a:r>
            <a:r>
              <a:rPr dirty="0" sz="1800" spc="434" b="1">
                <a:solidFill>
                  <a:srgbClr val="00632C"/>
                </a:solidFill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42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Applications</a:t>
            </a:r>
            <a:r>
              <a:rPr dirty="0" sz="1800" spc="4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running</a:t>
            </a:r>
            <a:r>
              <a:rPr dirty="0" sz="1800" spc="4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</a:t>
            </a:r>
            <a:r>
              <a:rPr dirty="0" sz="1800" spc="4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connected</a:t>
            </a:r>
            <a:r>
              <a:rPr dirty="0" sz="1800" spc="4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computers</a:t>
            </a:r>
            <a:r>
              <a:rPr dirty="0" sz="1800" spc="4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directly</a:t>
            </a:r>
            <a:r>
              <a:rPr dirty="0" sz="1800" spc="4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connect</a:t>
            </a:r>
            <a:r>
              <a:rPr dirty="0" sz="1800" spc="4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4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434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memory</a:t>
            </a:r>
            <a:r>
              <a:rPr dirty="0" sz="1800" spc="41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pool</a:t>
            </a:r>
            <a:endParaRPr sz="1800">
              <a:latin typeface="Calibri"/>
              <a:cs typeface="Calibri"/>
            </a:endParaRPr>
          </a:p>
          <a:p>
            <a:pPr marL="475615">
              <a:lnSpc>
                <a:spcPct val="100000"/>
              </a:lnSpc>
              <a:spcBef>
                <a:spcPts val="1080"/>
              </a:spcBef>
            </a:pPr>
            <a:r>
              <a:rPr dirty="0" sz="1800" b="1">
                <a:latin typeface="Calibri"/>
                <a:cs typeface="Calibri"/>
              </a:rPr>
              <a:t>through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API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file </a:t>
            </a:r>
            <a:r>
              <a:rPr dirty="0" sz="1800" spc="-10">
                <a:latin typeface="Calibri"/>
                <a:cs typeface="Calibri"/>
              </a:rPr>
              <a:t>system.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4592908"/>
            <a:ext cx="12035790" cy="849630"/>
          </a:xfrm>
          <a:prstGeom prst="rect">
            <a:avLst/>
          </a:prstGeom>
        </p:spPr>
        <p:txBody>
          <a:bodyPr wrap="square" lIns="0" tIns="150495" rIns="0" bIns="0" rtlCol="0" vert="horz">
            <a:spAutoFit/>
          </a:bodyPr>
          <a:lstStyle/>
          <a:p>
            <a:pPr marL="475615" indent="-462915">
              <a:lnSpc>
                <a:spcPct val="100000"/>
              </a:lnSpc>
              <a:spcBef>
                <a:spcPts val="1185"/>
              </a:spcBef>
              <a:buFont typeface="Wingdings"/>
              <a:buChar char=""/>
              <a:tabLst>
                <a:tab pos="475615" algn="l"/>
              </a:tabLst>
            </a:pPr>
            <a:r>
              <a:rPr dirty="0" sz="1800" b="1">
                <a:solidFill>
                  <a:srgbClr val="00632C"/>
                </a:solidFill>
                <a:latin typeface="Calibri"/>
                <a:cs typeface="Calibri"/>
              </a:rPr>
              <a:t>Operating</a:t>
            </a:r>
            <a:r>
              <a:rPr dirty="0" sz="1800" spc="150" b="1">
                <a:solidFill>
                  <a:srgbClr val="00632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632C"/>
                </a:solidFill>
                <a:latin typeface="Calibri"/>
                <a:cs typeface="Calibri"/>
              </a:rPr>
              <a:t>System</a:t>
            </a:r>
            <a:r>
              <a:rPr dirty="0" sz="1800" spc="155" b="1">
                <a:solidFill>
                  <a:srgbClr val="00632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632C"/>
                </a:solidFill>
                <a:latin typeface="Calibri"/>
                <a:cs typeface="Calibri"/>
              </a:rPr>
              <a:t>Level</a:t>
            </a:r>
            <a:r>
              <a:rPr dirty="0" sz="1800" spc="150" b="1">
                <a:solidFill>
                  <a:srgbClr val="00632C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632C"/>
                </a:solidFill>
                <a:latin typeface="Calibri"/>
                <a:cs typeface="Calibri"/>
              </a:rPr>
              <a:t>Integration</a:t>
            </a:r>
            <a:r>
              <a:rPr dirty="0" sz="1800" spc="160" b="1">
                <a:solidFill>
                  <a:srgbClr val="00632C"/>
                </a:solidFill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–</a:t>
            </a:r>
            <a:r>
              <a:rPr dirty="0" sz="1800" spc="15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1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operating</a:t>
            </a:r>
            <a:r>
              <a:rPr dirty="0" sz="1800" spc="1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system</a:t>
            </a:r>
            <a:r>
              <a:rPr dirty="0" sz="1800" spc="1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first</a:t>
            </a:r>
            <a:r>
              <a:rPr dirty="0" sz="1800" spc="1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connects</a:t>
            </a:r>
            <a:r>
              <a:rPr dirty="0" sz="1800" spc="1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1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1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memory</a:t>
            </a:r>
            <a:r>
              <a:rPr dirty="0" sz="1800" spc="1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pool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 spc="1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15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makes</a:t>
            </a:r>
            <a:r>
              <a:rPr dirty="0" sz="1800" spc="1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that</a:t>
            </a:r>
            <a:r>
              <a:rPr dirty="0" sz="1800" spc="15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pooled</a:t>
            </a:r>
            <a:endParaRPr sz="1800">
              <a:latin typeface="Calibri"/>
              <a:cs typeface="Calibri"/>
            </a:endParaRPr>
          </a:p>
          <a:p>
            <a:pPr marL="475615">
              <a:lnSpc>
                <a:spcPct val="100000"/>
              </a:lnSpc>
              <a:spcBef>
                <a:spcPts val="1085"/>
              </a:spcBef>
            </a:pPr>
            <a:r>
              <a:rPr dirty="0" sz="1800" b="1">
                <a:latin typeface="Calibri"/>
                <a:cs typeface="Calibri"/>
              </a:rPr>
              <a:t>memory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available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applications.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7834" y="3485461"/>
            <a:ext cx="5979222" cy="118558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02531" y="5571006"/>
            <a:ext cx="6982201" cy="1235402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2305" y="-65404"/>
            <a:ext cx="425450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TYPES</a:t>
            </a:r>
            <a:r>
              <a:rPr dirty="0" sz="320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50" b="0">
                <a:solidFill>
                  <a:srgbClr val="000000"/>
                </a:solidFill>
                <a:latin typeface="Calibri Light"/>
                <a:cs typeface="Calibri Light"/>
              </a:rPr>
              <a:t>VIRTUALIZATION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251205"/>
            <a:ext cx="31191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6)</a:t>
            </a:r>
            <a:r>
              <a:rPr dirty="0" sz="28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r>
              <a:rPr dirty="0" sz="28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64084" y="860377"/>
            <a:ext cx="11950700" cy="2278380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algn="just" marL="281940" marR="5080" indent="-269875">
              <a:lnSpc>
                <a:spcPct val="146800"/>
              </a:lnSpc>
              <a:spcBef>
                <a:spcPts val="170"/>
              </a:spcBef>
              <a:buFont typeface="Arial MT"/>
              <a:buChar char="•"/>
              <a:tabLst>
                <a:tab pos="285115" algn="l"/>
              </a:tabLst>
            </a:pP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 any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approach to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management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allows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retrieve and</a:t>
            </a:r>
            <a:r>
              <a:rPr dirty="0" sz="2000" spc="-10" b="1">
                <a:latin typeface="Calibri"/>
                <a:cs typeface="Calibri"/>
              </a:rPr>
              <a:t> manipulate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without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requiring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technical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details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about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such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how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formatted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at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source,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where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is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physically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located</a:t>
            </a:r>
            <a:r>
              <a:rPr dirty="0" sz="1100" b="1">
                <a:latin typeface="Calibri"/>
                <a:cs typeface="Calibri"/>
              </a:rPr>
              <a:t>.</a:t>
            </a:r>
            <a:r>
              <a:rPr dirty="0" sz="1100" spc="3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(data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virtualization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software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layer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hides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most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technical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aspects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how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where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stored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applications.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Because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layer,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applications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don’t </a:t>
            </a:r>
            <a:r>
              <a:rPr dirty="0" sz="1100" spc="-10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need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know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where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stored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physically,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where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database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servers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run,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what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required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API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is,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database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language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use,</a:t>
            </a:r>
            <a:r>
              <a:rPr dirty="0" sz="1100" spc="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on.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every</a:t>
            </a:r>
            <a:r>
              <a:rPr dirty="0" sz="1100" spc="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application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using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virtualization,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it </a:t>
            </a:r>
            <a:r>
              <a:rPr dirty="0" sz="1100" spc="-25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feels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it’s accessing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one large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database.</a:t>
            </a:r>
            <a:r>
              <a:rPr dirty="0" sz="1100" spc="135">
                <a:latin typeface="Calibri"/>
                <a:cs typeface="Calibri"/>
              </a:rPr>
              <a:t>  </a:t>
            </a:r>
            <a:r>
              <a:rPr dirty="0" sz="1100">
                <a:latin typeface="Calibri"/>
                <a:cs typeface="Calibri"/>
              </a:rPr>
              <a:t>It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lets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you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easily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manipulate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data,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 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 presented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abstract layer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completely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independent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 structure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database systems.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Decreases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data</a:t>
            </a:r>
            <a:endParaRPr sz="1100">
              <a:latin typeface="Calibri"/>
              <a:cs typeface="Calibri"/>
            </a:endParaRPr>
          </a:p>
          <a:p>
            <a:pPr algn="just" marL="285115">
              <a:lnSpc>
                <a:spcPct val="100000"/>
              </a:lnSpc>
              <a:spcBef>
                <a:spcPts val="835"/>
              </a:spcBef>
            </a:pPr>
            <a:r>
              <a:rPr dirty="0" sz="1100">
                <a:latin typeface="Calibri"/>
                <a:cs typeface="Calibri"/>
              </a:rPr>
              <a:t>input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formatting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errors.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Different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access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method</a:t>
            </a:r>
            <a:r>
              <a:rPr dirty="0" sz="1100">
                <a:latin typeface="Wingdings"/>
                <a:cs typeface="Wingdings"/>
              </a:rPr>
              <a:t></a:t>
            </a:r>
            <a:r>
              <a:rPr dirty="0" sz="1100" spc="-70">
                <a:latin typeface="Times New Roman"/>
                <a:cs typeface="Times New Roman"/>
              </a:rPr>
              <a:t> </a:t>
            </a:r>
            <a:r>
              <a:rPr dirty="0" sz="1100">
                <a:latin typeface="Calibri"/>
                <a:cs typeface="Calibri"/>
              </a:rPr>
              <a:t>Sequential,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Direct,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Indexed,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Storage</a:t>
            </a:r>
            <a:r>
              <a:rPr dirty="0" sz="1100" spc="-10">
                <a:latin typeface="Wingdings"/>
                <a:cs typeface="Wingdings"/>
              </a:rPr>
              <a:t></a:t>
            </a:r>
            <a:r>
              <a:rPr dirty="0" sz="1100" spc="-65">
                <a:latin typeface="Times New Roman"/>
                <a:cs typeface="Times New Roman"/>
              </a:rPr>
              <a:t> </a:t>
            </a:r>
            <a:r>
              <a:rPr dirty="0" sz="1100">
                <a:latin typeface="Calibri"/>
                <a:cs typeface="Calibri"/>
              </a:rPr>
              <a:t>Structures,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Unstructured,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Object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Oriented,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Hierarchical</a:t>
            </a:r>
            <a:r>
              <a:rPr dirty="0" sz="1600" spc="-10">
                <a:latin typeface="Calibri"/>
                <a:cs typeface="Calibri"/>
              </a:rPr>
              <a:t>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4084" y="3709796"/>
            <a:ext cx="94894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85115" indent="-27241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85115" algn="l"/>
              </a:tabLst>
            </a:pP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single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customer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view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single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view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entity)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overall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data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2305" y="-65404"/>
            <a:ext cx="425450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TYPES</a:t>
            </a:r>
            <a:r>
              <a:rPr dirty="0" sz="3200" spc="-1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50" b="0">
                <a:solidFill>
                  <a:srgbClr val="000000"/>
                </a:solidFill>
                <a:latin typeface="Calibri Light"/>
                <a:cs typeface="Calibri Light"/>
              </a:rPr>
              <a:t>VIRTUALIZATION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251205"/>
            <a:ext cx="36423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7)</a:t>
            </a:r>
            <a:r>
              <a:rPr dirty="0" sz="28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Desktop</a:t>
            </a:r>
            <a:r>
              <a:rPr dirty="0" sz="28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612393"/>
            <a:ext cx="12035790" cy="167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6350" indent="-3429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 b="1">
                <a:latin typeface="Calibri"/>
                <a:cs typeface="Calibri"/>
              </a:rPr>
              <a:t>Desktop</a:t>
            </a:r>
            <a:r>
              <a:rPr dirty="0" sz="1800" spc="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virtualization</a:t>
            </a:r>
            <a:r>
              <a:rPr dirty="0" sz="1800" spc="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provides</a:t>
            </a:r>
            <a:r>
              <a:rPr dirty="0" sz="1800" spc="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way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users</a:t>
            </a:r>
            <a:r>
              <a:rPr dirty="0" sz="1800" spc="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maintain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their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individual</a:t>
            </a:r>
            <a:r>
              <a:rPr dirty="0" sz="1800" spc="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desktops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single</a:t>
            </a:r>
            <a:r>
              <a:rPr dirty="0" sz="1800">
                <a:latin typeface="Calibri"/>
                <a:cs typeface="Calibri"/>
              </a:rPr>
              <a:t>,</a:t>
            </a:r>
            <a:r>
              <a:rPr dirty="0" sz="1800" spc="6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central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server.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users </a:t>
            </a:r>
            <a:r>
              <a:rPr dirty="0" sz="1800">
                <a:latin typeface="Calibri"/>
                <a:cs typeface="Calibri"/>
              </a:rPr>
              <a:t>may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connected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central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server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through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LAN,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WAN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or</a:t>
            </a:r>
            <a:r>
              <a:rPr dirty="0" sz="1800" spc="-5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over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Internet.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(Desktop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environment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virtualized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cloud)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>
                <a:latin typeface="Calibri"/>
                <a:cs typeface="Calibri"/>
              </a:rPr>
              <a:t>Desktop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virtualization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"virtualizes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desktop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computers</a:t>
            </a:r>
            <a:r>
              <a:rPr dirty="0" sz="1800">
                <a:latin typeface="Calibri"/>
                <a:cs typeface="Calibri"/>
              </a:rPr>
              <a:t>"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these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virtual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desktop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environments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are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"served"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users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</a:t>
            </a:r>
            <a:r>
              <a:rPr dirty="0" sz="1800" spc="-25" b="1">
                <a:latin typeface="Calibri"/>
                <a:cs typeface="Calibri"/>
              </a:rPr>
              <a:t> the</a:t>
            </a:r>
            <a:endParaRPr sz="1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80"/>
              </a:spcBef>
            </a:pPr>
            <a:r>
              <a:rPr dirty="0" sz="1800" spc="-10" b="1">
                <a:latin typeface="Calibri"/>
                <a:cs typeface="Calibri"/>
              </a:rPr>
              <a:t>network.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8739" y="4247769"/>
            <a:ext cx="11717655" cy="22390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 b="1">
                <a:latin typeface="Calibri"/>
                <a:cs typeface="Calibri"/>
              </a:rPr>
              <a:t>Users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interact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with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virtual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desktop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same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way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he/she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would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physical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desktop.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0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800">
                <a:latin typeface="Calibri"/>
                <a:cs typeface="Calibri"/>
              </a:rPr>
              <a:t>Another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benefit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desktop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virtualization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that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it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lets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users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remotely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log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access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their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desktop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from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any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location.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0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 b="1">
                <a:latin typeface="Calibri"/>
                <a:cs typeface="Calibri"/>
              </a:rPr>
              <a:t>It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provides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lot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flexibility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employees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work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from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home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or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go.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25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 b="1">
                <a:latin typeface="Calibri"/>
                <a:cs typeface="Calibri"/>
              </a:rPr>
              <a:t>It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also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protects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confidential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data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from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being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lost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or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stolen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keeping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it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safe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central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servers.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6" name="object 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76855" y="2182367"/>
            <a:ext cx="7272122" cy="189729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20760"/>
            <a:ext cx="9002395" cy="888365"/>
          </a:xfrm>
          <a:prstGeom prst="rect"/>
        </p:spPr>
        <p:txBody>
          <a:bodyPr wrap="square" lIns="0" tIns="55244" rIns="0" bIns="0" rtlCol="0" vert="horz">
            <a:spAutoFit/>
          </a:bodyPr>
          <a:lstStyle/>
          <a:p>
            <a:pPr marL="3052445">
              <a:lnSpc>
                <a:spcPct val="100000"/>
              </a:lnSpc>
              <a:spcBef>
                <a:spcPts val="434"/>
              </a:spcBef>
            </a:pP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PROS</a:t>
            </a:r>
            <a:r>
              <a:rPr dirty="0" sz="3200" spc="-13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20" b="0">
                <a:solidFill>
                  <a:srgbClr val="000000"/>
                </a:solidFill>
                <a:latin typeface="Calibri Light"/>
                <a:cs typeface="Calibri Light"/>
              </a:rPr>
              <a:t>CONS</a:t>
            </a:r>
            <a:r>
              <a:rPr dirty="0" sz="3200" spc="-14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dirty="0" sz="3200" spc="-12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45" b="0">
                <a:solidFill>
                  <a:srgbClr val="000000"/>
                </a:solidFill>
                <a:latin typeface="Calibri Light"/>
                <a:cs typeface="Calibri Light"/>
              </a:rPr>
              <a:t>VIRTUALIZATION</a:t>
            </a:r>
            <a:endParaRPr sz="3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Benefits</a:t>
            </a:r>
            <a:r>
              <a:rPr dirty="0" sz="2000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of</a:t>
            </a:r>
            <a:r>
              <a:rPr dirty="0" sz="20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virtualization</a:t>
            </a:r>
            <a:r>
              <a:rPr dirty="0" sz="2000" spc="-4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offered</a:t>
            </a:r>
            <a:r>
              <a:rPr dirty="0" sz="2000" spc="-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up</a:t>
            </a:r>
            <a:r>
              <a:rPr dirty="0" sz="2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by</a:t>
            </a:r>
            <a:r>
              <a:rPr dirty="0" sz="2000" spc="-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both</a:t>
            </a:r>
            <a:r>
              <a:rPr dirty="0" sz="2000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organizations</a:t>
            </a:r>
            <a:r>
              <a:rPr dirty="0" sz="2000" spc="-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as</a:t>
            </a:r>
            <a:r>
              <a:rPr dirty="0" sz="2000" spc="-2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well</a:t>
            </a:r>
            <a:r>
              <a:rPr dirty="0" sz="2000" spc="-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as</a:t>
            </a:r>
            <a:r>
              <a:rPr dirty="0" sz="2000" spc="-1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00000"/>
                </a:solidFill>
                <a:latin typeface="Times New Roman"/>
                <a:cs typeface="Times New Roman"/>
              </a:rPr>
              <a:t>vendors: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167866"/>
            <a:ext cx="12038965" cy="53301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3840" marR="8255" indent="-231775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243840" algn="l"/>
              </a:tabLst>
            </a:pP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Lower</a:t>
            </a:r>
            <a:r>
              <a:rPr dirty="0" sz="2000" spc="5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overall</a:t>
            </a:r>
            <a:r>
              <a:rPr dirty="0" sz="2000" spc="6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capital</a:t>
            </a:r>
            <a:r>
              <a:rPr dirty="0" sz="2000" spc="7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expenditures.</a:t>
            </a:r>
            <a:r>
              <a:rPr dirty="0" sz="2000" spc="8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means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7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virtualization</a:t>
            </a:r>
            <a:r>
              <a:rPr dirty="0" sz="2000" spc="10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we</a:t>
            </a:r>
            <a:r>
              <a:rPr dirty="0" sz="2000" spc="8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don’t</a:t>
            </a:r>
            <a:r>
              <a:rPr dirty="0" sz="2000" spc="8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need</a:t>
            </a:r>
            <a:r>
              <a:rPr dirty="0" sz="2000" spc="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to</a:t>
            </a:r>
            <a:r>
              <a:rPr dirty="0" sz="2000" spc="9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purchase</a:t>
            </a:r>
            <a:r>
              <a:rPr dirty="0" sz="2000" spc="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</a:t>
            </a:r>
            <a:r>
              <a:rPr dirty="0" sz="2000" spc="8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server</a:t>
            </a:r>
            <a:r>
              <a:rPr dirty="0" sz="2000" spc="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for</a:t>
            </a:r>
            <a:r>
              <a:rPr dirty="0" sz="2000" spc="6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every </a:t>
            </a:r>
            <a:r>
              <a:rPr dirty="0" sz="2000" b="1">
                <a:latin typeface="Times New Roman"/>
                <a:cs typeface="Times New Roman"/>
              </a:rPr>
              <a:t>single</a:t>
            </a:r>
            <a:r>
              <a:rPr dirty="0" sz="2000" spc="29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application</a:t>
            </a:r>
            <a:r>
              <a:rPr dirty="0" sz="2000" spc="290" b="1">
                <a:latin typeface="Times New Roman"/>
                <a:cs typeface="Times New Roman"/>
              </a:rPr>
              <a:t>  </a:t>
            </a:r>
            <a:r>
              <a:rPr dirty="0" sz="2000" b="1">
                <a:latin typeface="Times New Roman"/>
                <a:cs typeface="Times New Roman"/>
              </a:rPr>
              <a:t>in</a:t>
            </a:r>
            <a:r>
              <a:rPr dirty="0" sz="2000" spc="29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our</a:t>
            </a:r>
            <a:r>
              <a:rPr dirty="0" sz="2000" spc="2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organization.</a:t>
            </a:r>
            <a:r>
              <a:rPr dirty="0" sz="2000" spc="29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By</a:t>
            </a:r>
            <a:r>
              <a:rPr dirty="0" sz="2000" spc="30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hosting</a:t>
            </a:r>
            <a:r>
              <a:rPr dirty="0" sz="2000" spc="3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multiple</a:t>
            </a:r>
            <a:r>
              <a:rPr dirty="0" sz="2000" spc="28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virtual</a:t>
            </a:r>
            <a:r>
              <a:rPr dirty="0" sz="2000" spc="28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servers</a:t>
            </a:r>
            <a:r>
              <a:rPr dirty="0" sz="2000" spc="29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on</a:t>
            </a:r>
            <a:r>
              <a:rPr dirty="0" sz="2000" spc="30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</a:t>
            </a:r>
            <a:r>
              <a:rPr dirty="0" sz="2000" spc="29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single</a:t>
            </a:r>
            <a:r>
              <a:rPr dirty="0" sz="2000" spc="29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physical</a:t>
            </a:r>
            <a:r>
              <a:rPr dirty="0" sz="2000" spc="30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machine, </a:t>
            </a:r>
            <a:r>
              <a:rPr dirty="0" sz="2000" b="1">
                <a:latin typeface="Times New Roman"/>
                <a:cs typeface="Times New Roman"/>
              </a:rPr>
              <a:t>dramatically</a:t>
            </a:r>
            <a:r>
              <a:rPr dirty="0" sz="2000" spc="-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reduces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cost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overhead.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0"/>
              </a:spcBef>
              <a:buClr>
                <a:srgbClr val="C00000"/>
              </a:buClr>
              <a:buFont typeface="Wingdings"/>
              <a:buChar char=""/>
            </a:pPr>
            <a:endParaRPr sz="2000">
              <a:latin typeface="Times New Roman"/>
              <a:cs typeface="Times New Roman"/>
            </a:endParaRPr>
          </a:p>
          <a:p>
            <a:pPr marL="294005" indent="-281305">
              <a:lnSpc>
                <a:spcPct val="100000"/>
              </a:lnSpc>
              <a:buFont typeface="Wingdings"/>
              <a:buChar char=""/>
              <a:tabLst>
                <a:tab pos="294005" algn="l"/>
              </a:tabLst>
            </a:pP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Automated</a:t>
            </a:r>
            <a:r>
              <a:rPr dirty="0" sz="2000" spc="4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tasks</a:t>
            </a:r>
            <a:r>
              <a:rPr dirty="0" sz="2000">
                <a:solidFill>
                  <a:srgbClr val="C00000"/>
                </a:solidFill>
                <a:latin typeface="Times New Roman"/>
                <a:cs typeface="Times New Roman"/>
              </a:rPr>
              <a:t>.</a:t>
            </a:r>
            <a:r>
              <a:rPr dirty="0" sz="2000" spc="5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Virtualization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automates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number</a:t>
            </a:r>
            <a:r>
              <a:rPr dirty="0" sz="2000" spc="7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significant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routine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tasks.</a:t>
            </a:r>
            <a:r>
              <a:rPr dirty="0" sz="2000" spc="6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(Automatically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starting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up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VM,</a:t>
            </a:r>
            <a:r>
              <a:rPr dirty="0" sz="1600" spc="-25">
                <a:latin typeface="Times New Roman"/>
                <a:cs typeface="Times New Roman"/>
              </a:rPr>
              <a:t> if</a:t>
            </a:r>
            <a:endParaRPr sz="1600">
              <a:latin typeface="Times New Roman"/>
              <a:cs typeface="Times New Roman"/>
            </a:endParaRPr>
          </a:p>
          <a:p>
            <a:pPr marL="294640">
              <a:lnSpc>
                <a:spcPct val="100000"/>
              </a:lnSpc>
              <a:spcBef>
                <a:spcPts val="1065"/>
              </a:spcBef>
            </a:pPr>
            <a:r>
              <a:rPr dirty="0" sz="1600">
                <a:latin typeface="Times New Roman"/>
                <a:cs typeface="Times New Roman"/>
              </a:rPr>
              <a:t>overload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automatically</a:t>
            </a:r>
            <a:r>
              <a:rPr dirty="0" sz="1600" spc="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migrating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other</a:t>
            </a:r>
            <a:r>
              <a:rPr dirty="0" sz="1600" spc="-20">
                <a:latin typeface="Times New Roman"/>
                <a:cs typeface="Times New Roman"/>
              </a:rPr>
              <a:t> server,</a:t>
            </a:r>
            <a:r>
              <a:rPr dirty="0" sz="1600" spc="-8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Automatically</a:t>
            </a:r>
            <a:r>
              <a:rPr dirty="0" sz="1600" spc="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backup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data,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Scaling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out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&amp;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scaling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resources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based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load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</a:t>
            </a:r>
            <a:r>
              <a:rPr dirty="0" sz="1600" spc="30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VM).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5"/>
              </a:spcBef>
            </a:pPr>
            <a:endParaRPr sz="1600">
              <a:latin typeface="Times New Roman"/>
              <a:cs typeface="Times New Roman"/>
            </a:endParaRPr>
          </a:p>
          <a:p>
            <a:pPr algn="just" marL="243840" marR="5080" indent="-231775">
              <a:lnSpc>
                <a:spcPct val="147100"/>
              </a:lnSpc>
              <a:spcBef>
                <a:spcPts val="5"/>
              </a:spcBef>
              <a:buFont typeface="Wingdings"/>
              <a:buChar char=""/>
              <a:tabLst>
                <a:tab pos="243840" algn="l"/>
              </a:tabLst>
            </a:pP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Greater</a:t>
            </a:r>
            <a:r>
              <a:rPr dirty="0" sz="2000" spc="36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redundancy.</a:t>
            </a:r>
            <a:r>
              <a:rPr dirty="0" sz="2000" spc="40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Virtualization</a:t>
            </a:r>
            <a:r>
              <a:rPr dirty="0" sz="2000" spc="39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should</a:t>
            </a:r>
            <a:r>
              <a:rPr dirty="0" sz="2000" spc="40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improve</a:t>
            </a:r>
            <a:r>
              <a:rPr dirty="0" sz="2000" spc="38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our</a:t>
            </a:r>
            <a:r>
              <a:rPr dirty="0" sz="2000" spc="3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uptime.</a:t>
            </a:r>
            <a:r>
              <a:rPr dirty="0" sz="2000" spc="39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Virtualization</a:t>
            </a:r>
            <a:r>
              <a:rPr dirty="0" sz="2000" spc="3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technologies</a:t>
            </a:r>
            <a:r>
              <a:rPr dirty="0" sz="2000" spc="4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allow</a:t>
            </a:r>
            <a:r>
              <a:rPr dirty="0" sz="2000" spc="395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greater </a:t>
            </a:r>
            <a:r>
              <a:rPr dirty="0" sz="2000" b="1">
                <a:latin typeface="Times New Roman"/>
                <a:cs typeface="Times New Roman"/>
              </a:rPr>
              <a:t>safety</a:t>
            </a:r>
            <a:r>
              <a:rPr dirty="0" sz="2000" spc="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security</a:t>
            </a:r>
            <a:r>
              <a:rPr dirty="0" sz="2000" spc="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while</a:t>
            </a:r>
            <a:r>
              <a:rPr dirty="0" sz="2000" spc="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reducing</a:t>
            </a:r>
            <a:r>
              <a:rPr dirty="0" sz="2000" spc="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points</a:t>
            </a:r>
            <a:r>
              <a:rPr dirty="0" sz="2000" spc="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contact.</a:t>
            </a:r>
            <a:r>
              <a:rPr dirty="0" sz="2000" spc="15" b="1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(Virtualization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allows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to maintain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redundant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 spc="-35">
                <a:latin typeface="Times New Roman"/>
                <a:cs typeface="Times New Roman"/>
              </a:rPr>
              <a:t>copy,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if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VM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crash</a:t>
            </a:r>
            <a:r>
              <a:rPr dirty="0" sz="1600" spc="-5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or</a:t>
            </a:r>
            <a:r>
              <a:rPr dirty="0" sz="1600" spc="-60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fail </a:t>
            </a:r>
            <a:r>
              <a:rPr dirty="0" sz="1600">
                <a:latin typeface="Times New Roman"/>
                <a:cs typeface="Times New Roman"/>
              </a:rPr>
              <a:t>over</a:t>
            </a:r>
            <a:r>
              <a:rPr dirty="0" sz="1600" spc="-4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automatically starts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up</a:t>
            </a:r>
            <a:r>
              <a:rPr dirty="0" sz="1600" spc="-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redundant</a:t>
            </a:r>
            <a:r>
              <a:rPr dirty="0" sz="1600" spc="-65">
                <a:latin typeface="Times New Roman"/>
                <a:cs typeface="Times New Roman"/>
              </a:rPr>
              <a:t> </a:t>
            </a:r>
            <a:r>
              <a:rPr dirty="0" sz="1600" spc="-25">
                <a:latin typeface="Times New Roman"/>
                <a:cs typeface="Times New Roman"/>
              </a:rPr>
              <a:t>VM)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95"/>
              </a:spcBef>
              <a:buClr>
                <a:srgbClr val="C00000"/>
              </a:buClr>
              <a:buFont typeface="Wingdings"/>
              <a:buChar char=""/>
            </a:pPr>
            <a:endParaRPr sz="2000">
              <a:latin typeface="Times New Roman"/>
              <a:cs typeface="Times New Roman"/>
            </a:endParaRPr>
          </a:p>
          <a:p>
            <a:pPr marL="243840" indent="-23114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243840" algn="l"/>
              </a:tabLst>
            </a:pP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Faster</a:t>
            </a:r>
            <a:r>
              <a:rPr dirty="0" sz="2000" spc="33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deployment.</a:t>
            </a:r>
            <a:r>
              <a:rPr dirty="0" sz="2000" spc="37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Deploying</a:t>
            </a:r>
            <a:r>
              <a:rPr dirty="0" sz="2000" spc="3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</a:t>
            </a:r>
            <a:r>
              <a:rPr dirty="0" sz="2000" spc="3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virtual</a:t>
            </a:r>
            <a:r>
              <a:rPr dirty="0" sz="2000" spc="3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machine</a:t>
            </a:r>
            <a:r>
              <a:rPr dirty="0" sz="2000" spc="3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is</a:t>
            </a:r>
            <a:r>
              <a:rPr dirty="0" sz="2000" spc="3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overwhelmingly</a:t>
            </a:r>
            <a:r>
              <a:rPr dirty="0" sz="2000" spc="3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simpler</a:t>
            </a:r>
            <a:r>
              <a:rPr dirty="0" sz="2000" spc="3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and</a:t>
            </a:r>
            <a:r>
              <a:rPr dirty="0" sz="2000" spc="3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quick</a:t>
            </a:r>
            <a:r>
              <a:rPr dirty="0" sz="2000" spc="3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than</a:t>
            </a:r>
            <a:r>
              <a:rPr dirty="0" sz="2000" spc="3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deploying</a:t>
            </a:r>
            <a:r>
              <a:rPr dirty="0" sz="2000" spc="375" b="1">
                <a:latin typeface="Times New Roman"/>
                <a:cs typeface="Times New Roman"/>
              </a:rPr>
              <a:t> </a:t>
            </a:r>
            <a:r>
              <a:rPr dirty="0" sz="2000" spc="-50" b="1">
                <a:latin typeface="Times New Roman"/>
                <a:cs typeface="Times New Roman"/>
              </a:rPr>
              <a:t>a</a:t>
            </a:r>
            <a:endParaRPr sz="2000">
              <a:latin typeface="Times New Roman"/>
              <a:cs typeface="Times New Roman"/>
            </a:endParaRPr>
          </a:p>
          <a:p>
            <a:pPr marL="24384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Times New Roman"/>
                <a:cs typeface="Times New Roman"/>
              </a:rPr>
              <a:t>physical</a:t>
            </a:r>
            <a:r>
              <a:rPr dirty="0" sz="2000" spc="-3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machine.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52445">
              <a:lnSpc>
                <a:spcPts val="3660"/>
              </a:lnSpc>
              <a:spcBef>
                <a:spcPts val="100"/>
              </a:spcBef>
            </a:pP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PROS</a:t>
            </a:r>
            <a:r>
              <a:rPr dirty="0" sz="3200" spc="-13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20" b="0">
                <a:solidFill>
                  <a:srgbClr val="000000"/>
                </a:solidFill>
                <a:latin typeface="Calibri Light"/>
                <a:cs typeface="Calibri Light"/>
              </a:rPr>
              <a:t>CONS</a:t>
            </a:r>
            <a:r>
              <a:rPr dirty="0" sz="3200" spc="-14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dirty="0" sz="3200" spc="-12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45" b="0">
                <a:solidFill>
                  <a:srgbClr val="000000"/>
                </a:solidFill>
                <a:latin typeface="Calibri Light"/>
                <a:cs typeface="Calibri Light"/>
              </a:rPr>
              <a:t>VIRTUALIZATION</a:t>
            </a:r>
            <a:endParaRPr sz="3200">
              <a:latin typeface="Calibri Light"/>
              <a:cs typeface="Calibri Light"/>
            </a:endParaRPr>
          </a:p>
          <a:p>
            <a:pPr marL="12700">
              <a:lnSpc>
                <a:spcPts val="2220"/>
              </a:lnSpc>
            </a:pP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There</a:t>
            </a:r>
            <a:r>
              <a:rPr dirty="0" sz="20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can</a:t>
            </a:r>
            <a:r>
              <a:rPr dirty="0" sz="20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be</a:t>
            </a:r>
            <a:r>
              <a:rPr dirty="0" sz="2000" spc="-1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some</a:t>
            </a:r>
            <a:r>
              <a:rPr dirty="0" sz="2000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downsides</a:t>
            </a:r>
            <a:r>
              <a:rPr dirty="0" sz="2000" spc="-3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to</a:t>
            </a:r>
            <a:r>
              <a:rPr dirty="0" sz="2000" spc="-2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virtualization,</a:t>
            </a:r>
            <a:r>
              <a:rPr dirty="0" sz="2000" spc="-4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>
                <a:solidFill>
                  <a:srgbClr val="000000"/>
                </a:solidFill>
                <a:latin typeface="Times New Roman"/>
                <a:cs typeface="Times New Roman"/>
              </a:rPr>
              <a:t>as</a:t>
            </a:r>
            <a:r>
              <a:rPr dirty="0" sz="2000" spc="-3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000" spc="-10">
                <a:solidFill>
                  <a:srgbClr val="000000"/>
                </a:solidFill>
                <a:latin typeface="Times New Roman"/>
                <a:cs typeface="Times New Roman"/>
              </a:rPr>
              <a:t>well: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155166"/>
            <a:ext cx="12035790" cy="1398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4640" marR="5080" indent="-281940">
              <a:lnSpc>
                <a:spcPct val="150100"/>
              </a:lnSpc>
              <a:spcBef>
                <a:spcPts val="100"/>
              </a:spcBef>
              <a:buFont typeface="Wingdings"/>
              <a:buChar char=""/>
              <a:tabLst>
                <a:tab pos="294640" algn="l"/>
              </a:tabLst>
            </a:pP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High</a:t>
            </a:r>
            <a:r>
              <a:rPr dirty="0" sz="2000" spc="44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upfront</a:t>
            </a:r>
            <a:r>
              <a:rPr dirty="0" sz="2000" spc="42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expenditures.</a:t>
            </a:r>
            <a:r>
              <a:rPr dirty="0" sz="2000" spc="45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When</a:t>
            </a:r>
            <a:r>
              <a:rPr dirty="0" sz="2000" spc="4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we</a:t>
            </a:r>
            <a:r>
              <a:rPr dirty="0" sz="2000" spc="4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are</a:t>
            </a:r>
            <a:r>
              <a:rPr dirty="0" sz="2000" spc="4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planning</a:t>
            </a:r>
            <a:r>
              <a:rPr dirty="0" sz="2000" spc="4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to</a:t>
            </a:r>
            <a:r>
              <a:rPr dirty="0" sz="2000" spc="4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implementing</a:t>
            </a:r>
            <a:r>
              <a:rPr dirty="0" sz="2000" spc="4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</a:t>
            </a:r>
            <a:r>
              <a:rPr dirty="0" sz="2000" spc="4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virtualization</a:t>
            </a:r>
            <a:r>
              <a:rPr dirty="0" sz="2000" spc="4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strategy</a:t>
            </a:r>
            <a:r>
              <a:rPr dirty="0" sz="2000" spc="4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from</a:t>
            </a:r>
            <a:r>
              <a:rPr dirty="0" sz="2000" spc="440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the </a:t>
            </a:r>
            <a:r>
              <a:rPr dirty="0" sz="2000" b="1">
                <a:latin typeface="Times New Roman"/>
                <a:cs typeface="Times New Roman"/>
              </a:rPr>
              <a:t>ground</a:t>
            </a:r>
            <a:r>
              <a:rPr dirty="0" sz="2000" spc="8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up,</a:t>
            </a:r>
            <a:r>
              <a:rPr dirty="0" sz="2000" spc="10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we</a:t>
            </a:r>
            <a:r>
              <a:rPr dirty="0" sz="2000" spc="10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need</a:t>
            </a:r>
            <a:r>
              <a:rPr dirty="0" sz="2000" spc="8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to</a:t>
            </a:r>
            <a:r>
              <a:rPr dirty="0" sz="2000" spc="9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sink</a:t>
            </a:r>
            <a:r>
              <a:rPr dirty="0" sz="2000" spc="9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more</a:t>
            </a:r>
            <a:r>
              <a:rPr dirty="0" sz="2000" spc="8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money</a:t>
            </a:r>
            <a:r>
              <a:rPr dirty="0" sz="2000" spc="10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into</a:t>
            </a:r>
            <a:r>
              <a:rPr dirty="0" sz="2000" spc="9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hardware</a:t>
            </a:r>
            <a:r>
              <a:rPr dirty="0" sz="2000" spc="9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for</a:t>
            </a:r>
            <a:r>
              <a:rPr dirty="0" sz="2000" spc="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an</a:t>
            </a:r>
            <a:r>
              <a:rPr dirty="0" sz="2000" spc="10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immediate</a:t>
            </a:r>
            <a:r>
              <a:rPr dirty="0" sz="2000" spc="10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future.</a:t>
            </a:r>
            <a:r>
              <a:rPr dirty="0" sz="2000" spc="8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While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will</a:t>
            </a:r>
            <a:r>
              <a:rPr dirty="0" sz="2000" spc="8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save</a:t>
            </a:r>
            <a:r>
              <a:rPr dirty="0" sz="2000" spc="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95">
                <a:latin typeface="Times New Roman"/>
                <a:cs typeface="Times New Roman"/>
              </a:rPr>
              <a:t> </a:t>
            </a:r>
            <a:r>
              <a:rPr dirty="0" sz="2000" spc="-20">
                <a:latin typeface="Times New Roman"/>
                <a:cs typeface="Times New Roman"/>
              </a:rPr>
              <a:t>long </a:t>
            </a:r>
            <a:r>
              <a:rPr dirty="0" sz="2000">
                <a:latin typeface="Times New Roman"/>
                <a:cs typeface="Times New Roman"/>
              </a:rPr>
              <a:t>run,</a:t>
            </a:r>
            <a:r>
              <a:rPr dirty="0" sz="2000" spc="-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implementation</a:t>
            </a:r>
            <a:r>
              <a:rPr dirty="0" sz="2000" spc="-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get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pricey.</a:t>
            </a:r>
            <a:r>
              <a:rPr dirty="0" sz="20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(A</a:t>
            </a:r>
            <a:r>
              <a:rPr dirty="0" sz="1400" spc="-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64-bit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processor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VM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Monitor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Mode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extensions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at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least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4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GB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RAM,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Times New Roman"/>
                <a:cs typeface="Times New Roman"/>
              </a:rPr>
              <a:t>DMA)</a:t>
            </a:r>
            <a:r>
              <a:rPr dirty="0" sz="2000" spc="-1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3237966"/>
            <a:ext cx="12036425" cy="34023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43840" marR="5080" indent="-231775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243840" algn="l"/>
              </a:tabLst>
            </a:pP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Not</a:t>
            </a:r>
            <a:r>
              <a:rPr dirty="0" sz="2000" spc="34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all</a:t>
            </a:r>
            <a:r>
              <a:rPr dirty="0" sz="2000" spc="33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applications</a:t>
            </a:r>
            <a:r>
              <a:rPr dirty="0" sz="2000" spc="33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are</a:t>
            </a:r>
            <a:r>
              <a:rPr dirty="0" sz="2000" spc="35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ready</a:t>
            </a:r>
            <a:r>
              <a:rPr dirty="0" sz="2000" spc="34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for</a:t>
            </a:r>
            <a:r>
              <a:rPr dirty="0" sz="2000" spc="30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virtualization</a:t>
            </a:r>
            <a:r>
              <a:rPr dirty="0" sz="2000">
                <a:solidFill>
                  <a:srgbClr val="C00000"/>
                </a:solidFill>
                <a:latin typeface="Times New Roman"/>
                <a:cs typeface="Times New Roman"/>
              </a:rPr>
              <a:t>.</a:t>
            </a:r>
            <a:r>
              <a:rPr dirty="0" sz="2000" spc="355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There</a:t>
            </a:r>
            <a:r>
              <a:rPr dirty="0" sz="2000" spc="3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are</a:t>
            </a:r>
            <a:r>
              <a:rPr dirty="0" sz="2000" spc="3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still</a:t>
            </a:r>
            <a:r>
              <a:rPr dirty="0" sz="2000" spc="3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vendors</a:t>
            </a:r>
            <a:r>
              <a:rPr dirty="0" sz="2000" spc="35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not</a:t>
            </a:r>
            <a:r>
              <a:rPr dirty="0" sz="2000" spc="3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fully</a:t>
            </a:r>
            <a:r>
              <a:rPr dirty="0" sz="2000" spc="34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supporting</a:t>
            </a:r>
            <a:r>
              <a:rPr dirty="0" sz="2000" spc="34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virtualized </a:t>
            </a:r>
            <a:r>
              <a:rPr dirty="0" sz="2000" b="1">
                <a:latin typeface="Times New Roman"/>
                <a:cs typeface="Times New Roman"/>
              </a:rPr>
              <a:t>environments.</a:t>
            </a:r>
            <a:r>
              <a:rPr dirty="0" sz="2000" spc="-70" b="1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(There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are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still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app</a:t>
            </a:r>
            <a:r>
              <a:rPr dirty="0" sz="1800" spc="-2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developing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by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vendors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that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cannot</a:t>
            </a:r>
            <a:r>
              <a:rPr dirty="0" sz="1800" spc="-4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run</a:t>
            </a:r>
            <a:r>
              <a:rPr dirty="0" sz="1800" spc="-2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in</a:t>
            </a:r>
            <a:r>
              <a:rPr dirty="0" sz="1800" spc="-30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an</a:t>
            </a:r>
            <a:r>
              <a:rPr dirty="0" sz="1800" spc="-35">
                <a:latin typeface="Times New Roman"/>
                <a:cs typeface="Times New Roman"/>
              </a:rPr>
              <a:t> </a:t>
            </a:r>
            <a:r>
              <a:rPr dirty="0" sz="1800">
                <a:latin typeface="Times New Roman"/>
                <a:cs typeface="Times New Roman"/>
              </a:rPr>
              <a:t>virtualized</a:t>
            </a:r>
            <a:r>
              <a:rPr dirty="0" sz="1800" spc="-45">
                <a:latin typeface="Times New Roman"/>
                <a:cs typeface="Times New Roman"/>
              </a:rPr>
              <a:t> </a:t>
            </a:r>
            <a:r>
              <a:rPr dirty="0" sz="1800" spc="-10">
                <a:latin typeface="Times New Roman"/>
                <a:cs typeface="Times New Roman"/>
              </a:rPr>
              <a:t>environment)</a:t>
            </a: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Clr>
                <a:srgbClr val="C00000"/>
              </a:buClr>
              <a:buFont typeface="Wingdings"/>
              <a:buChar char=""/>
            </a:pP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05"/>
              </a:spcBef>
              <a:buClr>
                <a:srgbClr val="C00000"/>
              </a:buClr>
              <a:buFont typeface="Wingdings"/>
              <a:buChar char=""/>
            </a:pPr>
            <a:endParaRPr sz="2000">
              <a:latin typeface="Times New Roman"/>
              <a:cs typeface="Times New Roman"/>
            </a:endParaRPr>
          </a:p>
          <a:p>
            <a:pPr algn="just" marL="243840" marR="5080" indent="-231775">
              <a:lnSpc>
                <a:spcPct val="150000"/>
              </a:lnSpc>
              <a:buFont typeface="Wingdings"/>
              <a:buChar char=""/>
              <a:tabLst>
                <a:tab pos="243840" algn="l"/>
              </a:tabLst>
            </a:pP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The</a:t>
            </a:r>
            <a:r>
              <a:rPr dirty="0" sz="2000" spc="27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danger</a:t>
            </a:r>
            <a:r>
              <a:rPr dirty="0" sz="2000" spc="23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of</a:t>
            </a:r>
            <a:r>
              <a:rPr dirty="0" sz="2000" spc="275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server</a:t>
            </a:r>
            <a:r>
              <a:rPr dirty="0" sz="2000" spc="24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solidFill>
                  <a:srgbClr val="C00000"/>
                </a:solidFill>
                <a:latin typeface="Times New Roman"/>
                <a:cs typeface="Times New Roman"/>
              </a:rPr>
              <a:t>sprawl.</a:t>
            </a:r>
            <a:r>
              <a:rPr dirty="0" sz="2000" spc="280" b="1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Because</a:t>
            </a:r>
            <a:r>
              <a:rPr dirty="0" sz="2000" spc="2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servers</a:t>
            </a:r>
            <a:r>
              <a:rPr dirty="0" sz="2000" spc="2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are</a:t>
            </a:r>
            <a:r>
              <a:rPr dirty="0" sz="2000" spc="2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so</a:t>
            </a:r>
            <a:r>
              <a:rPr dirty="0" sz="2000" spc="2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easy</a:t>
            </a:r>
            <a:r>
              <a:rPr dirty="0" sz="2000" spc="2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to</a:t>
            </a:r>
            <a:r>
              <a:rPr dirty="0" sz="2000" spc="2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deploy</a:t>
            </a:r>
            <a:r>
              <a:rPr dirty="0" sz="2000" spc="2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</a:t>
            </a:r>
            <a:r>
              <a:rPr dirty="0" sz="2000" spc="2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</a:t>
            </a:r>
            <a:r>
              <a:rPr dirty="0" sz="2000" spc="27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virtualized</a:t>
            </a:r>
            <a:r>
              <a:rPr dirty="0" sz="2000" spc="28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environment,</a:t>
            </a:r>
            <a:r>
              <a:rPr dirty="0" sz="2000" spc="28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there’s </a:t>
            </a:r>
            <a:r>
              <a:rPr dirty="0" sz="2000" b="1">
                <a:latin typeface="Times New Roman"/>
                <a:cs typeface="Times New Roman"/>
              </a:rPr>
              <a:t>always</a:t>
            </a:r>
            <a:r>
              <a:rPr dirty="0" sz="2000" spc="24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2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danger</a:t>
            </a:r>
            <a:r>
              <a:rPr dirty="0" sz="2000" spc="2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that</a:t>
            </a:r>
            <a:r>
              <a:rPr dirty="0" sz="2000" spc="2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new</a:t>
            </a:r>
            <a:r>
              <a:rPr dirty="0" sz="2000" spc="2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servers</a:t>
            </a:r>
            <a:r>
              <a:rPr dirty="0" sz="2000" spc="2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will</a:t>
            </a:r>
            <a:r>
              <a:rPr dirty="0" sz="2000" spc="2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be</a:t>
            </a:r>
            <a:r>
              <a:rPr dirty="0" sz="2000" spc="2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added</a:t>
            </a:r>
            <a:r>
              <a:rPr dirty="0" sz="2000" spc="2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even</a:t>
            </a:r>
            <a:r>
              <a:rPr dirty="0" sz="2000" spc="26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when</a:t>
            </a:r>
            <a:r>
              <a:rPr dirty="0" sz="2000" spc="2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they’re</a:t>
            </a:r>
            <a:r>
              <a:rPr dirty="0" sz="2000" spc="254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not</a:t>
            </a:r>
            <a:r>
              <a:rPr dirty="0" sz="2000" spc="254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needed.</a:t>
            </a:r>
            <a:r>
              <a:rPr dirty="0" sz="2000" spc="27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Instead</a:t>
            </a:r>
            <a:r>
              <a:rPr dirty="0" sz="2000" spc="2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of</a:t>
            </a:r>
            <a:r>
              <a:rPr dirty="0" sz="2000" spc="2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the</a:t>
            </a:r>
            <a:r>
              <a:rPr dirty="0" sz="2000" spc="25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10</a:t>
            </a:r>
            <a:r>
              <a:rPr dirty="0" sz="2000" spc="26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or</a:t>
            </a:r>
            <a:r>
              <a:rPr dirty="0" sz="2000" spc="215" b="1">
                <a:latin typeface="Times New Roman"/>
                <a:cs typeface="Times New Roman"/>
              </a:rPr>
              <a:t> </a:t>
            </a:r>
            <a:r>
              <a:rPr dirty="0" sz="2000" spc="-25" b="1">
                <a:latin typeface="Times New Roman"/>
                <a:cs typeface="Times New Roman"/>
              </a:rPr>
              <a:t>20 </a:t>
            </a:r>
            <a:r>
              <a:rPr dirty="0" sz="2000" b="1">
                <a:latin typeface="Times New Roman"/>
                <a:cs typeface="Times New Roman"/>
              </a:rPr>
              <a:t>virtual</a:t>
            </a:r>
            <a:r>
              <a:rPr dirty="0" sz="2000" spc="114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servers</a:t>
            </a:r>
            <a:r>
              <a:rPr dirty="0" sz="2000" spc="1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you</a:t>
            </a:r>
            <a:r>
              <a:rPr dirty="0" sz="2000" spc="13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really</a:t>
            </a:r>
            <a:r>
              <a:rPr dirty="0" sz="2000" spc="1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need,</a:t>
            </a:r>
            <a:r>
              <a:rPr dirty="0" sz="2000" spc="1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you</a:t>
            </a:r>
            <a:r>
              <a:rPr dirty="0" sz="2000" spc="1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might</a:t>
            </a:r>
            <a:r>
              <a:rPr dirty="0" sz="2000" spc="1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have</a:t>
            </a:r>
            <a:r>
              <a:rPr dirty="0" sz="2000" spc="12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30</a:t>
            </a:r>
            <a:r>
              <a:rPr dirty="0" sz="2000" spc="12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or</a:t>
            </a:r>
            <a:r>
              <a:rPr dirty="0" sz="2000" spc="9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40.</a:t>
            </a:r>
            <a:r>
              <a:rPr dirty="0" sz="2000" spc="130" b="1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(Simply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deploying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an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VM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even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when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it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is</a:t>
            </a:r>
            <a:r>
              <a:rPr dirty="0" sz="1600" spc="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not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needed</a:t>
            </a:r>
            <a:r>
              <a:rPr dirty="0" sz="1600" spc="5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may</a:t>
            </a:r>
            <a:r>
              <a:rPr dirty="0" sz="1600" spc="3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sprawl</a:t>
            </a:r>
            <a:endParaRPr sz="1600">
              <a:latin typeface="Times New Roman"/>
              <a:cs typeface="Times New Roman"/>
            </a:endParaRPr>
          </a:p>
          <a:p>
            <a:pPr marL="243840">
              <a:lnSpc>
                <a:spcPct val="100000"/>
              </a:lnSpc>
              <a:spcBef>
                <a:spcPts val="1060"/>
              </a:spcBef>
            </a:pPr>
            <a:r>
              <a:rPr dirty="0" sz="1600">
                <a:latin typeface="Times New Roman"/>
                <a:cs typeface="Times New Roman"/>
              </a:rPr>
              <a:t>/slow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server)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52445">
              <a:lnSpc>
                <a:spcPct val="100000"/>
              </a:lnSpc>
              <a:spcBef>
                <a:spcPts val="100"/>
              </a:spcBef>
            </a:pP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PROS</a:t>
            </a:r>
            <a:r>
              <a:rPr dirty="0" sz="3200" spc="-13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AND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20" b="0">
                <a:solidFill>
                  <a:srgbClr val="000000"/>
                </a:solidFill>
                <a:latin typeface="Calibri Light"/>
                <a:cs typeface="Calibri Light"/>
              </a:rPr>
              <a:t>CONS</a:t>
            </a:r>
            <a:r>
              <a:rPr dirty="0" sz="3200" spc="-14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dirty="0" sz="3200" spc="-12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45" b="0">
                <a:solidFill>
                  <a:srgbClr val="000000"/>
                </a:solidFill>
                <a:latin typeface="Calibri Light"/>
                <a:cs typeface="Calibri Light"/>
              </a:rPr>
              <a:t>VIRTUALIZATION</a:t>
            </a:r>
            <a:endParaRPr sz="3200">
              <a:latin typeface="Calibri Light"/>
              <a:cs typeface="Calibri Light"/>
            </a:endParaRP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9324" y="943431"/>
            <a:ext cx="8237065" cy="5329352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761" y="-65404"/>
            <a:ext cx="304990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40" b="0">
                <a:solidFill>
                  <a:srgbClr val="000000"/>
                </a:solidFill>
                <a:latin typeface="Calibri Light"/>
                <a:cs typeface="Calibri Light"/>
              </a:rPr>
              <a:t>VIRTUAL</a:t>
            </a:r>
            <a:r>
              <a:rPr dirty="0" sz="3200" spc="-12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MACHINE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504189"/>
            <a:ext cx="12036425" cy="5457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completely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separate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individual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operating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installation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main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operating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Virtual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machine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20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implementation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physical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machine.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</a:t>
            </a:r>
            <a:r>
              <a:rPr dirty="0" sz="1600" spc="9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VM</a:t>
            </a:r>
            <a:r>
              <a:rPr dirty="0" sz="1600" spc="9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10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just</a:t>
            </a:r>
            <a:r>
              <a:rPr dirty="0" sz="1600" spc="1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10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software</a:t>
            </a:r>
            <a:r>
              <a:rPr dirty="0" sz="1600" spc="10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pack</a:t>
            </a:r>
            <a:r>
              <a:rPr dirty="0" sz="1600" spc="9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like</a:t>
            </a:r>
            <a:r>
              <a:rPr dirty="0" sz="1600" spc="1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folder</a:t>
            </a:r>
            <a:r>
              <a:rPr dirty="0" sz="1600" spc="9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containing</a:t>
            </a:r>
            <a:endParaRPr sz="16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60"/>
              </a:spcBef>
            </a:pPr>
            <a:r>
              <a:rPr dirty="0" sz="1600" spc="-10">
                <a:latin typeface="Calibri"/>
                <a:cs typeface="Calibri"/>
              </a:rPr>
              <a:t>configuration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details,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details,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App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details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other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infm,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not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signifying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any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physical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structure)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0"/>
              </a:spcBef>
            </a:pPr>
            <a:endParaRPr sz="1600">
              <a:latin typeface="Calibri"/>
              <a:cs typeface="Calibri"/>
            </a:endParaRPr>
          </a:p>
          <a:p>
            <a:pPr algn="just" marL="352425" marR="7620" indent="-339725">
              <a:lnSpc>
                <a:spcPct val="15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Virtual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machines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divided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categories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1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correspondence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real</a:t>
            </a:r>
            <a:r>
              <a:rPr dirty="0" sz="2000" spc="1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machine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(How</a:t>
            </a:r>
            <a:r>
              <a:rPr dirty="0" sz="1600" spc="5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it </a:t>
            </a:r>
            <a:r>
              <a:rPr dirty="0" sz="1600" spc="-25">
                <a:latin typeface="Calibri"/>
                <a:cs typeface="Calibri"/>
              </a:rPr>
              <a:t>	</a:t>
            </a:r>
            <a:r>
              <a:rPr dirty="0" sz="1600" spc="-10">
                <a:latin typeface="Calibri"/>
                <a:cs typeface="Calibri"/>
              </a:rPr>
              <a:t>interacts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with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physical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machine)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: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Machines.</a:t>
            </a:r>
            <a:endParaRPr sz="2000">
              <a:latin typeface="Calibri"/>
              <a:cs typeface="Calibri"/>
            </a:endParaRPr>
          </a:p>
          <a:p>
            <a:pPr algn="just" marL="352425" marR="7620" indent="-339725">
              <a:lnSpc>
                <a:spcPct val="150000"/>
              </a:lnSpc>
              <a:spcBef>
                <a:spcPts val="24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First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category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provides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complete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platform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executes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complete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operating</a:t>
            </a:r>
            <a:r>
              <a:rPr dirty="0" sz="2000" spc="1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system,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second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12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will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run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single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program.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457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Frequently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machines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their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own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OS's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2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30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consolidation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2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where</a:t>
            </a:r>
            <a:r>
              <a:rPr dirty="0" sz="2000" spc="28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different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services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separate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environments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same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physical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(Server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Consolidation</a:t>
            </a:r>
            <a:r>
              <a:rPr dirty="0" sz="1400" spc="-10">
                <a:latin typeface="Wingdings"/>
                <a:cs typeface="Wingdings"/>
              </a:rPr>
              <a:t>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Calibri"/>
                <a:cs typeface="Calibri"/>
              </a:rPr>
              <a:t>Applications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running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different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servers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are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consolidated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single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server)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9242" y="-63880"/>
            <a:ext cx="6034405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>
                <a:solidFill>
                  <a:srgbClr val="000000"/>
                </a:solidFill>
                <a:latin typeface="Times New Roman"/>
                <a:cs typeface="Times New Roman"/>
              </a:rPr>
              <a:t>TYPES OF</a:t>
            </a:r>
            <a:r>
              <a:rPr dirty="0" sz="3200" spc="-17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200" spc="-30">
                <a:solidFill>
                  <a:srgbClr val="000000"/>
                </a:solidFill>
                <a:latin typeface="Times New Roman"/>
                <a:cs typeface="Times New Roman"/>
              </a:rPr>
              <a:t>VIRTUAL</a:t>
            </a:r>
            <a:r>
              <a:rPr dirty="0" sz="3200" spc="-16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000000"/>
                </a:solidFill>
                <a:latin typeface="Times New Roman"/>
                <a:cs typeface="Times New Roman"/>
              </a:rPr>
              <a:t>MACHINE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211268"/>
            <a:ext cx="12036425" cy="5433060"/>
          </a:xfrm>
          <a:prstGeom prst="rect">
            <a:avLst/>
          </a:prstGeom>
        </p:spPr>
        <p:txBody>
          <a:bodyPr wrap="square" lIns="0" tIns="1701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divided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into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two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categories:</a:t>
            </a:r>
            <a:endParaRPr sz="2000">
              <a:latin typeface="Calibri"/>
              <a:cs typeface="Calibri"/>
            </a:endParaRPr>
          </a:p>
          <a:p>
            <a:pPr algn="just" marL="314325" indent="-301625">
              <a:lnSpc>
                <a:spcPct val="100000"/>
              </a:lnSpc>
              <a:spcBef>
                <a:spcPts val="1485"/>
              </a:spcBef>
              <a:buAutoNum type="arabicPeriod"/>
              <a:tabLst>
                <a:tab pos="314325" algn="l"/>
              </a:tabLst>
            </a:pPr>
            <a:r>
              <a:rPr dirty="0" sz="2400" spc="-20" b="1">
                <a:solidFill>
                  <a:srgbClr val="C00000"/>
                </a:solidFill>
                <a:latin typeface="Calibri"/>
                <a:cs typeface="Calibri"/>
              </a:rPr>
              <a:t>System</a:t>
            </a:r>
            <a:r>
              <a:rPr dirty="0" sz="2400" spc="-8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Virtual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Machines</a:t>
            </a:r>
            <a:endParaRPr sz="2400">
              <a:latin typeface="Calibri"/>
              <a:cs typeface="Calibri"/>
            </a:endParaRPr>
          </a:p>
          <a:p>
            <a:pPr algn="just" lvl="1" marL="351790" marR="5715" indent="-339090">
              <a:lnSpc>
                <a:spcPct val="147900"/>
              </a:lnSpc>
              <a:spcBef>
                <a:spcPts val="7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provides</a:t>
            </a:r>
            <a:r>
              <a:rPr dirty="0" sz="2000" spc="3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3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platform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3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supports</a:t>
            </a:r>
            <a:r>
              <a:rPr dirty="0" sz="2000" spc="3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34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sharing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computer's</a:t>
            </a:r>
            <a:r>
              <a:rPr dirty="0" sz="2000" spc="3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physical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between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machines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each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running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its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own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copy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operating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system.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virtualization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technique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1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provided by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software layer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known as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Hypervisor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 run </a:t>
            </a:r>
            <a:r>
              <a:rPr dirty="0" sz="2000" b="1">
                <a:latin typeface="Calibri"/>
                <a:cs typeface="Calibri"/>
              </a:rPr>
              <a:t>either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bare hardware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on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top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operating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system.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(Creates</a:t>
            </a:r>
            <a:r>
              <a:rPr dirty="0" sz="1400" spc="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separate</a:t>
            </a:r>
            <a:r>
              <a:rPr dirty="0" sz="1400" spc="1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multiple</a:t>
            </a:r>
            <a:r>
              <a:rPr dirty="0" sz="1400" spc="10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VM</a:t>
            </a:r>
            <a:r>
              <a:rPr dirty="0" sz="1400" spc="9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OS</a:t>
            </a:r>
            <a:r>
              <a:rPr dirty="0" sz="1400" spc="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installed</a:t>
            </a:r>
            <a:r>
              <a:rPr dirty="0" sz="1400" spc="9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&amp;</a:t>
            </a:r>
            <a:r>
              <a:rPr dirty="0" sz="1400" spc="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application</a:t>
            </a:r>
            <a:r>
              <a:rPr dirty="0" sz="1400" spc="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running</a:t>
            </a:r>
            <a:r>
              <a:rPr dirty="0" sz="1400" spc="9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10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10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8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9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single</a:t>
            </a:r>
            <a:r>
              <a:rPr dirty="0" sz="1400" spc="9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physical</a:t>
            </a:r>
            <a:r>
              <a:rPr dirty="0" sz="1400" spc="1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server,</a:t>
            </a:r>
            <a:r>
              <a:rPr dirty="0" sz="1400" spc="9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multiple 	applications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runs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its own</a:t>
            </a:r>
            <a:r>
              <a:rPr dirty="0" sz="1400" spc="2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&amp;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its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own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resources)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000">
              <a:latin typeface="Calibri"/>
              <a:cs typeface="Calibri"/>
            </a:endParaRPr>
          </a:p>
          <a:p>
            <a:pPr algn="just" marL="314325" indent="-301625">
              <a:lnSpc>
                <a:spcPct val="100000"/>
              </a:lnSpc>
              <a:buAutoNum type="arabicPeriod" startAt="2"/>
              <a:tabLst>
                <a:tab pos="314325" algn="l"/>
              </a:tabLst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Process</a:t>
            </a:r>
            <a:r>
              <a:rPr dirty="0" sz="24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Virtual</a:t>
            </a:r>
            <a:r>
              <a:rPr dirty="0" sz="24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Machine</a:t>
            </a:r>
            <a:endParaRPr sz="2400">
              <a:latin typeface="Calibri"/>
              <a:cs typeface="Calibri"/>
            </a:endParaRPr>
          </a:p>
          <a:p>
            <a:pPr algn="just" lvl="1" marL="352425" marR="5080" indent="-339725">
              <a:lnSpc>
                <a:spcPct val="150100"/>
              </a:lnSpc>
              <a:spcBef>
                <a:spcPts val="6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Process</a:t>
            </a:r>
            <a:r>
              <a:rPr dirty="0" sz="2000" spc="2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provides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210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platform-</a:t>
            </a:r>
            <a:r>
              <a:rPr dirty="0" sz="2000" b="1">
                <a:latin typeface="Calibri"/>
                <a:cs typeface="Calibri"/>
              </a:rPr>
              <a:t>independent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programming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environment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masks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information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the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underlying hardware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operating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 and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allows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program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execution to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take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place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 the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same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way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any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given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platform.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5799531"/>
            <a:ext cx="12035790" cy="940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Calibri"/>
                <a:cs typeface="Calibri"/>
              </a:rPr>
              <a:t>(provides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platform</a:t>
            </a:r>
            <a:r>
              <a:rPr dirty="0" sz="1200" spc="4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independent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pgmming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environment,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VM</a:t>
            </a:r>
            <a:r>
              <a:rPr dirty="0" sz="1200" spc="6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is</a:t>
            </a:r>
            <a:r>
              <a:rPr dirty="0" sz="1200" spc="7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created</a:t>
            </a:r>
            <a:r>
              <a:rPr dirty="0" sz="1200" spc="7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(virtually)</a:t>
            </a:r>
            <a:r>
              <a:rPr dirty="0" sz="1200" spc="7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started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destroyed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exit.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separate</a:t>
            </a:r>
            <a:r>
              <a:rPr dirty="0" sz="1200" spc="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VM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OS</a:t>
            </a:r>
            <a:r>
              <a:rPr dirty="0" sz="1200" spc="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installed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&amp;</a:t>
            </a:r>
            <a:r>
              <a:rPr dirty="0" sz="1200" spc="7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 </a:t>
            </a:r>
            <a:r>
              <a:rPr dirty="0" sz="1200">
                <a:latin typeface="Calibri"/>
                <a:cs typeface="Calibri"/>
              </a:rPr>
              <a:t>running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that,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3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applications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runs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same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OS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time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sharing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3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interprets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instruction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underlying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architecture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&amp;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OS.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Eg: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JVM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running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threads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&amp;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converting </a:t>
            </a:r>
            <a:r>
              <a:rPr dirty="0" sz="1200">
                <a:latin typeface="Calibri"/>
                <a:cs typeface="Calibri"/>
              </a:rPr>
              <a:t>instruction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underlying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architecture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&amp;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OS)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(A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virtual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machine,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sometimes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called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 </a:t>
            </a:r>
            <a:r>
              <a:rPr dirty="0" sz="1200">
                <a:latin typeface="Calibri"/>
                <a:cs typeface="Calibri"/>
              </a:rPr>
              <a:t>virtual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machine,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normal</a:t>
            </a:r>
            <a:r>
              <a:rPr dirty="0" sz="1200" spc="-10">
                <a:latin typeface="Calibri"/>
                <a:cs typeface="Calibri"/>
              </a:rPr>
              <a:t> application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inside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host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supports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process.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created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process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started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destroyed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when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exits.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purpose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provide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platform-</a:t>
            </a:r>
            <a:r>
              <a:rPr dirty="0" sz="1200">
                <a:latin typeface="Calibri"/>
                <a:cs typeface="Calibri"/>
              </a:rPr>
              <a:t>independent</a:t>
            </a:r>
            <a:r>
              <a:rPr dirty="0" sz="1200" spc="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programming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environment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abstracts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away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details</a:t>
            </a:r>
            <a:r>
              <a:rPr dirty="0" sz="1200" spc="2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underlying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hardware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0">
                <a:latin typeface="Calibri"/>
                <a:cs typeface="Calibri"/>
              </a:rPr>
              <a:t> operating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system,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program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execute</a:t>
            </a:r>
            <a:r>
              <a:rPr dirty="0" sz="1200">
                <a:latin typeface="Calibri"/>
                <a:cs typeface="Calibri"/>
              </a:rPr>
              <a:t> 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same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way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platform).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013075">
              <a:lnSpc>
                <a:spcPts val="3660"/>
              </a:lnSpc>
              <a:spcBef>
                <a:spcPts val="100"/>
              </a:spcBef>
            </a:pPr>
            <a:r>
              <a:rPr dirty="0" sz="3200">
                <a:solidFill>
                  <a:srgbClr val="000000"/>
                </a:solidFill>
                <a:latin typeface="Times New Roman"/>
                <a:cs typeface="Times New Roman"/>
              </a:rPr>
              <a:t>TYPES OF</a:t>
            </a:r>
            <a:r>
              <a:rPr dirty="0" sz="3200" spc="-17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200" spc="-30">
                <a:solidFill>
                  <a:srgbClr val="000000"/>
                </a:solidFill>
                <a:latin typeface="Times New Roman"/>
                <a:cs typeface="Times New Roman"/>
              </a:rPr>
              <a:t>VIRTUAL</a:t>
            </a:r>
            <a:r>
              <a:rPr dirty="0" sz="3200" spc="-165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3200" spc="-10">
                <a:solidFill>
                  <a:srgbClr val="000000"/>
                </a:solidFill>
                <a:latin typeface="Times New Roman"/>
                <a:cs typeface="Times New Roman"/>
              </a:rPr>
              <a:t>MACHINE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ts val="2220"/>
              </a:lnSpc>
            </a:pPr>
            <a:r>
              <a:rPr dirty="0" sz="2000">
                <a:solidFill>
                  <a:srgbClr val="232729"/>
                </a:solidFill>
                <a:latin typeface="Arial"/>
                <a:cs typeface="Arial"/>
              </a:rPr>
              <a:t>(</a:t>
            </a:r>
            <a:r>
              <a:rPr dirty="0" sz="2000" spc="-30">
                <a:solidFill>
                  <a:srgbClr val="23272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32729"/>
                </a:solidFill>
                <a:latin typeface="Arial"/>
                <a:cs typeface="Arial"/>
              </a:rPr>
              <a:t>just</a:t>
            </a:r>
            <a:r>
              <a:rPr dirty="0" sz="2000" spc="-30">
                <a:solidFill>
                  <a:srgbClr val="23272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32729"/>
                </a:solidFill>
                <a:latin typeface="Arial"/>
                <a:cs typeface="Arial"/>
              </a:rPr>
              <a:t>for</a:t>
            </a:r>
            <a:r>
              <a:rPr dirty="0" sz="2000" spc="-35">
                <a:solidFill>
                  <a:srgbClr val="232729"/>
                </a:solidFill>
                <a:latin typeface="Arial"/>
                <a:cs typeface="Arial"/>
              </a:rPr>
              <a:t> </a:t>
            </a:r>
            <a:r>
              <a:rPr dirty="0" sz="2000">
                <a:solidFill>
                  <a:srgbClr val="232729"/>
                </a:solidFill>
                <a:latin typeface="Arial"/>
                <a:cs typeface="Arial"/>
              </a:rPr>
              <a:t>your</a:t>
            </a:r>
            <a:r>
              <a:rPr dirty="0" sz="2000" spc="20">
                <a:solidFill>
                  <a:srgbClr val="232729"/>
                </a:solidFill>
                <a:latin typeface="Arial"/>
                <a:cs typeface="Arial"/>
              </a:rPr>
              <a:t> </a:t>
            </a:r>
            <a:r>
              <a:rPr dirty="0" sz="2000" spc="-10">
                <a:solidFill>
                  <a:srgbClr val="232729"/>
                </a:solidFill>
                <a:latin typeface="Arial"/>
                <a:cs typeface="Arial"/>
              </a:rPr>
              <a:t>reference)</a:t>
            </a:r>
            <a:endParaRPr sz="2000">
              <a:latin typeface="Arial"/>
              <a:cs typeface="Arial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173226"/>
            <a:ext cx="12036425" cy="2506345"/>
          </a:xfrm>
          <a:prstGeom prst="rect">
            <a:avLst/>
          </a:prstGeom>
        </p:spPr>
        <p:txBody>
          <a:bodyPr wrap="square" lIns="0" tIns="43180" rIns="0" bIns="0" rtlCol="0" vert="horz">
            <a:spAutoFit/>
          </a:bodyPr>
          <a:lstStyle/>
          <a:p>
            <a:pPr algn="just" marL="12700" marR="5080">
              <a:lnSpc>
                <a:spcPct val="90000"/>
              </a:lnSpc>
              <a:spcBef>
                <a:spcPts val="340"/>
              </a:spcBef>
            </a:pP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A</a:t>
            </a:r>
            <a:r>
              <a:rPr dirty="0" sz="2000" spc="8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 b="1">
                <a:solidFill>
                  <a:srgbClr val="232729"/>
                </a:solidFill>
                <a:latin typeface="Calibri"/>
                <a:cs typeface="Calibri"/>
              </a:rPr>
              <a:t>Process</a:t>
            </a:r>
            <a:r>
              <a:rPr dirty="0" sz="2000" spc="305" b="1">
                <a:solidFill>
                  <a:srgbClr val="2327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232729"/>
                </a:solidFill>
                <a:latin typeface="Calibri"/>
                <a:cs typeface="Calibri"/>
              </a:rPr>
              <a:t>virtual</a:t>
            </a:r>
            <a:r>
              <a:rPr dirty="0" sz="2000" spc="300" b="1">
                <a:solidFill>
                  <a:srgbClr val="2327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232729"/>
                </a:solidFill>
                <a:latin typeface="Calibri"/>
                <a:cs typeface="Calibri"/>
              </a:rPr>
              <a:t>machine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,</a:t>
            </a:r>
            <a:r>
              <a:rPr dirty="0" sz="2000" spc="17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sometimes</a:t>
            </a:r>
            <a:r>
              <a:rPr dirty="0" sz="2000" spc="20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called</a:t>
            </a:r>
            <a:r>
              <a:rPr dirty="0" sz="2000" spc="19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an</a:t>
            </a:r>
            <a:r>
              <a:rPr dirty="0" sz="2000" spc="20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application</a:t>
            </a:r>
            <a:r>
              <a:rPr dirty="0" sz="2000" spc="19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virtual</a:t>
            </a:r>
            <a:r>
              <a:rPr dirty="0" sz="2000" spc="18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machine,</a:t>
            </a:r>
            <a:r>
              <a:rPr dirty="0" sz="2000" spc="17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runs</a:t>
            </a:r>
            <a:r>
              <a:rPr dirty="0" sz="2000" spc="204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as</a:t>
            </a:r>
            <a:r>
              <a:rPr dirty="0" sz="2000" spc="20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a</a:t>
            </a:r>
            <a:r>
              <a:rPr dirty="0" sz="2000" spc="18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normal</a:t>
            </a:r>
            <a:r>
              <a:rPr dirty="0" sz="2000" spc="20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32729"/>
                </a:solidFill>
                <a:latin typeface="Arial MT"/>
                <a:cs typeface="Arial MT"/>
              </a:rPr>
              <a:t>application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inside</a:t>
            </a:r>
            <a:r>
              <a:rPr dirty="0" sz="2000" spc="13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a</a:t>
            </a:r>
            <a:r>
              <a:rPr dirty="0" sz="2000" spc="12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host</a:t>
            </a:r>
            <a:r>
              <a:rPr dirty="0" sz="2000" spc="9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OS</a:t>
            </a:r>
            <a:r>
              <a:rPr dirty="0" sz="2000" spc="12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and</a:t>
            </a:r>
            <a:r>
              <a:rPr dirty="0" sz="2000" spc="12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supports</a:t>
            </a:r>
            <a:r>
              <a:rPr dirty="0" sz="2000" spc="12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a</a:t>
            </a:r>
            <a:r>
              <a:rPr dirty="0" sz="2000" spc="12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single</a:t>
            </a:r>
            <a:r>
              <a:rPr dirty="0" sz="2000" spc="114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process.</a:t>
            </a:r>
            <a:r>
              <a:rPr dirty="0" sz="2000" spc="12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It</a:t>
            </a:r>
            <a:r>
              <a:rPr dirty="0" sz="2000" spc="12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is</a:t>
            </a:r>
            <a:r>
              <a:rPr dirty="0" sz="2000" spc="10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created</a:t>
            </a:r>
            <a:r>
              <a:rPr dirty="0" sz="2000" spc="13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when</a:t>
            </a:r>
            <a:r>
              <a:rPr dirty="0" sz="2000" spc="12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that</a:t>
            </a:r>
            <a:r>
              <a:rPr dirty="0" sz="2000" spc="11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process</a:t>
            </a:r>
            <a:r>
              <a:rPr dirty="0" sz="2000" spc="12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is</a:t>
            </a:r>
            <a:r>
              <a:rPr dirty="0" sz="2000" spc="12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started</a:t>
            </a:r>
            <a:r>
              <a:rPr dirty="0" sz="2000" spc="13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and</a:t>
            </a:r>
            <a:r>
              <a:rPr dirty="0" sz="2000" spc="12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32729"/>
                </a:solidFill>
                <a:latin typeface="Arial MT"/>
                <a:cs typeface="Arial MT"/>
              </a:rPr>
              <a:t>destroyed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when</a:t>
            </a:r>
            <a:r>
              <a:rPr dirty="0" sz="2000" spc="254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it</a:t>
            </a:r>
            <a:r>
              <a:rPr dirty="0" sz="2000" spc="24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exits.</a:t>
            </a:r>
            <a:r>
              <a:rPr dirty="0" sz="2000" spc="24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Its</a:t>
            </a:r>
            <a:r>
              <a:rPr dirty="0" sz="2000" spc="24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purpose</a:t>
            </a:r>
            <a:r>
              <a:rPr dirty="0" sz="2000" spc="254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is</a:t>
            </a:r>
            <a:r>
              <a:rPr dirty="0" sz="2000" spc="254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to</a:t>
            </a:r>
            <a:r>
              <a:rPr dirty="0" sz="2000" spc="254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provide</a:t>
            </a:r>
            <a:r>
              <a:rPr dirty="0" sz="2000" spc="254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a</a:t>
            </a:r>
            <a:r>
              <a:rPr dirty="0" sz="2000" spc="254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32729"/>
                </a:solidFill>
                <a:latin typeface="Arial MT"/>
                <a:cs typeface="Arial MT"/>
              </a:rPr>
              <a:t>platform-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independent</a:t>
            </a:r>
            <a:r>
              <a:rPr dirty="0" sz="2000" spc="254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programming</a:t>
            </a:r>
            <a:r>
              <a:rPr dirty="0" sz="2000" spc="254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environment</a:t>
            </a:r>
            <a:r>
              <a:rPr dirty="0" sz="2000" spc="24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that</a:t>
            </a:r>
            <a:r>
              <a:rPr dirty="0" sz="2000" spc="25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32729"/>
                </a:solidFill>
                <a:latin typeface="Arial MT"/>
                <a:cs typeface="Arial MT"/>
              </a:rPr>
              <a:t>abstracts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away</a:t>
            </a:r>
            <a:r>
              <a:rPr dirty="0" sz="2000" spc="-1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details</a:t>
            </a:r>
            <a:r>
              <a:rPr dirty="0" sz="2000" spc="-2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of</a:t>
            </a:r>
            <a:r>
              <a:rPr dirty="0" sz="2000" spc="-1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the</a:t>
            </a:r>
            <a:r>
              <a:rPr dirty="0" sz="2000" spc="-1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underlying</a:t>
            </a:r>
            <a:r>
              <a:rPr dirty="0" sz="2000" spc="-1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hardware</a:t>
            </a:r>
            <a:r>
              <a:rPr dirty="0" sz="2000" spc="-2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or</a:t>
            </a:r>
            <a:r>
              <a:rPr dirty="0" sz="2000" spc="-2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operating</a:t>
            </a:r>
            <a:r>
              <a:rPr dirty="0" sz="2000" spc="-2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system,</a:t>
            </a:r>
            <a:r>
              <a:rPr dirty="0" sz="2000" spc="-2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and</a:t>
            </a:r>
            <a:r>
              <a:rPr dirty="0" sz="2000" spc="-1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allows</a:t>
            </a:r>
            <a:r>
              <a:rPr dirty="0" sz="2000" spc="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a</a:t>
            </a:r>
            <a:r>
              <a:rPr dirty="0" sz="2000" spc="-2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program</a:t>
            </a:r>
            <a:r>
              <a:rPr dirty="0" sz="2000" spc="-1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to</a:t>
            </a:r>
            <a:r>
              <a:rPr dirty="0" sz="2000" spc="-1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execute</a:t>
            </a:r>
            <a:r>
              <a:rPr dirty="0" sz="2000" spc="-2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in</a:t>
            </a:r>
            <a:r>
              <a:rPr dirty="0" sz="2000" spc="-1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the</a:t>
            </a:r>
            <a:r>
              <a:rPr dirty="0" sz="2000" spc="-20">
                <a:solidFill>
                  <a:srgbClr val="232729"/>
                </a:solidFill>
                <a:latin typeface="Arial MT"/>
                <a:cs typeface="Arial MT"/>
              </a:rPr>
              <a:t> same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way</a:t>
            </a:r>
            <a:r>
              <a:rPr dirty="0" sz="2000" spc="-3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on</a:t>
            </a:r>
            <a:r>
              <a:rPr dirty="0" sz="2000" spc="-3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any</a:t>
            </a:r>
            <a:r>
              <a:rPr dirty="0" sz="2000" spc="-3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platform.</a:t>
            </a:r>
            <a:r>
              <a:rPr dirty="0" sz="2000" spc="-6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 i="1">
                <a:solidFill>
                  <a:srgbClr val="232729"/>
                </a:solidFill>
                <a:latin typeface="Calibri"/>
                <a:cs typeface="Calibri"/>
              </a:rPr>
              <a:t>For</a:t>
            </a:r>
            <a:r>
              <a:rPr dirty="0" sz="2000" spc="-15" i="1">
                <a:solidFill>
                  <a:srgbClr val="232729"/>
                </a:solidFill>
                <a:latin typeface="Calibri"/>
                <a:cs typeface="Calibri"/>
              </a:rPr>
              <a:t> </a:t>
            </a:r>
            <a:r>
              <a:rPr dirty="0" sz="2000" spc="-10" i="1">
                <a:solidFill>
                  <a:srgbClr val="232729"/>
                </a:solidFill>
                <a:latin typeface="Calibri"/>
                <a:cs typeface="Calibri"/>
              </a:rPr>
              <a:t>example</a:t>
            </a:r>
            <a:r>
              <a:rPr dirty="0" sz="2000" spc="-50" i="1">
                <a:solidFill>
                  <a:srgbClr val="232729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232729"/>
                </a:solidFill>
                <a:latin typeface="Calibri"/>
                <a:cs typeface="Calibri"/>
              </a:rPr>
              <a:t>Wine</a:t>
            </a:r>
            <a:r>
              <a:rPr dirty="0" sz="2000" spc="-40" i="1">
                <a:solidFill>
                  <a:srgbClr val="232729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232729"/>
                </a:solidFill>
                <a:latin typeface="Calibri"/>
                <a:cs typeface="Calibri"/>
              </a:rPr>
              <a:t>software</a:t>
            </a:r>
            <a:r>
              <a:rPr dirty="0" sz="2000" spc="-55" i="1">
                <a:solidFill>
                  <a:srgbClr val="232729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232729"/>
                </a:solidFill>
                <a:latin typeface="Calibri"/>
                <a:cs typeface="Calibri"/>
              </a:rPr>
              <a:t>in</a:t>
            </a:r>
            <a:r>
              <a:rPr dirty="0" sz="2000" spc="-10" i="1">
                <a:solidFill>
                  <a:srgbClr val="232729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232729"/>
                </a:solidFill>
                <a:latin typeface="Calibri"/>
                <a:cs typeface="Calibri"/>
              </a:rPr>
              <a:t>Linux</a:t>
            </a:r>
            <a:r>
              <a:rPr dirty="0" sz="2000" spc="-40" i="1">
                <a:solidFill>
                  <a:srgbClr val="232729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232729"/>
                </a:solidFill>
                <a:latin typeface="Calibri"/>
                <a:cs typeface="Calibri"/>
              </a:rPr>
              <a:t>helps</a:t>
            </a:r>
            <a:r>
              <a:rPr dirty="0" sz="2000" spc="-40" i="1">
                <a:solidFill>
                  <a:srgbClr val="232729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232729"/>
                </a:solidFill>
                <a:latin typeface="Calibri"/>
                <a:cs typeface="Calibri"/>
              </a:rPr>
              <a:t>to</a:t>
            </a:r>
            <a:r>
              <a:rPr dirty="0" sz="2000" spc="-20" i="1">
                <a:solidFill>
                  <a:srgbClr val="232729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232729"/>
                </a:solidFill>
                <a:latin typeface="Calibri"/>
                <a:cs typeface="Calibri"/>
              </a:rPr>
              <a:t>run</a:t>
            </a:r>
            <a:r>
              <a:rPr dirty="0" sz="2000" spc="-30" i="1">
                <a:solidFill>
                  <a:srgbClr val="232729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232729"/>
                </a:solidFill>
                <a:latin typeface="Calibri"/>
                <a:cs typeface="Calibri"/>
              </a:rPr>
              <a:t>Windows</a:t>
            </a:r>
            <a:r>
              <a:rPr dirty="0" sz="2000" spc="-60" i="1">
                <a:solidFill>
                  <a:srgbClr val="232729"/>
                </a:solidFill>
                <a:latin typeface="Calibri"/>
                <a:cs typeface="Calibri"/>
              </a:rPr>
              <a:t> </a:t>
            </a:r>
            <a:r>
              <a:rPr dirty="0" sz="2000" i="1">
                <a:solidFill>
                  <a:srgbClr val="232729"/>
                </a:solidFill>
                <a:latin typeface="Calibri"/>
                <a:cs typeface="Calibri"/>
              </a:rPr>
              <a:t>application</a:t>
            </a:r>
            <a:r>
              <a:rPr dirty="0" sz="2000" spc="70" i="1">
                <a:solidFill>
                  <a:srgbClr val="232729"/>
                </a:solidFill>
                <a:latin typeface="Calibri"/>
                <a:cs typeface="Calibri"/>
              </a:rPr>
              <a:t> </a:t>
            </a:r>
            <a:r>
              <a:rPr dirty="0" sz="2000" spc="-50">
                <a:solidFill>
                  <a:srgbClr val="232729"/>
                </a:solidFill>
                <a:latin typeface="Arial MT"/>
                <a:cs typeface="Arial MT"/>
              </a:rPr>
              <a:t>.</a:t>
            </a:r>
            <a:endParaRPr sz="20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25"/>
              </a:spcBef>
            </a:pPr>
            <a:endParaRPr sz="2000">
              <a:latin typeface="Arial MT"/>
              <a:cs typeface="Arial MT"/>
            </a:endParaRPr>
          </a:p>
          <a:p>
            <a:pPr algn="just" marL="12700">
              <a:lnSpc>
                <a:spcPts val="2280"/>
              </a:lnSpc>
            </a:pP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A</a:t>
            </a:r>
            <a:r>
              <a:rPr dirty="0" sz="2000" spc="-6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 b="1">
                <a:solidFill>
                  <a:srgbClr val="232729"/>
                </a:solidFill>
                <a:latin typeface="Calibri"/>
                <a:cs typeface="Calibri"/>
              </a:rPr>
              <a:t>System</a:t>
            </a:r>
            <a:r>
              <a:rPr dirty="0" sz="2000" spc="150" b="1">
                <a:solidFill>
                  <a:srgbClr val="2327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232729"/>
                </a:solidFill>
                <a:latin typeface="Calibri"/>
                <a:cs typeface="Calibri"/>
              </a:rPr>
              <a:t>virtual</a:t>
            </a:r>
            <a:r>
              <a:rPr dirty="0" sz="2000" spc="145" b="1">
                <a:solidFill>
                  <a:srgbClr val="2327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232729"/>
                </a:solidFill>
                <a:latin typeface="Calibri"/>
                <a:cs typeface="Calibri"/>
              </a:rPr>
              <a:t>machine</a:t>
            </a:r>
            <a:r>
              <a:rPr dirty="0" sz="2000" spc="150" b="1">
                <a:solidFill>
                  <a:srgbClr val="2327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provides</a:t>
            </a:r>
            <a:r>
              <a:rPr dirty="0" sz="2000" spc="5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a</a:t>
            </a:r>
            <a:r>
              <a:rPr dirty="0" sz="2000" spc="5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complete</a:t>
            </a:r>
            <a:r>
              <a:rPr dirty="0" sz="2000" spc="3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system</a:t>
            </a:r>
            <a:r>
              <a:rPr dirty="0" sz="2000" spc="4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platform</a:t>
            </a:r>
            <a:r>
              <a:rPr dirty="0" sz="2000" spc="4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which</a:t>
            </a:r>
            <a:r>
              <a:rPr dirty="0" sz="2000" spc="5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supports</a:t>
            </a:r>
            <a:r>
              <a:rPr dirty="0" sz="2000" spc="4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the</a:t>
            </a:r>
            <a:r>
              <a:rPr dirty="0" sz="2000" spc="4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execution</a:t>
            </a:r>
            <a:r>
              <a:rPr dirty="0" sz="2000" spc="4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of</a:t>
            </a:r>
            <a:r>
              <a:rPr dirty="0" sz="2000" spc="4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a</a:t>
            </a:r>
            <a:r>
              <a:rPr dirty="0" sz="2000" spc="5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32729"/>
                </a:solidFill>
                <a:latin typeface="Arial MT"/>
                <a:cs typeface="Arial MT"/>
              </a:rPr>
              <a:t>complete</a:t>
            </a:r>
            <a:endParaRPr sz="2000">
              <a:latin typeface="Arial MT"/>
              <a:cs typeface="Arial MT"/>
            </a:endParaRPr>
          </a:p>
          <a:p>
            <a:pPr algn="just" marL="12700">
              <a:lnSpc>
                <a:spcPts val="2280"/>
              </a:lnSpc>
            </a:pP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operating</a:t>
            </a:r>
            <a:r>
              <a:rPr dirty="0" sz="2000" spc="-5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system</a:t>
            </a:r>
            <a:r>
              <a:rPr dirty="0" sz="2000" spc="-5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(OS),Just</a:t>
            </a:r>
            <a:r>
              <a:rPr dirty="0" sz="2000" spc="-7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like</a:t>
            </a:r>
            <a:r>
              <a:rPr dirty="0" sz="2000" spc="-2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you</a:t>
            </a:r>
            <a:r>
              <a:rPr dirty="0" sz="2000" spc="-3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said</a:t>
            </a:r>
            <a:r>
              <a:rPr dirty="0" sz="2000" spc="-4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 i="1">
                <a:solidFill>
                  <a:srgbClr val="232729"/>
                </a:solidFill>
                <a:latin typeface="Calibri"/>
                <a:cs typeface="Calibri"/>
              </a:rPr>
              <a:t>VirtualBox</a:t>
            </a:r>
            <a:r>
              <a:rPr dirty="0" sz="2000" spc="65" i="1">
                <a:solidFill>
                  <a:srgbClr val="232729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is</a:t>
            </a:r>
            <a:r>
              <a:rPr dirty="0" sz="2000" spc="-35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>
                <a:solidFill>
                  <a:srgbClr val="232729"/>
                </a:solidFill>
                <a:latin typeface="Arial MT"/>
                <a:cs typeface="Arial MT"/>
              </a:rPr>
              <a:t>one</a:t>
            </a:r>
            <a:r>
              <a:rPr dirty="0" sz="2000" spc="-40">
                <a:solidFill>
                  <a:srgbClr val="232729"/>
                </a:solidFill>
                <a:latin typeface="Arial MT"/>
                <a:cs typeface="Arial MT"/>
              </a:rPr>
              <a:t> </a:t>
            </a:r>
            <a:r>
              <a:rPr dirty="0" sz="2000" spc="-10">
                <a:solidFill>
                  <a:srgbClr val="232729"/>
                </a:solidFill>
                <a:latin typeface="Arial MT"/>
                <a:cs typeface="Arial MT"/>
              </a:rPr>
              <a:t>example.</a:t>
            </a:r>
            <a:endParaRPr sz="2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174075"/>
            <a:ext cx="8309609" cy="996315"/>
          </a:xfrm>
          <a:prstGeom prst="rect"/>
        </p:spPr>
        <p:txBody>
          <a:bodyPr wrap="square" lIns="0" tIns="121920" rIns="0" bIns="0" rtlCol="0" vert="horz">
            <a:spAutoFit/>
          </a:bodyPr>
          <a:lstStyle/>
          <a:p>
            <a:pPr marL="3741420">
              <a:lnSpc>
                <a:spcPct val="100000"/>
              </a:lnSpc>
              <a:spcBef>
                <a:spcPts val="960"/>
              </a:spcBef>
            </a:pPr>
            <a:r>
              <a:rPr dirty="0" sz="3200" spc="-30" b="0">
                <a:solidFill>
                  <a:srgbClr val="000000"/>
                </a:solidFill>
                <a:latin typeface="Calibri Light"/>
                <a:cs typeface="Calibri Light"/>
              </a:rPr>
              <a:t>PROCESS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35" b="0">
                <a:solidFill>
                  <a:srgbClr val="000000"/>
                </a:solidFill>
                <a:latin typeface="Calibri Light"/>
                <a:cs typeface="Calibri Light"/>
              </a:rPr>
              <a:t>VIRTUAL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MACHINE</a:t>
            </a:r>
            <a:endParaRPr sz="3200">
              <a:latin typeface="Calibri Light"/>
              <a:cs typeface="Calibri Light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dirty="0" sz="2000" b="0">
                <a:solidFill>
                  <a:srgbClr val="000000"/>
                </a:solidFill>
                <a:latin typeface="Calibri"/>
                <a:cs typeface="Calibri"/>
              </a:rPr>
              <a:t>Process</a:t>
            </a:r>
            <a:r>
              <a:rPr dirty="0" sz="2000" spc="-3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 b="0">
                <a:solidFill>
                  <a:srgbClr val="000000"/>
                </a:solidFill>
                <a:latin typeface="Calibri"/>
                <a:cs typeface="Calibri"/>
              </a:rPr>
              <a:t>VM</a:t>
            </a:r>
            <a:r>
              <a:rPr dirty="0" sz="2000" spc="-5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 b="0">
                <a:solidFill>
                  <a:srgbClr val="000000"/>
                </a:solidFill>
                <a:latin typeface="Calibri"/>
                <a:cs typeface="Calibri"/>
              </a:rPr>
              <a:t>provides</a:t>
            </a:r>
            <a:r>
              <a:rPr dirty="0" sz="2000" spc="-4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 b="0">
                <a:solidFill>
                  <a:srgbClr val="000000"/>
                </a:solidFill>
                <a:latin typeface="Calibri"/>
                <a:cs typeface="Calibri"/>
              </a:rPr>
              <a:t>users</a:t>
            </a:r>
            <a:r>
              <a:rPr dirty="0" sz="2000" spc="-40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0000"/>
                </a:solidFill>
              </a:rPr>
              <a:t>Replication</a:t>
            </a:r>
            <a:r>
              <a:rPr dirty="0" sz="2000" spc="-10" b="0">
                <a:solidFill>
                  <a:srgbClr val="000000"/>
                </a:solidFill>
                <a:latin typeface="Calibri"/>
                <a:cs typeface="Calibri"/>
              </a:rPr>
              <a:t>,</a:t>
            </a:r>
            <a:r>
              <a:rPr dirty="0" sz="2000" spc="-8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>
                <a:solidFill>
                  <a:srgbClr val="000000"/>
                </a:solidFill>
              </a:rPr>
              <a:t>Emulation</a:t>
            </a:r>
            <a:r>
              <a:rPr dirty="0" sz="2000" spc="-65">
                <a:solidFill>
                  <a:srgbClr val="000000"/>
                </a:solidFill>
              </a:rPr>
              <a:t> </a:t>
            </a:r>
            <a:r>
              <a:rPr dirty="0" sz="2000" b="0">
                <a:solidFill>
                  <a:srgbClr val="000000"/>
                </a:solidFill>
                <a:latin typeface="Calibri"/>
                <a:cs typeface="Calibri"/>
              </a:rPr>
              <a:t>and</a:t>
            </a:r>
            <a:r>
              <a:rPr dirty="0" sz="2000" spc="-55" b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dirty="0" sz="2000" spc="-10">
                <a:solidFill>
                  <a:srgbClr val="000000"/>
                </a:solidFill>
              </a:rPr>
              <a:t>Optimization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277168"/>
            <a:ext cx="12036425" cy="1279525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algn="just" marL="366395" marR="5080" indent="-354330">
              <a:lnSpc>
                <a:spcPct val="145500"/>
              </a:lnSpc>
              <a:spcBef>
                <a:spcPts val="210"/>
              </a:spcBef>
              <a:buFont typeface="Wingdings"/>
              <a:buChar char=""/>
              <a:tabLst>
                <a:tab pos="367665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Replication:</a:t>
            </a:r>
            <a:r>
              <a:rPr dirty="0" sz="2000" spc="2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Running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copies/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28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single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2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creating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illusion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2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</a:t>
            </a:r>
            <a:r>
              <a:rPr dirty="0" sz="2000" spc="2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28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entire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machine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given</a:t>
            </a:r>
            <a:r>
              <a:rPr dirty="0" sz="2000" spc="1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it.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(Word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processing,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Printing,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Browser,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listening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music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etc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or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single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website,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multiple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threads</a:t>
            </a:r>
            <a:r>
              <a:rPr dirty="0" sz="1400" spc="2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executing</a:t>
            </a:r>
            <a:r>
              <a:rPr dirty="0" sz="1400" spc="229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scroll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message,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one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executing</a:t>
            </a:r>
            <a:r>
              <a:rPr dirty="0" sz="1400">
                <a:latin typeface="Calibri"/>
                <a:cs typeface="Calibri"/>
              </a:rPr>
              <a:t> displaying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menus,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executing</a:t>
            </a:r>
            <a:r>
              <a:rPr dirty="0" sz="1400">
                <a:latin typeface="Calibri"/>
                <a:cs typeface="Calibri"/>
              </a:rPr>
              <a:t> video</a:t>
            </a:r>
            <a:r>
              <a:rPr dirty="0" sz="1400">
                <a:latin typeface="Wingdings"/>
                <a:cs typeface="Wingdings"/>
              </a:rPr>
              <a:t></a:t>
            </a:r>
            <a:r>
              <a:rPr dirty="0" sz="1400" spc="-65">
                <a:latin typeface="Times New Roman"/>
                <a:cs typeface="Times New Roman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each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process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created)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3205353"/>
            <a:ext cx="12035155" cy="878840"/>
          </a:xfrm>
          <a:prstGeom prst="rect">
            <a:avLst/>
          </a:prstGeom>
        </p:spPr>
        <p:txBody>
          <a:bodyPr wrap="square" lIns="0" tIns="182245" rIns="0" bIns="0" rtlCol="0" vert="horz">
            <a:spAutoFit/>
          </a:bodyPr>
          <a:lstStyle/>
          <a:p>
            <a:pPr marL="367665" indent="-354965">
              <a:lnSpc>
                <a:spcPct val="100000"/>
              </a:lnSpc>
              <a:spcBef>
                <a:spcPts val="1435"/>
              </a:spcBef>
              <a:buFont typeface="Wingdings"/>
              <a:buChar char=""/>
              <a:tabLst>
                <a:tab pos="367665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Emulation:</a:t>
            </a:r>
            <a:r>
              <a:rPr dirty="0" sz="2000" spc="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Emulates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(Matching)</a:t>
            </a:r>
            <a:r>
              <a:rPr dirty="0" sz="1200" spc="22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set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underlying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architecture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&amp;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(Convert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byte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code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into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opcode</a:t>
            </a:r>
            <a:r>
              <a:rPr dirty="0" sz="1600" spc="3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an</a:t>
            </a:r>
            <a:endParaRPr sz="1600">
              <a:latin typeface="Calibri"/>
              <a:cs typeface="Calibri"/>
            </a:endParaRPr>
          </a:p>
          <a:p>
            <a:pPr marL="367665">
              <a:lnSpc>
                <a:spcPct val="100000"/>
              </a:lnSpc>
              <a:spcBef>
                <a:spcPts val="1060"/>
              </a:spcBef>
            </a:pPr>
            <a:r>
              <a:rPr dirty="0" sz="1600" b="1">
                <a:latin typeface="Calibri"/>
                <a:cs typeface="Calibri"/>
              </a:rPr>
              <a:t>underlying</a:t>
            </a:r>
            <a:r>
              <a:rPr dirty="0" sz="1600" spc="-10" b="1">
                <a:latin typeface="Calibri"/>
                <a:cs typeface="Calibri"/>
              </a:rPr>
              <a:t> architecture</a:t>
            </a:r>
            <a:r>
              <a:rPr dirty="0" sz="1600" spc="-20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&amp;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5" b="1">
                <a:latin typeface="Calibri"/>
                <a:cs typeface="Calibri"/>
              </a:rPr>
              <a:t>OS)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8739" y="4730141"/>
            <a:ext cx="12033885" cy="850900"/>
          </a:xfrm>
          <a:prstGeom prst="rect">
            <a:avLst/>
          </a:prstGeom>
        </p:spPr>
        <p:txBody>
          <a:bodyPr wrap="square" lIns="0" tIns="66040" rIns="0" bIns="0" rtlCol="0" vert="horz">
            <a:spAutoFit/>
          </a:bodyPr>
          <a:lstStyle/>
          <a:p>
            <a:pPr marL="367665" marR="5080" indent="-355600">
              <a:lnSpc>
                <a:spcPct val="141500"/>
              </a:lnSpc>
              <a:spcBef>
                <a:spcPts val="520"/>
              </a:spcBef>
              <a:buFont typeface="Wingdings"/>
              <a:buChar char=""/>
              <a:tabLst>
                <a:tab pos="367665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Optimization:</a:t>
            </a:r>
            <a:r>
              <a:rPr dirty="0" sz="2000" spc="2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Optimizes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</a:t>
            </a:r>
            <a:r>
              <a:rPr dirty="0" sz="2000" spc="22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22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Runtime.</a:t>
            </a:r>
            <a:r>
              <a:rPr dirty="0" sz="2000" spc="2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</a:t>
            </a:r>
            <a:r>
              <a:rPr dirty="0" sz="1400" spc="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8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ex:</a:t>
            </a:r>
            <a:r>
              <a:rPr dirty="0" sz="1400" spc="7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Simple</a:t>
            </a:r>
            <a:r>
              <a:rPr dirty="0" sz="1400" spc="7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using</a:t>
            </a:r>
            <a:r>
              <a:rPr dirty="0" sz="1400" spc="7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initialization</a:t>
            </a:r>
            <a:r>
              <a:rPr dirty="0" sz="1400" spc="8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7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loop</a:t>
            </a:r>
            <a:r>
              <a:rPr dirty="0" sz="1400">
                <a:latin typeface="Wingdings"/>
                <a:cs typeface="Wingdings"/>
              </a:rPr>
              <a:t></a:t>
            </a:r>
            <a:r>
              <a:rPr dirty="0" sz="1400" spc="50">
                <a:latin typeface="Times New Roman"/>
                <a:cs typeface="Times New Roman"/>
              </a:rPr>
              <a:t> </a:t>
            </a:r>
            <a:r>
              <a:rPr dirty="0" sz="1400">
                <a:latin typeface="Calibri"/>
                <a:cs typeface="Calibri"/>
              </a:rPr>
              <a:t>removes</a:t>
            </a:r>
            <a:r>
              <a:rPr dirty="0" sz="1400" spc="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&amp;</a:t>
            </a:r>
            <a:r>
              <a:rPr dirty="0" sz="1400" spc="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places</a:t>
            </a:r>
            <a:r>
              <a:rPr dirty="0" sz="1400" spc="8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before</a:t>
            </a:r>
            <a:r>
              <a:rPr dirty="0" sz="1400" spc="8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7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loop,</a:t>
            </a:r>
            <a:r>
              <a:rPr dirty="0" sz="1400" spc="7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dead</a:t>
            </a:r>
            <a:r>
              <a:rPr dirty="0" sz="1400" spc="7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code </a:t>
            </a:r>
            <a:r>
              <a:rPr dirty="0" sz="1400" spc="-10">
                <a:latin typeface="Calibri"/>
                <a:cs typeface="Calibri"/>
              </a:rPr>
              <a:t>elimination</a:t>
            </a:r>
            <a:r>
              <a:rPr dirty="0" sz="1400" spc="-10">
                <a:latin typeface="Wingdings"/>
                <a:cs typeface="Wingdings"/>
              </a:rPr>
              <a:t>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Calibri"/>
                <a:cs typeface="Calibri"/>
              </a:rPr>
              <a:t>initializes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variable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but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never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used)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8860" y="-65404"/>
            <a:ext cx="603885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5" b="0">
                <a:solidFill>
                  <a:srgbClr val="000000"/>
                </a:solidFill>
                <a:latin typeface="Calibri Light"/>
                <a:cs typeface="Calibri Light"/>
              </a:rPr>
              <a:t>PROCESS</a:t>
            </a:r>
            <a:r>
              <a:rPr dirty="0" sz="3200" spc="-14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35" b="0">
                <a:solidFill>
                  <a:srgbClr val="000000"/>
                </a:solidFill>
                <a:latin typeface="Calibri Light"/>
                <a:cs typeface="Calibri Light"/>
              </a:rPr>
              <a:t>VIRTUAL</a:t>
            </a:r>
            <a:r>
              <a:rPr dirty="0" sz="3200" spc="-14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25" b="0">
                <a:solidFill>
                  <a:srgbClr val="000000"/>
                </a:solidFill>
                <a:latin typeface="Calibri Light"/>
                <a:cs typeface="Calibri Light"/>
              </a:rPr>
              <a:t>MACHINE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(Cont.…)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644778"/>
            <a:ext cx="12037060" cy="6105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28295" indent="-315595">
              <a:lnSpc>
                <a:spcPct val="100000"/>
              </a:lnSpc>
              <a:spcBef>
                <a:spcPts val="100"/>
              </a:spcBef>
              <a:buAutoNum type="arabicParenR"/>
              <a:tabLst>
                <a:tab pos="328295" algn="l"/>
              </a:tabLst>
            </a:pP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Multiprogramming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(Running</a:t>
            </a:r>
            <a:r>
              <a:rPr dirty="0" sz="24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Multiple</a:t>
            </a:r>
            <a:r>
              <a:rPr dirty="0" sz="24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applications</a:t>
            </a:r>
            <a:r>
              <a:rPr dirty="0" sz="24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on</a:t>
            </a:r>
            <a:r>
              <a:rPr dirty="0" sz="24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24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single</a:t>
            </a:r>
            <a:r>
              <a:rPr dirty="0" sz="24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system)</a:t>
            </a:r>
            <a:endParaRPr sz="2400">
              <a:latin typeface="Calibri"/>
              <a:cs typeface="Calibri"/>
            </a:endParaRPr>
          </a:p>
          <a:p>
            <a:pPr algn="just" lvl="1" marL="355600" marR="7620" indent="-342900">
              <a:lnSpc>
                <a:spcPct val="150100"/>
              </a:lnSpc>
              <a:spcBef>
                <a:spcPts val="1090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combination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call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interfaces/</a:t>
            </a:r>
            <a:r>
              <a:rPr dirty="0" sz="2000" b="1">
                <a:latin typeface="Calibri"/>
                <a:cs typeface="Calibri"/>
              </a:rPr>
              <a:t>statements</a:t>
            </a:r>
            <a:r>
              <a:rPr dirty="0" sz="2000" spc="95" b="1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0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set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forms</a:t>
            </a:r>
            <a:r>
              <a:rPr dirty="0" sz="2000" spc="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machine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</a:t>
            </a:r>
            <a:r>
              <a:rPr dirty="0" sz="2000" b="1">
                <a:latin typeface="Calibri"/>
                <a:cs typeface="Calibri"/>
              </a:rPr>
              <a:t>process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VM</a:t>
            </a:r>
            <a:r>
              <a:rPr dirty="0" sz="2000" spc="-25">
                <a:latin typeface="Calibri"/>
                <a:cs typeface="Calibri"/>
              </a:rPr>
              <a:t>)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executes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forms.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(The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combination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your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program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instructions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&amp;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statements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together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forms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VM</a:t>
            </a: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 spc="-80">
                <a:latin typeface="Times New Roman"/>
                <a:cs typeface="Times New Roman"/>
              </a:rPr>
              <a:t> </a:t>
            </a:r>
            <a:r>
              <a:rPr dirty="0" sz="1600">
                <a:latin typeface="Calibri"/>
                <a:cs typeface="Calibri"/>
              </a:rPr>
              <a:t>process</a:t>
            </a:r>
            <a:r>
              <a:rPr dirty="0" sz="1600" spc="-20">
                <a:latin typeface="Calibri"/>
                <a:cs typeface="Calibri"/>
              </a:rPr>
              <a:t> VM).</a:t>
            </a:r>
            <a:endParaRPr sz="1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70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algn="just" lvl="1" marL="355600" marR="5715" indent="-342900">
              <a:lnSpc>
                <a:spcPct val="147100"/>
              </a:lnSpc>
              <a:spcBef>
                <a:spcPts val="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3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supports</a:t>
            </a:r>
            <a:r>
              <a:rPr dirty="0" sz="2000" spc="3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3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through</a:t>
            </a:r>
            <a:r>
              <a:rPr dirty="0" sz="2000" spc="3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multiprogramming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3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where</a:t>
            </a:r>
            <a:r>
              <a:rPr dirty="0" sz="2000" spc="36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each</a:t>
            </a:r>
            <a:r>
              <a:rPr dirty="0" sz="2000" spc="3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</a:t>
            </a:r>
            <a:r>
              <a:rPr dirty="0" sz="2000" spc="3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3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given</a:t>
            </a:r>
            <a:r>
              <a:rPr dirty="0" sz="2000" spc="3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illusion</a:t>
            </a:r>
            <a:r>
              <a:rPr dirty="0" sz="2000" spc="36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that </a:t>
            </a:r>
            <a:r>
              <a:rPr dirty="0" sz="2000" b="1">
                <a:latin typeface="Calibri"/>
                <a:cs typeface="Calibri"/>
              </a:rPr>
              <a:t>complete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itself.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(Supporting</a:t>
            </a:r>
            <a:r>
              <a:rPr dirty="0" sz="1600" spc="2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multiprogramming,</a:t>
            </a:r>
            <a:r>
              <a:rPr dirty="0" sz="1600" spc="2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running</a:t>
            </a:r>
            <a:r>
              <a:rPr dirty="0" sz="1600" spc="254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multiple</a:t>
            </a:r>
            <a:r>
              <a:rPr dirty="0" sz="1600" spc="2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programs</a:t>
            </a:r>
            <a:r>
              <a:rPr dirty="0" sz="1600" spc="2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at</a:t>
            </a:r>
            <a:r>
              <a:rPr dirty="0" sz="1600" spc="2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2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same</a:t>
            </a:r>
            <a:r>
              <a:rPr dirty="0" sz="1600" spc="2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time</a:t>
            </a:r>
            <a:r>
              <a:rPr dirty="0" sz="1600" spc="245">
                <a:latin typeface="Calibri"/>
                <a:cs typeface="Calibri"/>
              </a:rPr>
              <a:t> </a:t>
            </a: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 spc="215">
                <a:latin typeface="Times New Roman"/>
                <a:cs typeface="Times New Roman"/>
              </a:rPr>
              <a:t> </a:t>
            </a:r>
            <a:r>
              <a:rPr dirty="0" sz="1600">
                <a:latin typeface="Calibri"/>
                <a:cs typeface="Calibri"/>
              </a:rPr>
              <a:t>process</a:t>
            </a:r>
            <a:r>
              <a:rPr dirty="0" sz="1600" spc="254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VMs </a:t>
            </a:r>
            <a:r>
              <a:rPr dirty="0" sz="1600" spc="-10">
                <a:latin typeface="Calibri"/>
                <a:cs typeface="Calibri"/>
              </a:rPr>
              <a:t>(Threads) </a:t>
            </a:r>
            <a:r>
              <a:rPr dirty="0" sz="1600">
                <a:latin typeface="Calibri"/>
                <a:cs typeface="Calibri"/>
              </a:rPr>
              <a:t>listening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music,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printing,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Typing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word)</a:t>
            </a:r>
            <a:endParaRPr sz="1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Wingdings"/>
              <a:buChar char=""/>
            </a:pPr>
            <a:endParaRPr sz="16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985"/>
              </a:spcBef>
              <a:buFont typeface="Wingdings"/>
              <a:buChar char=""/>
            </a:pPr>
            <a:endParaRPr sz="1600">
              <a:latin typeface="Calibri"/>
              <a:cs typeface="Calibri"/>
            </a:endParaRPr>
          </a:p>
          <a:p>
            <a:pPr algn="just" lvl="1" marL="355600" marR="5080" indent="-342900">
              <a:lnSpc>
                <a:spcPct val="145500"/>
              </a:lnSpc>
              <a:buFont typeface="Wingdings"/>
              <a:buChar char="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shares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devices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time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basis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effect.</a:t>
            </a:r>
            <a:r>
              <a:rPr dirty="0" sz="2000" spc="1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 each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concurrently </a:t>
            </a:r>
            <a:r>
              <a:rPr dirty="0" sz="2000" b="1">
                <a:latin typeface="Calibri"/>
                <a:cs typeface="Calibri"/>
              </a:rPr>
              <a:t>executing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applications.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(listening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music,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printing,</a:t>
            </a:r>
            <a:r>
              <a:rPr dirty="0" sz="1400" spc="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Typing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word</a:t>
            </a:r>
            <a:r>
              <a:rPr dirty="0" sz="1400">
                <a:latin typeface="Wingdings"/>
                <a:cs typeface="Wingdings"/>
              </a:rPr>
              <a:t></a:t>
            </a:r>
            <a:r>
              <a:rPr dirty="0" sz="1400" spc="5">
                <a:latin typeface="Times New Roman"/>
                <a:cs typeface="Times New Roman"/>
              </a:rPr>
              <a:t> </a:t>
            </a:r>
            <a:r>
              <a:rPr dirty="0" sz="1400">
                <a:latin typeface="Calibri"/>
                <a:cs typeface="Calibri"/>
              </a:rPr>
              <a:t>all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3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threads</a:t>
            </a:r>
            <a:r>
              <a:rPr dirty="0" sz="1400" spc="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shares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&amp;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runs</a:t>
            </a:r>
            <a:r>
              <a:rPr dirty="0" sz="1400" spc="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simultaneously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such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way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CPU</a:t>
            </a:r>
            <a:r>
              <a:rPr dirty="0" sz="1400" spc="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switches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so </a:t>
            </a:r>
            <a:r>
              <a:rPr dirty="0" sz="1400">
                <a:latin typeface="Calibri"/>
                <a:cs typeface="Calibri"/>
              </a:rPr>
              <a:t>fast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even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not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possible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identify)</a:t>
            </a: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Wingdings"/>
              <a:buChar char=""/>
            </a:pP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55"/>
              </a:spcBef>
              <a:buFont typeface="Wingdings"/>
              <a:buChar char=""/>
            </a:pPr>
            <a:endParaRPr sz="14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(process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VM)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given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separate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address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space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given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access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file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structure.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8860" y="-65404"/>
            <a:ext cx="603885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5" b="0">
                <a:solidFill>
                  <a:srgbClr val="000000"/>
                </a:solidFill>
                <a:latin typeface="Calibri Light"/>
                <a:cs typeface="Calibri Light"/>
              </a:rPr>
              <a:t>PROCESS</a:t>
            </a:r>
            <a:r>
              <a:rPr dirty="0" sz="3200" spc="-14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35" b="0">
                <a:solidFill>
                  <a:srgbClr val="000000"/>
                </a:solidFill>
                <a:latin typeface="Calibri Light"/>
                <a:cs typeface="Calibri Light"/>
              </a:rPr>
              <a:t>VIRTUAL</a:t>
            </a:r>
            <a:r>
              <a:rPr dirty="0" sz="3200" spc="-14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25" b="0">
                <a:solidFill>
                  <a:srgbClr val="000000"/>
                </a:solidFill>
                <a:latin typeface="Calibri Light"/>
                <a:cs typeface="Calibri Light"/>
              </a:rPr>
              <a:t>MACHINE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(Cont.…)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81710"/>
            <a:ext cx="12035790" cy="2268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4325" indent="-301625">
              <a:lnSpc>
                <a:spcPct val="100000"/>
              </a:lnSpc>
              <a:spcBef>
                <a:spcPts val="100"/>
              </a:spcBef>
              <a:buAutoNum type="arabicPeriod" startAt="2"/>
              <a:tabLst>
                <a:tab pos="314325" algn="l"/>
              </a:tabLst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Emulate</a:t>
            </a:r>
            <a:r>
              <a:rPr dirty="0" sz="24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Dynamic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Binary</a:t>
            </a:r>
            <a:r>
              <a:rPr dirty="0" sz="24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Translators</a:t>
            </a:r>
            <a:endParaRPr sz="24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1850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more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challenging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problem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level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support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program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binaries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compiled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one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instruction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spc="-10" b="1">
                <a:latin typeface="Calibri"/>
                <a:cs typeface="Calibri"/>
              </a:rPr>
              <a:t>set/architecture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another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host’s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hardware.</a:t>
            </a:r>
            <a:endParaRPr sz="20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2210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Example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emulating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illustrated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below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figure.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dirty="0" sz="1600">
                <a:latin typeface="Calibri"/>
                <a:cs typeface="Calibri"/>
              </a:rPr>
              <a:t>(Appl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designed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Intel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architecture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instruction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executed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Window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now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running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Alpha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architecture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system)</a:t>
            </a:r>
            <a:endParaRPr sz="16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6387" y="2925516"/>
            <a:ext cx="5267935" cy="266193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64624" y="5645372"/>
            <a:ext cx="8024225" cy="417099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8860" y="-65404"/>
            <a:ext cx="603885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5" b="0">
                <a:solidFill>
                  <a:srgbClr val="000000"/>
                </a:solidFill>
                <a:latin typeface="Calibri Light"/>
                <a:cs typeface="Calibri Light"/>
              </a:rPr>
              <a:t>PROCESS</a:t>
            </a:r>
            <a:r>
              <a:rPr dirty="0" sz="3200" spc="-14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35" b="0">
                <a:solidFill>
                  <a:srgbClr val="000000"/>
                </a:solidFill>
                <a:latin typeface="Calibri Light"/>
                <a:cs typeface="Calibri Light"/>
              </a:rPr>
              <a:t>VIRTUAL</a:t>
            </a:r>
            <a:r>
              <a:rPr dirty="0" sz="3200" spc="-14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25" b="0">
                <a:solidFill>
                  <a:srgbClr val="000000"/>
                </a:solidFill>
                <a:latin typeface="Calibri Light"/>
                <a:cs typeface="Calibri Light"/>
              </a:rPr>
              <a:t>MACHINE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(Cont.…)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69544"/>
            <a:ext cx="12036425" cy="6191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8580" marR="3328035" indent="-56515">
              <a:lnSpc>
                <a:spcPct val="150000"/>
              </a:lnSpc>
              <a:spcBef>
                <a:spcPts val="100"/>
              </a:spcBef>
              <a:buFont typeface="Wingdings"/>
              <a:buChar char=""/>
              <a:tabLst>
                <a:tab pos="68580" algn="l"/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figure,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may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same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both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&amp;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platform</a:t>
            </a:r>
            <a:r>
              <a:rPr dirty="0" sz="2000" spc="-10">
                <a:latin typeface="Calibri"/>
                <a:cs typeface="Calibri"/>
              </a:rPr>
              <a:t>, </a:t>
            </a:r>
            <a:r>
              <a:rPr dirty="0" sz="2000">
                <a:latin typeface="Calibri"/>
                <a:cs typeface="Calibri"/>
              </a:rPr>
              <a:t>although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other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cases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may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differ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well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985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algn="just" marL="355600" marR="5715" indent="-342900">
              <a:lnSpc>
                <a:spcPct val="150000"/>
              </a:lnSpc>
              <a:buFont typeface="Wingdings"/>
              <a:buChar char="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above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figure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illustrates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Intel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IA-</a:t>
            </a:r>
            <a:r>
              <a:rPr dirty="0" sz="2000" b="1">
                <a:latin typeface="Calibri"/>
                <a:cs typeface="Calibri"/>
              </a:rPr>
              <a:t>32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binaries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compiled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Windows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NT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executing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Alpha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running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Windows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OS.</a:t>
            </a:r>
            <a:endParaRPr sz="2000">
              <a:latin typeface="Calibri"/>
              <a:cs typeface="Calibri"/>
            </a:endParaRPr>
          </a:p>
          <a:p>
            <a:pPr algn="just" marL="355600" marR="5715" indent="-342900">
              <a:lnSpc>
                <a:spcPct val="150100"/>
              </a:lnSpc>
              <a:spcBef>
                <a:spcPts val="1800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most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straight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forward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emulation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method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Interpretation.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interpreter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fetches,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decodes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emulates </a:t>
            </a:r>
            <a:r>
              <a:rPr dirty="0" sz="2000" b="1">
                <a:latin typeface="Calibri"/>
                <a:cs typeface="Calibri"/>
              </a:rPr>
              <a:t>each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individual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instructions.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relatively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slow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better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performance,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technique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Binary Translation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used.</a:t>
            </a:r>
            <a:endParaRPr sz="20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00299"/>
              </a:lnSpc>
              <a:spcBef>
                <a:spcPts val="216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Binary</a:t>
            </a:r>
            <a:r>
              <a:rPr dirty="0" sz="2000" spc="4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translation,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blocks</a:t>
            </a:r>
            <a:r>
              <a:rPr dirty="0" sz="2000" spc="4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4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source</a:t>
            </a:r>
            <a:r>
              <a:rPr dirty="0" sz="2000" spc="4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instructions</a:t>
            </a:r>
            <a:r>
              <a:rPr dirty="0" sz="2000" spc="4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4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converted</a:t>
            </a:r>
            <a:r>
              <a:rPr dirty="0" sz="2000" spc="4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into</a:t>
            </a:r>
            <a:r>
              <a:rPr dirty="0" sz="2000" spc="40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target</a:t>
            </a:r>
            <a:r>
              <a:rPr dirty="0" sz="2000" spc="4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instructions</a:t>
            </a:r>
            <a:r>
              <a:rPr dirty="0" sz="2000" spc="42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42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perform </a:t>
            </a:r>
            <a:r>
              <a:rPr dirty="0" sz="2000">
                <a:latin typeface="Calibri"/>
                <a:cs typeface="Calibri"/>
              </a:rPr>
              <a:t>equivalent</a:t>
            </a:r>
            <a:r>
              <a:rPr dirty="0" sz="2000" spc="95">
                <a:latin typeface="Calibri"/>
                <a:cs typeface="Calibri"/>
              </a:rPr>
              <a:t>  </a:t>
            </a:r>
            <a:r>
              <a:rPr dirty="0" sz="2000">
                <a:latin typeface="Calibri"/>
                <a:cs typeface="Calibri"/>
              </a:rPr>
              <a:t>functions.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Once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block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instructions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converted,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translated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instructions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cached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4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repeatedly</a:t>
            </a:r>
            <a:r>
              <a:rPr dirty="0" sz="2000" spc="4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executed</a:t>
            </a:r>
            <a:r>
              <a:rPr dirty="0" sz="2000" spc="4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must</a:t>
            </a:r>
            <a:r>
              <a:rPr dirty="0" sz="2000" spc="45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faster</a:t>
            </a:r>
            <a:r>
              <a:rPr dirty="0" sz="2000" spc="45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instead</a:t>
            </a:r>
            <a:r>
              <a:rPr dirty="0" sz="2000" spc="4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45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interpreting</a:t>
            </a:r>
            <a:r>
              <a:rPr dirty="0" sz="2000" spc="4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each</a:t>
            </a:r>
            <a:r>
              <a:rPr dirty="0" sz="2000" spc="4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time.</a:t>
            </a:r>
            <a:r>
              <a:rPr dirty="0" sz="2000" spc="47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Since</a:t>
            </a:r>
            <a:r>
              <a:rPr dirty="0" sz="2000" spc="4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Binary</a:t>
            </a:r>
            <a:r>
              <a:rPr dirty="0" sz="2000" spc="4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translation</a:t>
            </a:r>
            <a:r>
              <a:rPr dirty="0" sz="2000" spc="459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459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most </a:t>
            </a:r>
            <a:r>
              <a:rPr dirty="0" sz="2000">
                <a:latin typeface="Calibri"/>
                <a:cs typeface="Calibri"/>
              </a:rPr>
              <a:t>important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feature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process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VM,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they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some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times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Dynamic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Binary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Translators.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1000" spc="-10" b="1">
                <a:latin typeface="Calibri"/>
                <a:cs typeface="Calibri"/>
              </a:rPr>
              <a:t>(</a:t>
            </a:r>
            <a:r>
              <a:rPr dirty="0" sz="1100" spc="-10">
                <a:latin typeface="Calibri"/>
                <a:cs typeface="Calibri"/>
              </a:rPr>
              <a:t>Stores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binary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 spc="-20">
                <a:latin typeface="Calibri"/>
                <a:cs typeface="Calibri"/>
              </a:rPr>
              <a:t>representation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25">
                <a:latin typeface="Calibri"/>
                <a:cs typeface="Calibri"/>
              </a:rPr>
              <a:t>of </a:t>
            </a:r>
            <a:r>
              <a:rPr dirty="0" sz="1100">
                <a:latin typeface="Calibri"/>
                <a:cs typeface="Calibri"/>
              </a:rPr>
              <a:t>frequently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executed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codes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cache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uses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repeated</a:t>
            </a:r>
            <a:r>
              <a:rPr dirty="0" sz="1100">
                <a:latin typeface="Wingdings"/>
                <a:cs typeface="Wingdings"/>
              </a:rPr>
              <a:t></a:t>
            </a:r>
            <a:r>
              <a:rPr dirty="0" sz="1100" spc="-10">
                <a:latin typeface="Times New Roman"/>
                <a:cs typeface="Times New Roman"/>
              </a:rPr>
              <a:t> </a:t>
            </a:r>
            <a:r>
              <a:rPr dirty="0" sz="1100">
                <a:latin typeface="Calibri"/>
                <a:cs typeface="Calibri"/>
              </a:rPr>
              <a:t>Looping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instructions)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(In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computing,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binary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translation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is</a:t>
            </a:r>
            <a:r>
              <a:rPr dirty="0" sz="1100" spc="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form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binary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recompilation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where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sequences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instructions</a:t>
            </a:r>
            <a:r>
              <a:rPr dirty="0" sz="1100" spc="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translated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from</a:t>
            </a:r>
            <a:r>
              <a:rPr dirty="0" sz="1100" spc="20">
                <a:latin typeface="Calibri"/>
                <a:cs typeface="Calibri"/>
              </a:rPr>
              <a:t> </a:t>
            </a:r>
            <a:r>
              <a:rPr dirty="0" sz="1100" spc="-50">
                <a:latin typeface="Calibri"/>
                <a:cs typeface="Calibri"/>
              </a:rPr>
              <a:t>a</a:t>
            </a:r>
            <a:r>
              <a:rPr dirty="0" sz="1100">
                <a:latin typeface="Calibri"/>
                <a:cs typeface="Calibri"/>
              </a:rPr>
              <a:t> source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instruction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target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instruction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set.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some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cases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such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instruction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set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simulation, the target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instruction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set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may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 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same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source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instruction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set,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providing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testing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 </a:t>
            </a:r>
            <a:r>
              <a:rPr dirty="0" sz="1100" spc="-10">
                <a:latin typeface="Calibri"/>
                <a:cs typeface="Calibri"/>
              </a:rPr>
              <a:t>debugging </a:t>
            </a:r>
            <a:r>
              <a:rPr dirty="0" sz="1100">
                <a:latin typeface="Calibri"/>
                <a:cs typeface="Calibri"/>
              </a:rPr>
              <a:t>features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instruction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trace,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conditional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breakpoints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hot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spot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detection.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two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main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types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are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static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dynamic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binary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translation.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Translation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done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hardware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(for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example,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circuits </a:t>
            </a:r>
            <a:r>
              <a:rPr dirty="0" sz="1100">
                <a:latin typeface="Calibri"/>
                <a:cs typeface="Calibri"/>
              </a:rPr>
              <a:t>in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CPU)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or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 software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(e.g.</a:t>
            </a:r>
            <a:r>
              <a:rPr dirty="0" sz="1100" spc="-10">
                <a:latin typeface="Calibri"/>
                <a:cs typeface="Calibri"/>
              </a:rPr>
              <a:t> run-</a:t>
            </a:r>
            <a:r>
              <a:rPr dirty="0" sz="1100">
                <a:latin typeface="Calibri"/>
                <a:cs typeface="Calibri"/>
              </a:rPr>
              <a:t>time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engines,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static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recompiler,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emulators).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04063" y="580811"/>
            <a:ext cx="2749259" cy="1375357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8860" y="-65404"/>
            <a:ext cx="603885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5" b="0">
                <a:solidFill>
                  <a:srgbClr val="000000"/>
                </a:solidFill>
                <a:latin typeface="Calibri Light"/>
                <a:cs typeface="Calibri Light"/>
              </a:rPr>
              <a:t>PROCESS</a:t>
            </a:r>
            <a:r>
              <a:rPr dirty="0" sz="3200" spc="-14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35" b="0">
                <a:solidFill>
                  <a:srgbClr val="000000"/>
                </a:solidFill>
                <a:latin typeface="Calibri Light"/>
                <a:cs typeface="Calibri Light"/>
              </a:rPr>
              <a:t>VIRTUAL</a:t>
            </a:r>
            <a:r>
              <a:rPr dirty="0" sz="3200" spc="-14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25" b="0">
                <a:solidFill>
                  <a:srgbClr val="000000"/>
                </a:solidFill>
                <a:latin typeface="Calibri Light"/>
                <a:cs typeface="Calibri Light"/>
              </a:rPr>
              <a:t>MACHINE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(Cont.…)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81710"/>
            <a:ext cx="12036425" cy="4478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3)</a:t>
            </a:r>
            <a:r>
              <a:rPr dirty="0" sz="24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C00000"/>
                </a:solidFill>
                <a:latin typeface="Calibri"/>
                <a:cs typeface="Calibri"/>
              </a:rPr>
              <a:t>Same-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ISA</a:t>
            </a:r>
            <a:r>
              <a:rPr dirty="0" sz="24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Binary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Optimizer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5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Dynamic</a:t>
            </a:r>
            <a:r>
              <a:rPr dirty="0" sz="2000" spc="3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Binary</a:t>
            </a:r>
            <a:r>
              <a:rPr dirty="0" sz="2000" spc="3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translators</a:t>
            </a:r>
            <a:r>
              <a:rPr dirty="0" sz="2000" spc="38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38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translates</a:t>
            </a:r>
            <a:r>
              <a:rPr dirty="0" sz="2000" spc="3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3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source</a:t>
            </a:r>
            <a:r>
              <a:rPr dirty="0" sz="2000" spc="3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3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target</a:t>
            </a:r>
            <a:r>
              <a:rPr dirty="0" sz="2000" spc="3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code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3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3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3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performs</a:t>
            </a:r>
            <a:r>
              <a:rPr dirty="0" sz="2000" spc="3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some</a:t>
            </a:r>
            <a:r>
              <a:rPr dirty="0" sz="2000" spc="385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code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spc="-10" b="1">
                <a:latin typeface="Calibri"/>
                <a:cs typeface="Calibri"/>
              </a:rPr>
              <a:t>optimizations</a:t>
            </a:r>
            <a:r>
              <a:rPr dirty="0" sz="2000" spc="-10">
                <a:latin typeface="Calibri"/>
                <a:cs typeface="Calibri"/>
              </a:rPr>
              <a:t>.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leads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naturally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where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instruction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host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guest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same.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Same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ISA-</a:t>
            </a:r>
            <a:r>
              <a:rPr dirty="0" sz="2000">
                <a:latin typeface="Calibri"/>
                <a:cs typeface="Calibri"/>
              </a:rPr>
              <a:t>Binary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Optimizers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implemented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similar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way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including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staged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optimization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Caching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optimized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code.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(Optimizes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frequently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used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code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caches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cache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memory</a:t>
            </a: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Calibri"/>
                <a:cs typeface="Calibri"/>
              </a:rPr>
              <a:t>using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initialization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variable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within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loop)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600">
              <a:latin typeface="Calibri"/>
              <a:cs typeface="Calibri"/>
            </a:endParaRPr>
          </a:p>
          <a:p>
            <a:pPr marL="355600" marR="5080" indent="-342900">
              <a:lnSpc>
                <a:spcPct val="141500"/>
              </a:lnSpc>
              <a:buFont typeface="Wingdings"/>
              <a:buChar char=""/>
              <a:tabLst>
                <a:tab pos="355600" algn="l"/>
                <a:tab pos="413384" algn="l"/>
              </a:tabLst>
            </a:pPr>
            <a:r>
              <a:rPr dirty="0" sz="2000">
                <a:latin typeface="Times New Roman"/>
                <a:cs typeface="Times New Roman"/>
              </a:rPr>
              <a:t>	</a:t>
            </a:r>
            <a:r>
              <a:rPr dirty="0" sz="2000" b="1">
                <a:latin typeface="Calibri"/>
                <a:cs typeface="Calibri"/>
              </a:rPr>
              <a:t>Dynamic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optimizers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most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effective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source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binaries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not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optimized.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(Binary</a:t>
            </a:r>
            <a:r>
              <a:rPr dirty="0" sz="1400" spc="114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equivalent</a:t>
            </a:r>
            <a:r>
              <a:rPr dirty="0" sz="1400" spc="10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114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source program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are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not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optimized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takes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more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&amp;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unnecessary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execution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time.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Such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code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part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replaced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optimized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code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reduces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execution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time)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Wingdings"/>
              <a:buChar char=""/>
            </a:pP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dynamic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optimizer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collects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profile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profile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information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optimize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binary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fly.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8860" y="-65404"/>
            <a:ext cx="603885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5" b="0">
                <a:solidFill>
                  <a:srgbClr val="000000"/>
                </a:solidFill>
                <a:latin typeface="Calibri Light"/>
                <a:cs typeface="Calibri Light"/>
              </a:rPr>
              <a:t>PROCESS</a:t>
            </a:r>
            <a:r>
              <a:rPr dirty="0" sz="3200" spc="-14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35" b="0">
                <a:solidFill>
                  <a:srgbClr val="000000"/>
                </a:solidFill>
                <a:latin typeface="Calibri Light"/>
                <a:cs typeface="Calibri Light"/>
              </a:rPr>
              <a:t>VIRTUAL</a:t>
            </a:r>
            <a:r>
              <a:rPr dirty="0" sz="3200" spc="-14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25" b="0">
                <a:solidFill>
                  <a:srgbClr val="000000"/>
                </a:solidFill>
                <a:latin typeface="Calibri Light"/>
                <a:cs typeface="Calibri Light"/>
              </a:rPr>
              <a:t>MACHINE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(Cont.…)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293107"/>
            <a:ext cx="12036425" cy="5813425"/>
          </a:xfrm>
          <a:prstGeom prst="rect">
            <a:avLst/>
          </a:prstGeom>
        </p:spPr>
        <p:txBody>
          <a:bodyPr wrap="square" lIns="0" tIns="1917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510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High</a:t>
            </a:r>
            <a:r>
              <a:rPr dirty="0" sz="2800" spc="-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Level</a:t>
            </a:r>
            <a:r>
              <a:rPr dirty="0" sz="28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Language</a:t>
            </a:r>
            <a:r>
              <a:rPr dirty="0" sz="28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Virtual</a:t>
            </a:r>
            <a:r>
              <a:rPr dirty="0" sz="2800" spc="-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Machines:</a:t>
            </a:r>
            <a:r>
              <a:rPr dirty="0" sz="28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Platform</a:t>
            </a:r>
            <a:r>
              <a:rPr dirty="0" sz="2800" spc="-9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Independence</a:t>
            </a:r>
            <a:endParaRPr sz="28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90700"/>
              </a:lnSpc>
              <a:spcBef>
                <a:spcPts val="123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HLL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similar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VM,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but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focus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minimizing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specific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specific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2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(In</a:t>
            </a:r>
            <a:r>
              <a:rPr dirty="0" sz="1400" spc="1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Process</a:t>
            </a:r>
            <a:r>
              <a:rPr dirty="0" sz="1400" spc="13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VM,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application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written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one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platform need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converted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into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another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platform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instruction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by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instruction.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i.e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application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written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Intel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architecture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need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to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be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converted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into</a:t>
            </a:r>
            <a:r>
              <a:rPr dirty="0" sz="1400" spc="-10">
                <a:latin typeface="Calibri"/>
                <a:cs typeface="Calibri"/>
              </a:rPr>
              <a:t> instructions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belonging to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Alpha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architecture</a:t>
            </a:r>
            <a:r>
              <a:rPr dirty="0" sz="140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instruction </a:t>
            </a:r>
            <a:r>
              <a:rPr dirty="0" sz="1400">
                <a:latin typeface="Calibri"/>
                <a:cs typeface="Calibri"/>
              </a:rPr>
              <a:t>while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executing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Alpha</a:t>
            </a:r>
            <a:r>
              <a:rPr dirty="0" sz="1400" spc="-10">
                <a:latin typeface="Calibri"/>
                <a:cs typeface="Calibri"/>
              </a:rPr>
              <a:t> system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or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application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written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IBM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architecture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need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be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converted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into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instructions</a:t>
            </a:r>
            <a:r>
              <a:rPr dirty="0" sz="1400" spc="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belonging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Alpha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architecture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instruction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while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executing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Alpha</a:t>
            </a:r>
            <a:r>
              <a:rPr dirty="0" sz="1400" spc="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system.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But</a:t>
            </a:r>
            <a:r>
              <a:rPr dirty="0" sz="1400" spc="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HLL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VM,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applications</a:t>
            </a:r>
            <a:r>
              <a:rPr dirty="0" sz="1400" spc="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are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designed</a:t>
            </a:r>
            <a:r>
              <a:rPr dirty="0" sz="1400" spc="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such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way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converts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code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(Byte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code)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more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generic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way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run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system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converting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into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underlying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architecture)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35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VM,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cross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portability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very</a:t>
            </a:r>
            <a:r>
              <a:rPr dirty="0" sz="2000" spc="39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important.</a:t>
            </a:r>
            <a:endParaRPr sz="2000">
              <a:latin typeface="Calibri"/>
              <a:cs typeface="Calibri"/>
            </a:endParaRPr>
          </a:p>
          <a:p>
            <a:pPr algn="just" marL="351790" marR="5080" indent="-339090">
              <a:lnSpc>
                <a:spcPct val="114100"/>
              </a:lnSpc>
              <a:spcBef>
                <a:spcPts val="24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Eg:</a:t>
            </a:r>
            <a:r>
              <a:rPr dirty="0" sz="2000" spc="36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3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</a:t>
            </a:r>
            <a:r>
              <a:rPr dirty="0" sz="2000" spc="3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compiled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3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popular</a:t>
            </a:r>
            <a:r>
              <a:rPr dirty="0" sz="2000" spc="3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Intel</a:t>
            </a:r>
            <a:r>
              <a:rPr dirty="0" sz="2000" spc="3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-</a:t>
            </a:r>
            <a:r>
              <a:rPr dirty="0" sz="2000" b="1">
                <a:latin typeface="Calibri"/>
                <a:cs typeface="Calibri"/>
              </a:rPr>
              <a:t>32</a:t>
            </a:r>
            <a:r>
              <a:rPr dirty="0" sz="2000" spc="3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PC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architecture</a:t>
            </a:r>
            <a:r>
              <a:rPr dirty="0" sz="2000" spc="3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need</a:t>
            </a:r>
            <a:r>
              <a:rPr dirty="0" sz="2000" spc="3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3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converted</a:t>
            </a:r>
            <a:r>
              <a:rPr dirty="0" sz="2000" spc="3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less </a:t>
            </a:r>
            <a:r>
              <a:rPr dirty="0" sz="2000" spc="-2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popular</a:t>
            </a:r>
            <a:r>
              <a:rPr dirty="0" sz="2000" spc="3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Alpha</a:t>
            </a:r>
            <a:r>
              <a:rPr dirty="0" sz="2000" spc="3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platform.</a:t>
            </a:r>
            <a:r>
              <a:rPr dirty="0" sz="2000" spc="36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37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cross</a:t>
            </a:r>
            <a:r>
              <a:rPr dirty="0" sz="2000" spc="36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platform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need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3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3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done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case</a:t>
            </a:r>
            <a:r>
              <a:rPr dirty="0" sz="2000" spc="3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3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case</a:t>
            </a:r>
            <a:r>
              <a:rPr dirty="0" sz="2000" spc="36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3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requires</a:t>
            </a:r>
            <a:r>
              <a:rPr dirty="0" sz="2000" spc="3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great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deal</a:t>
            </a:r>
            <a:r>
              <a:rPr dirty="0" sz="2000" spc="37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of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programming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effort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algn="just" marL="352425" marR="6350" indent="-339725">
              <a:lnSpc>
                <a:spcPct val="113999"/>
              </a:lnSpc>
              <a:spcBef>
                <a:spcPts val="24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Fine,</a:t>
            </a:r>
            <a:r>
              <a:rPr dirty="0" sz="2000" spc="31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if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one</a:t>
            </a:r>
            <a:r>
              <a:rPr dirty="0" sz="2000" spc="3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wanted</a:t>
            </a:r>
            <a:r>
              <a:rPr dirty="0" sz="2000" spc="3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3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3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designed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3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Intel</a:t>
            </a:r>
            <a:r>
              <a:rPr dirty="0" sz="2000" spc="3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3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3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3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</a:t>
            </a:r>
            <a:r>
              <a:rPr dirty="0" sz="2000" spc="3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SPARC,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PowerPC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etc,</a:t>
            </a:r>
            <a:r>
              <a:rPr dirty="0" sz="2000" spc="31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need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cross</a:t>
            </a:r>
            <a:r>
              <a:rPr dirty="0" sz="2000" spc="3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31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problem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would</a:t>
            </a:r>
            <a:r>
              <a:rPr dirty="0" sz="2000" spc="3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3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even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more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if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need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32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on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different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OS.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spc="-90">
                <a:latin typeface="Calibri"/>
                <a:cs typeface="Calibri"/>
              </a:rPr>
              <a:t>To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overcome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problem,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Full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Cross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portability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used.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78860" y="-65404"/>
            <a:ext cx="603885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25" b="0">
                <a:solidFill>
                  <a:srgbClr val="000000"/>
                </a:solidFill>
                <a:latin typeface="Calibri Light"/>
                <a:cs typeface="Calibri Light"/>
              </a:rPr>
              <a:t>PROCESS</a:t>
            </a:r>
            <a:r>
              <a:rPr dirty="0" sz="3200" spc="-14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35" b="0">
                <a:solidFill>
                  <a:srgbClr val="000000"/>
                </a:solidFill>
                <a:latin typeface="Calibri Light"/>
                <a:cs typeface="Calibri Light"/>
              </a:rPr>
              <a:t>VIRTUAL</a:t>
            </a:r>
            <a:r>
              <a:rPr dirty="0" sz="3200" spc="-14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25" b="0">
                <a:solidFill>
                  <a:srgbClr val="000000"/>
                </a:solidFill>
                <a:latin typeface="Calibri Light"/>
                <a:cs typeface="Calibri Light"/>
              </a:rPr>
              <a:t>MACHINE</a:t>
            </a:r>
            <a:r>
              <a:rPr dirty="0" sz="32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3200" spc="-10" b="0">
                <a:solidFill>
                  <a:srgbClr val="000000"/>
                </a:solidFill>
                <a:latin typeface="Calibri Light"/>
                <a:cs typeface="Calibri Light"/>
              </a:rPr>
              <a:t>(Cont.…)</a:t>
            </a:r>
            <a:endParaRPr sz="32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254834"/>
            <a:ext cx="12035790" cy="2455545"/>
          </a:xfrm>
          <a:prstGeom prst="rect">
            <a:avLst/>
          </a:prstGeom>
        </p:spPr>
        <p:txBody>
          <a:bodyPr wrap="square" lIns="0" tIns="22987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10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High</a:t>
            </a:r>
            <a:r>
              <a:rPr dirty="0" sz="2800" spc="-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Level</a:t>
            </a:r>
            <a:r>
              <a:rPr dirty="0" sz="28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Language</a:t>
            </a:r>
            <a:r>
              <a:rPr dirty="0" sz="28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Virtual</a:t>
            </a:r>
            <a:r>
              <a:rPr dirty="0" sz="2800" spc="-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Machines:</a:t>
            </a:r>
            <a:r>
              <a:rPr dirty="0" sz="28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Platform</a:t>
            </a:r>
            <a:r>
              <a:rPr dirty="0" sz="2800" spc="-9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Independence</a:t>
            </a:r>
            <a:endParaRPr sz="28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13799"/>
              </a:lnSpc>
              <a:spcBef>
                <a:spcPts val="9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4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Full</a:t>
            </a:r>
            <a:r>
              <a:rPr dirty="0" sz="2000" spc="4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cross</a:t>
            </a:r>
            <a:r>
              <a:rPr dirty="0" sz="2000" spc="4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platform,</a:t>
            </a:r>
            <a:r>
              <a:rPr dirty="0" sz="2000" spc="5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VM/application</a:t>
            </a:r>
            <a:r>
              <a:rPr dirty="0" sz="2000" spc="5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environment</a:t>
            </a:r>
            <a:r>
              <a:rPr dirty="0" sz="2000" spc="4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does</a:t>
            </a:r>
            <a:r>
              <a:rPr dirty="0" sz="2000" spc="5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not</a:t>
            </a:r>
            <a:r>
              <a:rPr dirty="0" sz="2000" spc="4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corresponds</a:t>
            </a:r>
            <a:r>
              <a:rPr dirty="0" sz="2000" spc="5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5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any</a:t>
            </a:r>
            <a:r>
              <a:rPr dirty="0" sz="2000" spc="5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real</a:t>
            </a:r>
            <a:r>
              <a:rPr dirty="0" sz="2000" spc="4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platform,</a:t>
            </a:r>
            <a:r>
              <a:rPr dirty="0" sz="2000" spc="55" b="1">
                <a:latin typeface="Calibri"/>
                <a:cs typeface="Calibri"/>
              </a:rPr>
              <a:t>  </a:t>
            </a:r>
            <a:r>
              <a:rPr dirty="0" sz="2000" spc="-10" b="1">
                <a:latin typeface="Calibri"/>
                <a:cs typeface="Calibri"/>
              </a:rPr>
              <a:t>rather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instructions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converted</a:t>
            </a:r>
            <a:r>
              <a:rPr dirty="0" sz="2000" spc="3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3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more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generic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(like</a:t>
            </a:r>
            <a:r>
              <a:rPr dirty="0" sz="1400" spc="180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byte</a:t>
            </a:r>
            <a:r>
              <a:rPr dirty="0" sz="1400" spc="175" b="1">
                <a:latin typeface="Calibri"/>
                <a:cs typeface="Calibri"/>
              </a:rPr>
              <a:t> </a:t>
            </a:r>
            <a:r>
              <a:rPr dirty="0" sz="1400" b="1">
                <a:latin typeface="Calibri"/>
                <a:cs typeface="Calibri"/>
              </a:rPr>
              <a:t>code)</a:t>
            </a:r>
            <a:r>
              <a:rPr dirty="0" sz="1400" spc="46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features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high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level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language,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minimizing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hardware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specific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1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specific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features</a:t>
            </a:r>
            <a:r>
              <a:rPr dirty="0" sz="1200" spc="-10" b="1">
                <a:latin typeface="Calibri"/>
                <a:cs typeface="Calibri"/>
              </a:rPr>
              <a:t>.</a:t>
            </a:r>
            <a:r>
              <a:rPr dirty="0" sz="1200" spc="-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converted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more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generic way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not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specific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hardware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 OS, code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reduces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number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hardware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specific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&amp;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OS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specific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instructions</a:t>
            </a:r>
            <a:r>
              <a:rPr dirty="0" sz="1200" spc="-10">
                <a:latin typeface="Wingdings"/>
                <a:cs typeface="Wingdings"/>
              </a:rPr>
              <a:t>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Calibri"/>
                <a:cs typeface="Calibri"/>
              </a:rPr>
              <a:t>converts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instruction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hardware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&amp;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 </a:t>
            </a:r>
            <a:r>
              <a:rPr dirty="0" sz="1200">
                <a:latin typeface="Calibri"/>
                <a:cs typeface="Calibri"/>
              </a:rPr>
              <a:t>calls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generic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way,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access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architecture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OS).</a:t>
            </a:r>
            <a:endParaRPr sz="1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Popular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example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HLL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Java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VM.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0298" y="-71247"/>
            <a:ext cx="7926705" cy="8255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95"/>
              </a:spcBef>
            </a:pPr>
            <a:r>
              <a:rPr dirty="0" sz="2800" spc="-25" b="0">
                <a:solidFill>
                  <a:srgbClr val="000000"/>
                </a:solidFill>
                <a:latin typeface="Calibri Light"/>
                <a:cs typeface="Calibri Light"/>
              </a:rPr>
              <a:t>PROCESS</a:t>
            </a:r>
            <a:r>
              <a:rPr dirty="0" sz="2800" spc="-10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30" b="0">
                <a:solidFill>
                  <a:srgbClr val="000000"/>
                </a:solidFill>
                <a:latin typeface="Calibri Light"/>
                <a:cs typeface="Calibri Light"/>
              </a:rPr>
              <a:t>VIRTUAL</a:t>
            </a:r>
            <a:r>
              <a:rPr dirty="0" sz="2800" spc="-11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30" b="0">
                <a:solidFill>
                  <a:srgbClr val="000000"/>
                </a:solidFill>
                <a:latin typeface="Calibri Light"/>
                <a:cs typeface="Calibri Light"/>
              </a:rPr>
              <a:t>MACHINE</a:t>
            </a:r>
            <a:r>
              <a:rPr dirty="0" sz="2800" spc="-12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(Cont.…)</a:t>
            </a:r>
            <a:endParaRPr sz="2800">
              <a:latin typeface="Calibri Light"/>
              <a:cs typeface="Calibri Light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dirty="0" sz="2400"/>
              <a:t>High</a:t>
            </a:r>
            <a:r>
              <a:rPr dirty="0" sz="2400" spc="-90"/>
              <a:t> </a:t>
            </a:r>
            <a:r>
              <a:rPr dirty="0" sz="2400"/>
              <a:t>Level</a:t>
            </a:r>
            <a:r>
              <a:rPr dirty="0" sz="2400" spc="-85"/>
              <a:t> </a:t>
            </a:r>
            <a:r>
              <a:rPr dirty="0" sz="2400" spc="-10"/>
              <a:t>Language</a:t>
            </a:r>
            <a:r>
              <a:rPr dirty="0" sz="2400" spc="-90"/>
              <a:t> </a:t>
            </a:r>
            <a:r>
              <a:rPr dirty="0" sz="2400"/>
              <a:t>Virtual</a:t>
            </a:r>
            <a:r>
              <a:rPr dirty="0" sz="2400" spc="-65"/>
              <a:t> </a:t>
            </a:r>
            <a:r>
              <a:rPr dirty="0" sz="2400"/>
              <a:t>Machines:</a:t>
            </a:r>
            <a:r>
              <a:rPr dirty="0" sz="2400" spc="-75"/>
              <a:t> </a:t>
            </a:r>
            <a:r>
              <a:rPr dirty="0" sz="2400"/>
              <a:t>Platform</a:t>
            </a:r>
            <a:r>
              <a:rPr dirty="0" sz="2400" spc="-75"/>
              <a:t> </a:t>
            </a:r>
            <a:r>
              <a:rPr dirty="0" sz="2400" spc="-10"/>
              <a:t>Independence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584549"/>
            <a:ext cx="12035155" cy="327850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6985" indent="-342900">
              <a:lnSpc>
                <a:spcPct val="113999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In a </a:t>
            </a:r>
            <a:r>
              <a:rPr dirty="0" sz="2000" b="1">
                <a:latin typeface="Calibri"/>
                <a:cs typeface="Calibri"/>
              </a:rPr>
              <a:t>conventional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shown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 the figure</a:t>
            </a:r>
            <a:r>
              <a:rPr dirty="0" sz="2000" b="1">
                <a:latin typeface="Calibri"/>
                <a:cs typeface="Calibri"/>
              </a:rPr>
              <a:t>,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complier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consists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frontend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performs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lexical,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syntax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semantic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analysis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generate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intermediate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code.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3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These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intermediate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code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does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contain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specific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register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assignments.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13999"/>
              </a:lnSpc>
              <a:spcBef>
                <a:spcPts val="10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code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generator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takes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intermediate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code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generates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binary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containing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code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specific architecture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 </a:t>
            </a:r>
            <a:r>
              <a:rPr dirty="0" sz="2000" spc="-25" b="1">
                <a:latin typeface="Calibri"/>
                <a:cs typeface="Calibri"/>
              </a:rPr>
              <a:t>OS.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code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distributed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executed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platforms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support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given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architecture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OS.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(Machine</a:t>
            </a:r>
            <a:endParaRPr sz="1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335"/>
              </a:spcBef>
            </a:pPr>
            <a:r>
              <a:rPr dirty="0" sz="1800">
                <a:latin typeface="Calibri"/>
                <a:cs typeface="Calibri"/>
              </a:rPr>
              <a:t>code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will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loaded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memory</a:t>
            </a:r>
            <a:r>
              <a:rPr dirty="0" sz="1800" spc="-6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executed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on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the</a:t>
            </a:r>
            <a:r>
              <a:rPr dirty="0" sz="1800" spc="-45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generated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architecture</a:t>
            </a:r>
            <a:r>
              <a:rPr dirty="0" sz="1800" spc="-1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spc="-25">
                <a:latin typeface="Calibri"/>
                <a:cs typeface="Calibri"/>
              </a:rPr>
              <a:t>OS)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80" b="1">
                <a:latin typeface="Calibri"/>
                <a:cs typeface="Calibri"/>
              </a:rPr>
              <a:t>To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execute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program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different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platform,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must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recompiled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platform.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8291" y="942878"/>
            <a:ext cx="6776068" cy="2018707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6371" y="3128523"/>
            <a:ext cx="9173689" cy="400283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30298" y="-71247"/>
            <a:ext cx="7926705" cy="8255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ctr" marL="5715">
              <a:lnSpc>
                <a:spcPct val="100000"/>
              </a:lnSpc>
              <a:spcBef>
                <a:spcPts val="95"/>
              </a:spcBef>
            </a:pPr>
            <a:r>
              <a:rPr dirty="0" sz="2800" spc="-25" b="0">
                <a:solidFill>
                  <a:srgbClr val="000000"/>
                </a:solidFill>
                <a:latin typeface="Calibri Light"/>
                <a:cs typeface="Calibri Light"/>
              </a:rPr>
              <a:t>PROCESS</a:t>
            </a:r>
            <a:r>
              <a:rPr dirty="0" sz="2800" spc="-10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30" b="0">
                <a:solidFill>
                  <a:srgbClr val="000000"/>
                </a:solidFill>
                <a:latin typeface="Calibri Light"/>
                <a:cs typeface="Calibri Light"/>
              </a:rPr>
              <a:t>VIRTUAL</a:t>
            </a:r>
            <a:r>
              <a:rPr dirty="0" sz="2800" spc="-11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30" b="0">
                <a:solidFill>
                  <a:srgbClr val="000000"/>
                </a:solidFill>
                <a:latin typeface="Calibri Light"/>
                <a:cs typeface="Calibri Light"/>
              </a:rPr>
              <a:t>MACHINE</a:t>
            </a:r>
            <a:r>
              <a:rPr dirty="0" sz="2800" spc="-12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(Cont.…)</a:t>
            </a:r>
            <a:endParaRPr sz="2800">
              <a:latin typeface="Calibri Light"/>
              <a:cs typeface="Calibri Light"/>
            </a:endParaRPr>
          </a:p>
          <a:p>
            <a:pPr algn="ctr">
              <a:lnSpc>
                <a:spcPct val="100000"/>
              </a:lnSpc>
              <a:spcBef>
                <a:spcPts val="65"/>
              </a:spcBef>
            </a:pPr>
            <a:r>
              <a:rPr dirty="0" sz="2400"/>
              <a:t>High</a:t>
            </a:r>
            <a:r>
              <a:rPr dirty="0" sz="2400" spc="-90"/>
              <a:t> </a:t>
            </a:r>
            <a:r>
              <a:rPr dirty="0" sz="2400"/>
              <a:t>Level</a:t>
            </a:r>
            <a:r>
              <a:rPr dirty="0" sz="2400" spc="-85"/>
              <a:t> </a:t>
            </a:r>
            <a:r>
              <a:rPr dirty="0" sz="2400" spc="-10"/>
              <a:t>Language</a:t>
            </a:r>
            <a:r>
              <a:rPr dirty="0" sz="2400" spc="-90"/>
              <a:t> </a:t>
            </a:r>
            <a:r>
              <a:rPr dirty="0" sz="2400"/>
              <a:t>Virtual</a:t>
            </a:r>
            <a:r>
              <a:rPr dirty="0" sz="2400" spc="-65"/>
              <a:t> </a:t>
            </a:r>
            <a:r>
              <a:rPr dirty="0" sz="2400"/>
              <a:t>Machines:</a:t>
            </a:r>
            <a:r>
              <a:rPr dirty="0" sz="2400" spc="-75"/>
              <a:t> </a:t>
            </a:r>
            <a:r>
              <a:rPr dirty="0" sz="2400"/>
              <a:t>Platform</a:t>
            </a:r>
            <a:r>
              <a:rPr dirty="0" sz="2400" spc="-75"/>
              <a:t> </a:t>
            </a:r>
            <a:r>
              <a:rPr dirty="0" sz="2400" spc="-10"/>
              <a:t>Independence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889349"/>
            <a:ext cx="12035790" cy="2908935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434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HLL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VM,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model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changed.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shown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figure,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compiler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generates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code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(called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HLL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VM)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335"/>
              </a:spcBef>
            </a:pPr>
            <a:r>
              <a:rPr dirty="0" sz="2000" b="1">
                <a:latin typeface="Calibri"/>
                <a:cs typeface="Calibri"/>
              </a:rPr>
              <a:t>similar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intermediate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code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(Eg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say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Byte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Code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Java)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3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generic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stack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ISA.</a:t>
            </a:r>
            <a:endParaRPr sz="20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13500"/>
              </a:lnSpc>
              <a:spcBef>
                <a:spcPts val="241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loader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converts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into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image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minimizes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specific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&amp;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specific,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loads.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(A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virtual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machine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image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single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contains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virtual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disk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has</a:t>
            </a:r>
            <a:r>
              <a:rPr dirty="0" sz="1200" spc="1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1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bootable</a:t>
            </a:r>
            <a:r>
              <a:rPr dirty="0" sz="1200" spc="1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operating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system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installed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it).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(VM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Loader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converts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byte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file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wrt</a:t>
            </a:r>
            <a:r>
              <a:rPr dirty="0" sz="1200" spc="1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underlying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architecture</a:t>
            </a:r>
            <a:r>
              <a:rPr dirty="0" sz="1200" spc="15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and </a:t>
            </a:r>
            <a:r>
              <a:rPr dirty="0" sz="1200" spc="-25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instruction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loads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memory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Wingdings"/>
                <a:cs typeface="Wingdings"/>
              </a:rPr>
              <a:t></a:t>
            </a:r>
            <a:r>
              <a:rPr dirty="0" sz="1200" spc="-40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Calibri"/>
                <a:cs typeface="Calibri"/>
              </a:rPr>
              <a:t>Translator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converts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machine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(This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done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JVM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target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machine)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buFont typeface="Arial MT"/>
              <a:buChar char="•"/>
            </a:pPr>
            <a:endParaRPr sz="12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Finally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interpreted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&amp;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distributed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execution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any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platform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12700" marR="5715" indent="57785">
              <a:lnSpc>
                <a:spcPct val="105800"/>
              </a:lnSpc>
              <a:spcBef>
                <a:spcPts val="635"/>
              </a:spcBef>
            </a:pPr>
            <a:r>
              <a:rPr dirty="0" sz="1200" spc="-10">
                <a:latin typeface="Calibri"/>
                <a:cs typeface="Calibri"/>
              </a:rPr>
              <a:t>(Traditional</a:t>
            </a:r>
            <a:r>
              <a:rPr dirty="0" sz="1200" spc="-10">
                <a:latin typeface="Wingdings"/>
                <a:cs typeface="Wingdings"/>
              </a:rPr>
              <a:t></a:t>
            </a:r>
            <a:r>
              <a:rPr dirty="0" sz="1200" spc="-50">
                <a:latin typeface="Times New Roman"/>
                <a:cs typeface="Times New Roman"/>
              </a:rPr>
              <a:t> </a:t>
            </a:r>
            <a:r>
              <a:rPr dirty="0" sz="1200">
                <a:latin typeface="Calibri"/>
                <a:cs typeface="Calibri"/>
              </a:rPr>
              <a:t>Convert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HLL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program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machine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different </a:t>
            </a:r>
            <a:r>
              <a:rPr dirty="0" sz="1200">
                <a:latin typeface="Calibri"/>
                <a:cs typeface="Calibri"/>
              </a:rPr>
              <a:t>platform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again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compile</a:t>
            </a:r>
            <a:r>
              <a:rPr dirty="0" sz="1200" spc="114">
                <a:latin typeface="Calibri"/>
                <a:cs typeface="Calibri"/>
              </a:rPr>
              <a:t>  </a:t>
            </a:r>
            <a:r>
              <a:rPr dirty="0" sz="1200">
                <a:latin typeface="Calibri"/>
                <a:cs typeface="Calibri"/>
              </a:rPr>
              <a:t>HLL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VM-</a:t>
            </a:r>
            <a:r>
              <a:rPr dirty="0" sz="1200">
                <a:latin typeface="Calibri"/>
                <a:cs typeface="Calibri"/>
              </a:rPr>
              <a:t>&gt;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example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JVM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convert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portable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called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byte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code.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this </a:t>
            </a:r>
            <a:r>
              <a:rPr dirty="0" sz="1200">
                <a:latin typeface="Calibri"/>
                <a:cs typeface="Calibri"/>
              </a:rPr>
              <a:t>byte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code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 run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machine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10">
                <a:latin typeface="Calibri"/>
                <a:cs typeface="Calibri"/>
              </a:rPr>
              <a:t> different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platform)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Traditional</a:t>
            </a:r>
            <a:r>
              <a:rPr dirty="0" sz="1200" spc="-10">
                <a:latin typeface="Wingdings"/>
                <a:cs typeface="Wingdings"/>
              </a:rPr>
              <a:t></a:t>
            </a:r>
            <a:r>
              <a:rPr dirty="0" sz="1200" spc="-65">
                <a:latin typeface="Times New Roman"/>
                <a:cs typeface="Times New Roman"/>
              </a:rPr>
              <a:t> </a:t>
            </a:r>
            <a:r>
              <a:rPr dirty="0" sz="1200" spc="-10">
                <a:latin typeface="Calibri"/>
                <a:cs typeface="Calibri"/>
              </a:rPr>
              <a:t>Conventional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– guest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ISA</a:t>
            </a:r>
            <a:r>
              <a:rPr dirty="0" sz="1200" spc="26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registers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-&gt;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host</a:t>
            </a:r>
            <a:r>
              <a:rPr dirty="0" sz="1200" spc="-10">
                <a:latin typeface="Calibri"/>
                <a:cs typeface="Calibri"/>
              </a:rPr>
              <a:t> registers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problem.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HLL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VM</a:t>
            </a:r>
            <a:r>
              <a:rPr dirty="0" sz="1200">
                <a:latin typeface="Wingdings"/>
                <a:cs typeface="Wingdings"/>
              </a:rPr>
              <a:t></a:t>
            </a:r>
            <a:r>
              <a:rPr dirty="0" sz="1200" spc="-55">
                <a:latin typeface="Times New Roman"/>
                <a:cs typeface="Times New Roman"/>
              </a:rPr>
              <a:t> </a:t>
            </a:r>
            <a:r>
              <a:rPr dirty="0" sz="1200">
                <a:latin typeface="Calibri"/>
                <a:cs typeface="Calibri"/>
              </a:rPr>
              <a:t>–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stack-</a:t>
            </a:r>
            <a:r>
              <a:rPr dirty="0" sz="1200">
                <a:latin typeface="Calibri"/>
                <a:cs typeface="Calibri"/>
              </a:rPr>
              <a:t>oriented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50">
                <a:latin typeface="Calibri"/>
                <a:cs typeface="Calibri"/>
              </a:rPr>
              <a:t>)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58291" y="962815"/>
            <a:ext cx="6776068" cy="2237522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6371" y="3299242"/>
            <a:ext cx="9173689" cy="401682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03132" y="448944"/>
            <a:ext cx="6817550" cy="47976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1540" rIns="0" bIns="0" rtlCol="0" vert="horz">
            <a:spAutoFit/>
          </a:bodyPr>
          <a:lstStyle/>
          <a:p>
            <a:pPr marL="5045710">
              <a:lnSpc>
                <a:spcPct val="100000"/>
              </a:lnSpc>
              <a:spcBef>
                <a:spcPts val="100"/>
              </a:spcBef>
            </a:pPr>
            <a:r>
              <a:rPr dirty="0" sz="2400" b="0">
                <a:solidFill>
                  <a:srgbClr val="000000"/>
                </a:solidFill>
                <a:latin typeface="Calibri Light"/>
                <a:cs typeface="Calibri Light"/>
              </a:rPr>
              <a:t>HLL</a:t>
            </a:r>
            <a:r>
              <a:rPr dirty="0" sz="2400" spc="-8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400" b="0">
                <a:solidFill>
                  <a:srgbClr val="000000"/>
                </a:solidFill>
                <a:latin typeface="Calibri Light"/>
                <a:cs typeface="Calibri Light"/>
              </a:rPr>
              <a:t>VM</a:t>
            </a:r>
            <a:r>
              <a:rPr dirty="0" sz="2400" spc="-8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400" spc="-10" b="0">
                <a:solidFill>
                  <a:srgbClr val="000000"/>
                </a:solidFill>
                <a:latin typeface="Calibri Light"/>
                <a:cs typeface="Calibri Light"/>
              </a:rPr>
              <a:t>(Cont…)</a:t>
            </a:r>
            <a:endParaRPr sz="2400">
              <a:latin typeface="Calibri Light"/>
              <a:cs typeface="Calibri Ligh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822706"/>
            <a:ext cx="12035790" cy="87947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algn="just" marL="239395" marR="5080" indent="-226695">
              <a:lnSpc>
                <a:spcPts val="2160"/>
              </a:lnSpc>
              <a:spcBef>
                <a:spcPts val="37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its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simplest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form,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contains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interpreter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takes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each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instruction,</a:t>
            </a:r>
            <a:r>
              <a:rPr dirty="0" sz="2000" spc="1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decodes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then</a:t>
            </a:r>
            <a:r>
              <a:rPr dirty="0" sz="2000" spc="1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performs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the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required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state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transformation.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more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sophisticated,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higher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performance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abstract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machine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may</a:t>
            </a:r>
            <a:r>
              <a:rPr dirty="0" sz="2000" spc="-25">
                <a:latin typeface="Calibri"/>
                <a:cs typeface="Calibri"/>
              </a:rPr>
              <a:t> be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compiled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host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machine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code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direct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execution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host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platform.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4316" y="2276855"/>
            <a:ext cx="9663684" cy="1019556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56226" y="-68198"/>
            <a:ext cx="24796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0">
                <a:solidFill>
                  <a:srgbClr val="000000"/>
                </a:solidFill>
                <a:latin typeface="Times New Roman"/>
                <a:cs typeface="Times New Roman"/>
              </a:rPr>
              <a:t>Virtual</a:t>
            </a:r>
            <a:r>
              <a:rPr dirty="0" sz="2800" spc="-14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Times New Roman"/>
                <a:cs typeface="Times New Roman"/>
              </a:rPr>
              <a:t>Machines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15849"/>
            <a:ext cx="12036425" cy="5480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175">
              <a:lnSpc>
                <a:spcPct val="100000"/>
              </a:lnSpc>
              <a:spcBef>
                <a:spcPts val="100"/>
              </a:spcBef>
            </a:pPr>
            <a:r>
              <a:rPr dirty="0" sz="2000" spc="-10">
                <a:latin typeface="Times New Roman"/>
                <a:cs typeface="Times New Roman"/>
              </a:rPr>
              <a:t>Virtual</a:t>
            </a:r>
            <a:r>
              <a:rPr dirty="0" sz="2000" spc="-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Machines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-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be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divided</a:t>
            </a:r>
            <a:r>
              <a:rPr dirty="0" sz="2000" spc="-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into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two</a:t>
            </a:r>
            <a:r>
              <a:rPr dirty="0" sz="2000" spc="-2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categories:</a:t>
            </a:r>
            <a:endParaRPr sz="2000">
              <a:latin typeface="Times New Roman"/>
              <a:cs typeface="Times New Roman"/>
            </a:endParaRPr>
          </a:p>
          <a:p>
            <a:pPr marL="5014595">
              <a:lnSpc>
                <a:spcPct val="100000"/>
              </a:lnSpc>
              <a:spcBef>
                <a:spcPts val="2245"/>
              </a:spcBef>
            </a:pPr>
            <a:r>
              <a:rPr dirty="0" sz="2000" b="1">
                <a:latin typeface="Times New Roman"/>
                <a:cs typeface="Times New Roman"/>
              </a:rPr>
              <a:t>1.</a:t>
            </a:r>
            <a:r>
              <a:rPr dirty="0" sz="2000" spc="-3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Process</a:t>
            </a:r>
            <a:r>
              <a:rPr dirty="0" sz="2000" spc="-7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Virtual</a:t>
            </a:r>
            <a:r>
              <a:rPr dirty="0" sz="2000" spc="-5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Machine</a:t>
            </a:r>
            <a:endParaRPr sz="2000">
              <a:latin typeface="Times New Roman"/>
              <a:cs typeface="Times New Roman"/>
            </a:endParaRPr>
          </a:p>
          <a:p>
            <a:pPr algn="just" marL="351790" marR="5080" indent="-339090">
              <a:lnSpc>
                <a:spcPct val="113799"/>
              </a:lnSpc>
              <a:spcBef>
                <a:spcPts val="21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Process</a:t>
            </a:r>
            <a:r>
              <a:rPr dirty="0" sz="2000" spc="3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VM</a:t>
            </a:r>
            <a:r>
              <a:rPr dirty="0" sz="2000" spc="28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provides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305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platform-</a:t>
            </a:r>
            <a:r>
              <a:rPr dirty="0" sz="2000" b="1">
                <a:latin typeface="Times New Roman"/>
                <a:cs typeface="Times New Roman"/>
              </a:rPr>
              <a:t>independent</a:t>
            </a:r>
            <a:r>
              <a:rPr dirty="0" sz="2000" spc="310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programming</a:t>
            </a:r>
            <a:r>
              <a:rPr dirty="0" sz="2000" spc="330" b="1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environment</a:t>
            </a:r>
            <a:r>
              <a:rPr dirty="0" sz="2000" spc="3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30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masks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3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information</a:t>
            </a:r>
            <a:r>
              <a:rPr dirty="0" sz="2000" spc="3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32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the </a:t>
            </a:r>
            <a:r>
              <a:rPr dirty="0" sz="2000" spc="-25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underlying</a:t>
            </a:r>
            <a:r>
              <a:rPr dirty="0" sz="2000" spc="2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hardware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operating</a:t>
            </a:r>
            <a:r>
              <a:rPr dirty="0" sz="2000" spc="25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229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and</a:t>
            </a:r>
            <a:r>
              <a:rPr dirty="0" sz="2000" spc="2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allows</a:t>
            </a:r>
            <a:r>
              <a:rPr dirty="0" sz="2000" spc="2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program</a:t>
            </a:r>
            <a:r>
              <a:rPr dirty="0" sz="2000" spc="2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execution</a:t>
            </a:r>
            <a:r>
              <a:rPr dirty="0" sz="2000" spc="2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</a:t>
            </a:r>
            <a:r>
              <a:rPr dirty="0" sz="2000" spc="26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take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place</a:t>
            </a:r>
            <a:r>
              <a:rPr dirty="0" sz="2000" spc="2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in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2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same</a:t>
            </a:r>
            <a:r>
              <a:rPr dirty="0" sz="2000" spc="2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way</a:t>
            </a:r>
            <a:r>
              <a:rPr dirty="0" sz="2000" spc="2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any </a:t>
            </a:r>
            <a:r>
              <a:rPr dirty="0" sz="2000" spc="-25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given</a:t>
            </a:r>
            <a:r>
              <a:rPr dirty="0" sz="2000" spc="2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platform.</a:t>
            </a:r>
            <a:r>
              <a:rPr dirty="0" sz="2000" spc="229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(provides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platform</a:t>
            </a:r>
            <a:r>
              <a:rPr dirty="0" sz="1400" spc="90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independent</a:t>
            </a:r>
            <a:r>
              <a:rPr dirty="0" sz="1400" spc="1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pgmming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environment,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VM</a:t>
            </a:r>
            <a:r>
              <a:rPr dirty="0" sz="1400" spc="90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is</a:t>
            </a:r>
            <a:r>
              <a:rPr dirty="0" sz="1400" spc="10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created</a:t>
            </a:r>
            <a:r>
              <a:rPr dirty="0" sz="1400" spc="85" b="1">
                <a:latin typeface="Times New Roman"/>
                <a:cs typeface="Times New Roman"/>
              </a:rPr>
              <a:t> </a:t>
            </a:r>
            <a:r>
              <a:rPr dirty="0" sz="1400" b="1">
                <a:latin typeface="Times New Roman"/>
                <a:cs typeface="Times New Roman"/>
              </a:rPr>
              <a:t>(virtually)</a:t>
            </a:r>
            <a:r>
              <a:rPr dirty="0" sz="1400" spc="105" b="1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process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started</a:t>
            </a:r>
            <a:r>
              <a:rPr dirty="0" sz="1400" spc="10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destroyed</a:t>
            </a:r>
            <a:r>
              <a:rPr dirty="0" sz="1400" spc="1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when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it </a:t>
            </a:r>
            <a:r>
              <a:rPr dirty="0" sz="1400" spc="-25">
                <a:latin typeface="Times New Roman"/>
                <a:cs typeface="Times New Roman"/>
              </a:rPr>
              <a:t>	</a:t>
            </a:r>
            <a:r>
              <a:rPr dirty="0" sz="1400">
                <a:latin typeface="Times New Roman"/>
                <a:cs typeface="Times New Roman"/>
              </a:rPr>
              <a:t>exits.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Separate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VM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OS</a:t>
            </a:r>
            <a:r>
              <a:rPr dirty="0" sz="1400" spc="7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installed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application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running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that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is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not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created,</a:t>
            </a:r>
            <a:r>
              <a:rPr dirty="0" sz="1400" spc="7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multiple</a:t>
            </a:r>
            <a:r>
              <a:rPr dirty="0" sz="1400" spc="8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applications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runs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on</a:t>
            </a:r>
            <a:r>
              <a:rPr dirty="0" sz="1400" spc="9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same</a:t>
            </a:r>
            <a:r>
              <a:rPr dirty="0" sz="1400" spc="10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OS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with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time</a:t>
            </a:r>
            <a:r>
              <a:rPr dirty="0" sz="1400" spc="8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sharing</a:t>
            </a:r>
            <a:r>
              <a:rPr dirty="0" sz="1400" spc="9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and</a:t>
            </a:r>
            <a:r>
              <a:rPr dirty="0" sz="1400" spc="85">
                <a:latin typeface="Times New Roman"/>
                <a:cs typeface="Times New Roman"/>
              </a:rPr>
              <a:t>  </a:t>
            </a:r>
            <a:r>
              <a:rPr dirty="0" sz="1400">
                <a:latin typeface="Times New Roman"/>
                <a:cs typeface="Times New Roman"/>
              </a:rPr>
              <a:t>interprets</a:t>
            </a:r>
            <a:r>
              <a:rPr dirty="0" sz="1400" spc="80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the </a:t>
            </a:r>
            <a:r>
              <a:rPr dirty="0" sz="1400" spc="-25">
                <a:latin typeface="Times New Roman"/>
                <a:cs typeface="Times New Roman"/>
              </a:rPr>
              <a:t>	</a:t>
            </a:r>
            <a:r>
              <a:rPr dirty="0" sz="1400">
                <a:latin typeface="Times New Roman"/>
                <a:cs typeface="Times New Roman"/>
              </a:rPr>
              <a:t>instruction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to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an</a:t>
            </a:r>
            <a:r>
              <a:rPr dirty="0" sz="1400" spc="-1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underlying</a:t>
            </a:r>
            <a:r>
              <a:rPr dirty="0" sz="1400" spc="-4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architecture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OS.</a:t>
            </a:r>
            <a:r>
              <a:rPr dirty="0" sz="1400" spc="-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EG: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JVM running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multiple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threads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converting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instruction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set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of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app</a:t>
            </a:r>
            <a:r>
              <a:rPr dirty="0" sz="1400" spc="-2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into</a:t>
            </a:r>
            <a:r>
              <a:rPr dirty="0" sz="1400" spc="-3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underlying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architecture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>
                <a:latin typeface="Times New Roman"/>
                <a:cs typeface="Times New Roman"/>
              </a:rPr>
              <a:t>&amp;</a:t>
            </a:r>
            <a:r>
              <a:rPr dirty="0" sz="1400" spc="-15">
                <a:latin typeface="Times New Roman"/>
                <a:cs typeface="Times New Roman"/>
              </a:rPr>
              <a:t> </a:t>
            </a:r>
            <a:r>
              <a:rPr dirty="0" sz="1400" spc="-25">
                <a:latin typeface="Times New Roman"/>
                <a:cs typeface="Times New Roman"/>
              </a:rPr>
              <a:t>OS)</a:t>
            </a: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20"/>
              </a:spcBef>
              <a:buFont typeface="Arial MT"/>
              <a:buChar char="•"/>
            </a:pPr>
            <a:endParaRPr sz="1400">
              <a:latin typeface="Times New Roman"/>
              <a:cs typeface="Times New Roman"/>
            </a:endParaRPr>
          </a:p>
          <a:p>
            <a:pPr marL="4984115">
              <a:lnSpc>
                <a:spcPct val="100000"/>
              </a:lnSpc>
            </a:pPr>
            <a:r>
              <a:rPr dirty="0" sz="2000" b="1">
                <a:latin typeface="Times New Roman"/>
                <a:cs typeface="Times New Roman"/>
              </a:rPr>
              <a:t>2.</a:t>
            </a:r>
            <a:r>
              <a:rPr dirty="0" sz="2000" spc="-15" b="1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System</a:t>
            </a:r>
            <a:r>
              <a:rPr dirty="0" sz="2000" spc="-75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Virtual</a:t>
            </a:r>
            <a:r>
              <a:rPr dirty="0" sz="2000" spc="-40" b="1">
                <a:latin typeface="Times New Roman"/>
                <a:cs typeface="Times New Roman"/>
              </a:rPr>
              <a:t> </a:t>
            </a:r>
            <a:r>
              <a:rPr dirty="0" sz="2000" spc="-10" b="1">
                <a:latin typeface="Times New Roman"/>
                <a:cs typeface="Times New Roman"/>
              </a:rPr>
              <a:t>Machines</a:t>
            </a:r>
            <a:endParaRPr sz="2000">
              <a:latin typeface="Times New Roman"/>
              <a:cs typeface="Times New Roman"/>
            </a:endParaRPr>
          </a:p>
          <a:p>
            <a:pPr algn="just" marL="352425" marR="5715" indent="-339725">
              <a:lnSpc>
                <a:spcPct val="113900"/>
              </a:lnSpc>
              <a:spcBef>
                <a:spcPts val="152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VM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provides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platform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that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supports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sharing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host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computer's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physical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resources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 spc="-10">
                <a:latin typeface="Times New Roman"/>
                <a:cs typeface="Times New Roman"/>
              </a:rPr>
              <a:t>between </a:t>
            </a:r>
            <a:r>
              <a:rPr dirty="0" sz="2000" spc="-10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multiple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virtual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machines,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each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running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with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its</a:t>
            </a:r>
            <a:r>
              <a:rPr dirty="0" sz="2000" spc="1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own</a:t>
            </a:r>
            <a:r>
              <a:rPr dirty="0" sz="2000" spc="3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copy</a:t>
            </a:r>
            <a:r>
              <a:rPr dirty="0" sz="2000" spc="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1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operating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system.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The</a:t>
            </a:r>
            <a:r>
              <a:rPr dirty="0" sz="2000" spc="2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virtualization</a:t>
            </a:r>
            <a:r>
              <a:rPr dirty="0" sz="2000" spc="3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technique</a:t>
            </a:r>
            <a:r>
              <a:rPr dirty="0" sz="2000" spc="25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is </a:t>
            </a:r>
            <a:r>
              <a:rPr dirty="0" sz="2000" spc="-25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provided</a:t>
            </a:r>
            <a:r>
              <a:rPr dirty="0" sz="2000" spc="25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by</a:t>
            </a:r>
            <a:r>
              <a:rPr dirty="0" sz="2000" spc="2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software</a:t>
            </a:r>
            <a:r>
              <a:rPr dirty="0" sz="2000" spc="25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layer</a:t>
            </a:r>
            <a:r>
              <a:rPr dirty="0" sz="2000" spc="2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known</a:t>
            </a:r>
            <a:r>
              <a:rPr dirty="0" sz="2000" spc="25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as</a:t>
            </a:r>
            <a:r>
              <a:rPr dirty="0" sz="2000" spc="25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a</a:t>
            </a:r>
            <a:r>
              <a:rPr dirty="0" sz="2000" spc="235">
                <a:latin typeface="Times New Roman"/>
                <a:cs typeface="Times New Roman"/>
              </a:rPr>
              <a:t> </a:t>
            </a:r>
            <a:r>
              <a:rPr dirty="0" sz="2000" b="1">
                <a:latin typeface="Times New Roman"/>
                <a:cs typeface="Times New Roman"/>
              </a:rPr>
              <a:t>Hypervisor</a:t>
            </a:r>
            <a:r>
              <a:rPr dirty="0" sz="2000">
                <a:latin typeface="Times New Roman"/>
                <a:cs typeface="Times New Roman"/>
              </a:rPr>
              <a:t>,</a:t>
            </a:r>
            <a:r>
              <a:rPr dirty="0" sz="2000" spc="2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which</a:t>
            </a:r>
            <a:r>
              <a:rPr dirty="0" sz="2000" spc="254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can</a:t>
            </a:r>
            <a:r>
              <a:rPr dirty="0" sz="2000" spc="26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run</a:t>
            </a:r>
            <a:r>
              <a:rPr dirty="0" sz="2000" spc="2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either</a:t>
            </a:r>
            <a:r>
              <a:rPr dirty="0" sz="2000" spc="2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2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bare</a:t>
            </a:r>
            <a:r>
              <a:rPr dirty="0" sz="2000" spc="2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hardware</a:t>
            </a:r>
            <a:r>
              <a:rPr dirty="0" sz="2000" spc="2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or</a:t>
            </a:r>
            <a:r>
              <a:rPr dirty="0" sz="2000" spc="2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on</a:t>
            </a:r>
            <a:r>
              <a:rPr dirty="0" sz="2000" spc="2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top</a:t>
            </a:r>
            <a:r>
              <a:rPr dirty="0" sz="2000" spc="245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of</a:t>
            </a:r>
            <a:r>
              <a:rPr dirty="0" sz="2000" spc="260">
                <a:latin typeface="Times New Roman"/>
                <a:cs typeface="Times New Roman"/>
              </a:rPr>
              <a:t> </a:t>
            </a:r>
            <a:r>
              <a:rPr dirty="0" sz="2000" spc="-25">
                <a:latin typeface="Times New Roman"/>
                <a:cs typeface="Times New Roman"/>
              </a:rPr>
              <a:t>an </a:t>
            </a:r>
            <a:r>
              <a:rPr dirty="0" sz="2000" spc="-25">
                <a:latin typeface="Times New Roman"/>
                <a:cs typeface="Times New Roman"/>
              </a:rPr>
              <a:t>	</a:t>
            </a:r>
            <a:r>
              <a:rPr dirty="0" sz="2000">
                <a:latin typeface="Times New Roman"/>
                <a:cs typeface="Times New Roman"/>
              </a:rPr>
              <a:t>operating</a:t>
            </a:r>
            <a:r>
              <a:rPr dirty="0" sz="2000" spc="5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system.</a:t>
            </a:r>
            <a:r>
              <a:rPr dirty="0" sz="2000" spc="40">
                <a:latin typeface="Times New Roman"/>
                <a:cs typeface="Times New Roman"/>
              </a:rPr>
              <a:t> </a:t>
            </a:r>
            <a:r>
              <a:rPr dirty="0" sz="2000">
                <a:latin typeface="Times New Roman"/>
                <a:cs typeface="Times New Roman"/>
              </a:rPr>
              <a:t>(</a:t>
            </a:r>
            <a:r>
              <a:rPr dirty="0" sz="1600">
                <a:latin typeface="Times New Roman"/>
                <a:cs typeface="Times New Roman"/>
              </a:rPr>
              <a:t>Creates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separate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multiple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VM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with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installed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&amp;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application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running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that,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multiple</a:t>
            </a:r>
            <a:r>
              <a:rPr dirty="0" sz="1600" spc="-1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applications</a:t>
            </a:r>
            <a:r>
              <a:rPr dirty="0" sz="1600" spc="-2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each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running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 spc="-20">
                <a:latin typeface="Times New Roman"/>
                <a:cs typeface="Times New Roman"/>
              </a:rPr>
              <a:t>with </a:t>
            </a:r>
            <a:r>
              <a:rPr dirty="0" sz="1600" spc="-20">
                <a:latin typeface="Times New Roman"/>
                <a:cs typeface="Times New Roman"/>
              </a:rPr>
              <a:t>	</a:t>
            </a:r>
            <a:r>
              <a:rPr dirty="0" sz="1600">
                <a:latin typeface="Times New Roman"/>
                <a:cs typeface="Times New Roman"/>
              </a:rPr>
              <a:t>its</a:t>
            </a:r>
            <a:r>
              <a:rPr dirty="0" sz="1600" spc="-3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own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copy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of</a:t>
            </a:r>
            <a:r>
              <a:rPr dirty="0" sz="1600" spc="-4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operating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system</a:t>
            </a:r>
            <a:r>
              <a:rPr dirty="0" sz="1600" spc="-1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on</a:t>
            </a:r>
            <a:r>
              <a:rPr dirty="0" sz="1600" spc="-30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the</a:t>
            </a:r>
            <a:r>
              <a:rPr dirty="0" sz="1600" spc="-2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same</a:t>
            </a:r>
            <a:r>
              <a:rPr dirty="0" sz="1600" spc="5">
                <a:latin typeface="Times New Roman"/>
                <a:cs typeface="Times New Roman"/>
              </a:rPr>
              <a:t> </a:t>
            </a:r>
            <a:r>
              <a:rPr dirty="0" sz="1600">
                <a:latin typeface="Times New Roman"/>
                <a:cs typeface="Times New Roman"/>
              </a:rPr>
              <a:t>physical</a:t>
            </a:r>
            <a:r>
              <a:rPr dirty="0" sz="1600" spc="-5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Times New Roman"/>
                <a:cs typeface="Times New Roman"/>
              </a:rPr>
              <a:t>server)</a:t>
            </a:r>
            <a:endParaRPr sz="1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2346" y="-68198"/>
            <a:ext cx="360680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0">
                <a:solidFill>
                  <a:srgbClr val="000000"/>
                </a:solidFill>
                <a:latin typeface="Times New Roman"/>
                <a:cs typeface="Times New Roman"/>
              </a:rPr>
              <a:t>System</a:t>
            </a:r>
            <a:r>
              <a:rPr dirty="0" sz="2800" spc="-13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Times New Roman"/>
                <a:cs typeface="Times New Roman"/>
              </a:rPr>
              <a:t>Virtual</a:t>
            </a:r>
            <a:r>
              <a:rPr dirty="0" sz="2800" spc="-10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Times New Roman"/>
                <a:cs typeface="Times New Roman"/>
              </a:rPr>
              <a:t>Machines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19506"/>
            <a:ext cx="12035790" cy="6068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2425" marR="6985" indent="-339725">
              <a:lnSpc>
                <a:spcPct val="113999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supports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sharing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computer's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physical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between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machines,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each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running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own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copy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operating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technique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provided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layer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known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Hypervisor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which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run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either</a:t>
            </a:r>
            <a:r>
              <a:rPr dirty="0" sz="2000" spc="1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on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340"/>
              </a:spcBef>
            </a:pPr>
            <a:r>
              <a:rPr dirty="0" sz="2000" b="1">
                <a:latin typeface="Calibri"/>
                <a:cs typeface="Calibri"/>
              </a:rPr>
              <a:t>bare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top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operating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algn="just" marL="352425" marR="6350" indent="-339725">
              <a:lnSpc>
                <a:spcPct val="113999"/>
              </a:lnSpc>
              <a:spcBef>
                <a:spcPts val="24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complete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which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supports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execution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complete 	operating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(OS)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VirtualBox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example.</a:t>
            </a:r>
            <a:endParaRPr sz="20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13999"/>
              </a:lnSpc>
              <a:spcBef>
                <a:spcPts val="24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complete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environment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which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many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processes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possibly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belonging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multiple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users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coexists.</a:t>
            </a:r>
            <a:endParaRPr sz="20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14100"/>
              </a:lnSpc>
              <a:spcBef>
                <a:spcPts val="23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15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using</a:t>
            </a:r>
            <a:r>
              <a:rPr dirty="0" sz="2000" spc="16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16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VM,</a:t>
            </a:r>
            <a:r>
              <a:rPr dirty="0" sz="2000" spc="15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5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single</a:t>
            </a:r>
            <a:r>
              <a:rPr dirty="0" sz="2000" spc="16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15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16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platform</a:t>
            </a:r>
            <a:r>
              <a:rPr dirty="0" sz="2000" spc="16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15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support</a:t>
            </a:r>
            <a:r>
              <a:rPr dirty="0" sz="2000" spc="15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15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15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155" b="1">
                <a:latin typeface="Calibri"/>
                <a:cs typeface="Calibri"/>
              </a:rPr>
              <a:t>  </a:t>
            </a:r>
            <a:r>
              <a:rPr dirty="0" sz="2000" spc="-10" b="1">
                <a:latin typeface="Calibri"/>
                <a:cs typeface="Calibri"/>
              </a:rPr>
              <a:t>environment 	simultaneously.</a:t>
            </a:r>
            <a:endParaRPr sz="20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13999"/>
              </a:lnSpc>
              <a:spcBef>
                <a:spcPts val="24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running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one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isolated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running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other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OS.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Furthermore</a:t>
            </a:r>
            <a:r>
              <a:rPr dirty="0" sz="2000" b="1">
                <a:latin typeface="Calibri"/>
                <a:cs typeface="Calibri"/>
              </a:rPr>
              <a:t>,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if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security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one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comprised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if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suffers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failure,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running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other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not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affected.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92346" y="-68198"/>
            <a:ext cx="360680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0">
                <a:solidFill>
                  <a:srgbClr val="000000"/>
                </a:solidFill>
                <a:latin typeface="Times New Roman"/>
                <a:cs typeface="Times New Roman"/>
              </a:rPr>
              <a:t>System</a:t>
            </a:r>
            <a:r>
              <a:rPr dirty="0" sz="2800" spc="-135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Times New Roman"/>
                <a:cs typeface="Times New Roman"/>
              </a:rPr>
              <a:t>Virtual</a:t>
            </a:r>
            <a:r>
              <a:rPr dirty="0" sz="2800" spc="-100" b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Times New Roman"/>
                <a:cs typeface="Times New Roman"/>
              </a:rPr>
              <a:t>Machines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19506"/>
            <a:ext cx="12035790" cy="720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13999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1243965" algn="l"/>
                <a:tab pos="1748155" algn="l"/>
                <a:tab pos="2245360" algn="l"/>
                <a:tab pos="2502535" algn="l"/>
                <a:tab pos="3290570" algn="l"/>
                <a:tab pos="3644900" algn="l"/>
                <a:tab pos="4603115" algn="l"/>
                <a:tab pos="5657850" algn="l"/>
                <a:tab pos="6083300" algn="l"/>
                <a:tab pos="7870825" algn="l"/>
                <a:tab pos="8387715" algn="l"/>
                <a:tab pos="9511030" algn="l"/>
                <a:tab pos="10041255" algn="l"/>
                <a:tab pos="10733405" algn="l"/>
                <a:tab pos="11160125" algn="l"/>
                <a:tab pos="11658600" algn="l"/>
              </a:tabLst>
            </a:pPr>
            <a:r>
              <a:rPr dirty="0" sz="2000" spc="-10" b="1">
                <a:latin typeface="Calibri"/>
                <a:cs typeface="Calibri"/>
              </a:rPr>
              <a:t>System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VM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has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50" b="1">
                <a:latin typeface="Calibri"/>
                <a:cs typeface="Calibri"/>
              </a:rPr>
              <a:t>a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ability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to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support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different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OS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simultaneously.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0" b="1">
                <a:latin typeface="Calibri"/>
                <a:cs typeface="Calibri"/>
              </a:rPr>
              <a:t>E.g.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Windows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and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Linux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OS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can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run </a:t>
            </a:r>
            <a:r>
              <a:rPr dirty="0" sz="2000" b="1">
                <a:latin typeface="Calibri"/>
                <a:cs typeface="Calibri"/>
              </a:rPr>
              <a:t>simultaneously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single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shown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figure</a:t>
            </a:r>
            <a:r>
              <a:rPr dirty="0" sz="1400" b="1">
                <a:latin typeface="Calibri"/>
                <a:cs typeface="Calibri"/>
              </a:rPr>
              <a:t>.</a:t>
            </a:r>
            <a:r>
              <a:rPr dirty="0" sz="1400" spc="-30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(but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not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possible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process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VM)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3447389"/>
            <a:ext cx="12037060" cy="3397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52425" marR="6350" indent="-339725">
              <a:lnSpc>
                <a:spcPct val="113999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VMs,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replication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major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feature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supported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VMM,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but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problem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dividing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spc="-50" b="1">
                <a:latin typeface="Calibri"/>
                <a:cs typeface="Calibri"/>
              </a:rPr>
              <a:t>a </a:t>
            </a:r>
            <a:r>
              <a:rPr dirty="0" sz="2000" spc="-5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single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set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among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OS.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algn="just" marL="351790" marR="5080" indent="-339090">
              <a:lnSpc>
                <a:spcPct val="113799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VMM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has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access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manages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 the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resources.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 application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running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 </a:t>
            </a:r>
            <a:r>
              <a:rPr dirty="0" sz="2000" spc="-25" b="1">
                <a:latin typeface="Calibri"/>
                <a:cs typeface="Calibri"/>
              </a:rPr>
              <a:t>it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under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control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VMM.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whenever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app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wants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read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memory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or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write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memory,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must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issue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command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VMM,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VMM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then </a:t>
            </a:r>
            <a:r>
              <a:rPr dirty="0" sz="1400" spc="-2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issue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command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main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&amp;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access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resources)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0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algn="just" marL="352425" marR="7620" indent="-339725">
              <a:lnSpc>
                <a:spcPct val="1141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When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guest</a:t>
            </a:r>
            <a:r>
              <a:rPr dirty="0" sz="2000" spc="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OS</a:t>
            </a:r>
            <a:r>
              <a:rPr dirty="0" sz="2000" spc="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performs</a:t>
            </a:r>
            <a:r>
              <a:rPr dirty="0" sz="2000" spc="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certain</a:t>
            </a:r>
            <a:r>
              <a:rPr dirty="0" sz="2000" spc="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operations.</a:t>
            </a:r>
            <a:r>
              <a:rPr dirty="0" sz="2000" spc="2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Such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privileged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instructions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involves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access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hardware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intercepted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executed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VMM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behalf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guest.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Guest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OS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unaware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“</a:t>
            </a:r>
            <a:r>
              <a:rPr dirty="0" sz="2000" spc="15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Behind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Scenes</a:t>
            </a:r>
            <a:r>
              <a:rPr dirty="0" sz="2000">
                <a:latin typeface="Calibri"/>
                <a:cs typeface="Calibri"/>
              </a:rPr>
              <a:t>”</a:t>
            </a:r>
            <a:r>
              <a:rPr dirty="0" sz="2000" spc="16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work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performed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VMM.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58382" y="1432066"/>
            <a:ext cx="7887466" cy="1566862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6376" y="-71247"/>
            <a:ext cx="61626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5" b="0">
                <a:solidFill>
                  <a:srgbClr val="000000"/>
                </a:solidFill>
                <a:latin typeface="Calibri Light"/>
                <a:cs typeface="Calibri Light"/>
              </a:rPr>
              <a:t>Implementation</a:t>
            </a:r>
            <a:r>
              <a:rPr dirty="0" sz="2800" spc="-10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dirty="0" sz="2800" spc="-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40" b="0">
                <a:solidFill>
                  <a:srgbClr val="000000"/>
                </a:solidFill>
                <a:latin typeface="Calibri Light"/>
                <a:cs typeface="Calibri Light"/>
              </a:rPr>
              <a:t>System</a:t>
            </a:r>
            <a:r>
              <a:rPr dirty="0" sz="2800" spc="-10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Virtual</a:t>
            </a:r>
            <a:r>
              <a:rPr dirty="0" sz="2800" spc="-8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Machines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77392"/>
            <a:ext cx="12035790" cy="5628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There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are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two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types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of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implementation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of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System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VM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first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type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implementation,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VMM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first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places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bare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machines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fit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top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335"/>
              </a:spcBef>
            </a:pP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it.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 No</a:t>
            </a:r>
            <a:r>
              <a:rPr dirty="0" sz="1600" spc="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main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OS)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16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VMM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most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highly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privileged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mode,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while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operating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less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privileged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mode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355600" marR="6985" indent="-342900">
              <a:lnSpc>
                <a:spcPct val="114100"/>
              </a:lnSpc>
              <a:spcBef>
                <a:spcPts val="24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VMM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completely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transparent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way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intercept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performs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OS’s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actions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interact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hardware resources.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(Because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bare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metal)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(i.e.,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accessing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hardware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resources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are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done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by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VMM)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Drawbacks</a:t>
            </a:r>
            <a:r>
              <a:rPr dirty="0" sz="20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0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this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type</a:t>
            </a:r>
            <a:r>
              <a:rPr dirty="0" sz="20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0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System</a:t>
            </a:r>
            <a:r>
              <a:rPr dirty="0" sz="20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VM</a:t>
            </a:r>
            <a:r>
              <a:rPr dirty="0" sz="20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implementation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20" b="1">
                <a:solidFill>
                  <a:srgbClr val="C00000"/>
                </a:solidFill>
                <a:latin typeface="Calibri"/>
                <a:cs typeface="Calibri"/>
              </a:rPr>
              <a:t>are: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0"/>
              </a:spcBef>
            </a:pP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 sz="2000" b="1">
                <a:latin typeface="Calibri"/>
                <a:cs typeface="Calibri"/>
              </a:rPr>
              <a:t>Installation</a:t>
            </a:r>
            <a:r>
              <a:rPr dirty="0" sz="2000" spc="4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requires</a:t>
            </a:r>
            <a:r>
              <a:rPr dirty="0" sz="2000" spc="4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wiping</a:t>
            </a:r>
            <a:r>
              <a:rPr dirty="0" sz="2000" spc="3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4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existing</a:t>
            </a:r>
            <a:r>
              <a:rPr dirty="0" sz="2000" spc="3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39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39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starting</a:t>
            </a:r>
            <a:r>
              <a:rPr dirty="0" sz="2000" spc="3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3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scratch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40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first</a:t>
            </a:r>
            <a:r>
              <a:rPr dirty="0" sz="2000" spc="3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installing</a:t>
            </a:r>
            <a:r>
              <a:rPr dirty="0" sz="2000" spc="3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VMM</a:t>
            </a:r>
            <a:r>
              <a:rPr dirty="0" sz="2000" spc="3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39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then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  <a:spcBef>
                <a:spcPts val="340"/>
              </a:spcBef>
            </a:pPr>
            <a:r>
              <a:rPr dirty="0" sz="2000" b="1">
                <a:latin typeface="Calibri"/>
                <a:cs typeface="Calibri"/>
              </a:rPr>
              <a:t>installing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top</a:t>
            </a:r>
            <a:r>
              <a:rPr dirty="0" sz="2000" spc="-2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marL="469900" marR="6350" indent="-457200">
              <a:lnSpc>
                <a:spcPct val="113999"/>
              </a:lnSpc>
              <a:spcBef>
                <a:spcPts val="2400"/>
              </a:spcBef>
              <a:buAutoNum type="arabicPeriod" startAt="2"/>
              <a:tabLst>
                <a:tab pos="469900" algn="l"/>
              </a:tabLst>
            </a:pPr>
            <a:r>
              <a:rPr dirty="0" sz="2000" b="1">
                <a:latin typeface="Calibri"/>
                <a:cs typeface="Calibri"/>
              </a:rPr>
              <a:t>I/O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device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drivers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must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available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installation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VMM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because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VMM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directly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interacts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I/O </a:t>
            </a:r>
            <a:r>
              <a:rPr dirty="0" sz="2000" spc="-10" b="1">
                <a:latin typeface="Calibri"/>
                <a:cs typeface="Calibri"/>
              </a:rPr>
              <a:t>devices</a:t>
            </a:r>
            <a:r>
              <a:rPr dirty="0" sz="1600" spc="-10" b="1">
                <a:latin typeface="Calibri"/>
                <a:cs typeface="Calibri"/>
              </a:rPr>
              <a:t>.</a:t>
            </a:r>
            <a:r>
              <a:rPr dirty="0" sz="1600" spc="-10">
                <a:latin typeface="Calibri"/>
                <a:cs typeface="Calibri"/>
              </a:rPr>
              <a:t>(No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host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OS</a:t>
            </a: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 spc="-75">
                <a:latin typeface="Times New Roman"/>
                <a:cs typeface="Times New Roman"/>
              </a:rPr>
              <a:t> </a:t>
            </a:r>
            <a:r>
              <a:rPr dirty="0" sz="1600">
                <a:latin typeface="Calibri"/>
                <a:cs typeface="Calibri"/>
              </a:rPr>
              <a:t>Bare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metal,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I/O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device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drivers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must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installed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make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available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VMM)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6376" y="-71247"/>
            <a:ext cx="616267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5" b="0">
                <a:solidFill>
                  <a:srgbClr val="000000"/>
                </a:solidFill>
                <a:latin typeface="Calibri Light"/>
                <a:cs typeface="Calibri Light"/>
              </a:rPr>
              <a:t>Implementation</a:t>
            </a:r>
            <a:r>
              <a:rPr dirty="0" sz="2800" spc="-10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b="0">
                <a:solidFill>
                  <a:srgbClr val="000000"/>
                </a:solidFill>
                <a:latin typeface="Calibri Light"/>
                <a:cs typeface="Calibri Light"/>
              </a:rPr>
              <a:t>of</a:t>
            </a:r>
            <a:r>
              <a:rPr dirty="0" sz="2800" spc="-5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40" b="0">
                <a:solidFill>
                  <a:srgbClr val="000000"/>
                </a:solidFill>
                <a:latin typeface="Calibri Light"/>
                <a:cs typeface="Calibri Light"/>
              </a:rPr>
              <a:t>System</a:t>
            </a:r>
            <a:r>
              <a:rPr dirty="0" sz="2800" spc="-10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Virtual</a:t>
            </a:r>
            <a:r>
              <a:rPr dirty="0" sz="2800" spc="-8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Machines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77392"/>
            <a:ext cx="12034520" cy="54540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Calibri"/>
                <a:cs typeface="Calibri"/>
              </a:rPr>
              <a:t>There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are</a:t>
            </a:r>
            <a:r>
              <a:rPr dirty="0" sz="2400" spc="-5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two</a:t>
            </a:r>
            <a:r>
              <a:rPr dirty="0" sz="2400" spc="-4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types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of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spc="-10" b="1">
                <a:latin typeface="Calibri"/>
                <a:cs typeface="Calibri"/>
              </a:rPr>
              <a:t>implementation</a:t>
            </a:r>
            <a:r>
              <a:rPr dirty="0" sz="2400" spc="-35" b="1">
                <a:latin typeface="Calibri"/>
                <a:cs typeface="Calibri"/>
              </a:rPr>
              <a:t> </a:t>
            </a:r>
            <a:r>
              <a:rPr dirty="0" sz="2400" b="1">
                <a:latin typeface="Calibri"/>
                <a:cs typeface="Calibri"/>
              </a:rPr>
              <a:t>of</a:t>
            </a:r>
            <a:r>
              <a:rPr dirty="0" sz="2400" spc="-60" b="1">
                <a:latin typeface="Calibri"/>
                <a:cs typeface="Calibri"/>
              </a:rPr>
              <a:t> </a:t>
            </a:r>
            <a:r>
              <a:rPr dirty="0" sz="2400" spc="-20" b="1">
                <a:latin typeface="Calibri"/>
                <a:cs typeface="Calibri"/>
              </a:rPr>
              <a:t>System</a:t>
            </a:r>
            <a:r>
              <a:rPr dirty="0" sz="2400" spc="-50" b="1">
                <a:latin typeface="Calibri"/>
                <a:cs typeface="Calibri"/>
              </a:rPr>
              <a:t> </a:t>
            </a:r>
            <a:r>
              <a:rPr dirty="0" sz="2400" spc="-25" b="1">
                <a:latin typeface="Calibri"/>
                <a:cs typeface="Calibri"/>
              </a:rPr>
              <a:t>VM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00"/>
              </a:spcBef>
              <a:buFont typeface="Arial MT"/>
              <a:buChar char="•"/>
              <a:tabLst>
                <a:tab pos="354965" algn="l"/>
                <a:tab pos="690245" algn="l"/>
                <a:tab pos="1174115" algn="l"/>
                <a:tab pos="2048510" algn="l"/>
                <a:tab pos="2653665" algn="l"/>
                <a:tab pos="3001010" algn="l"/>
                <a:tab pos="4891405" algn="l"/>
                <a:tab pos="5616575" algn="l"/>
                <a:tab pos="5911215" algn="l"/>
                <a:tab pos="6938009" algn="l"/>
                <a:tab pos="7340600" algn="l"/>
                <a:tab pos="7821930" algn="l"/>
                <a:tab pos="8311515" algn="l"/>
                <a:tab pos="8660765" algn="l"/>
                <a:tab pos="9598025" algn="l"/>
                <a:tab pos="10187940" algn="l"/>
                <a:tab pos="10674350" algn="l"/>
                <a:tab pos="11218545" algn="l"/>
                <a:tab pos="11809730" algn="l"/>
              </a:tabLst>
            </a:pPr>
            <a:r>
              <a:rPr dirty="0" sz="2000" spc="-25" b="1">
                <a:latin typeface="Calibri"/>
                <a:cs typeface="Calibri"/>
              </a:rPr>
              <a:t>In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the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second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0" b="1">
                <a:latin typeface="Calibri"/>
                <a:cs typeface="Calibri"/>
              </a:rPr>
              <a:t>type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of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implementation,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VMM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is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installed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on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the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top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of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existing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0" b="1">
                <a:latin typeface="Calibri"/>
                <a:cs typeface="Calibri"/>
              </a:rPr>
              <a:t>host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OS</a:t>
            </a:r>
            <a:r>
              <a:rPr dirty="0" sz="2000" spc="-25">
                <a:latin typeface="Calibri"/>
                <a:cs typeface="Calibri"/>
              </a:rPr>
              <a:t>.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This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type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of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335"/>
              </a:spcBef>
            </a:pPr>
            <a:r>
              <a:rPr dirty="0" sz="2000" spc="-10">
                <a:latin typeface="Calibri"/>
                <a:cs typeface="Calibri"/>
              </a:rPr>
              <a:t>implementation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Hosted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VM.</a:t>
            </a:r>
            <a:endParaRPr sz="2000">
              <a:latin typeface="Calibri"/>
              <a:cs typeface="Calibri"/>
            </a:endParaRPr>
          </a:p>
          <a:p>
            <a:pPr algn="just" marL="352425" marR="6350" indent="-339725">
              <a:lnSpc>
                <a:spcPct val="113199"/>
              </a:lnSpc>
              <a:spcBef>
                <a:spcPts val="242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type,</a:t>
            </a:r>
            <a:r>
              <a:rPr dirty="0" sz="2000" spc="3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installation</a:t>
            </a:r>
            <a:r>
              <a:rPr dirty="0" sz="2000" spc="3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</a:t>
            </a:r>
            <a:r>
              <a:rPr dirty="0" sz="2000" spc="3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3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similar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adding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typical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program.</a:t>
            </a:r>
            <a:r>
              <a:rPr dirty="0" sz="2000" spc="320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(VMM</a:t>
            </a:r>
            <a:r>
              <a:rPr dirty="0" sz="1600" spc="2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installation</a:t>
            </a:r>
            <a:r>
              <a:rPr dirty="0" sz="1600" spc="2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2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just</a:t>
            </a:r>
            <a:r>
              <a:rPr dirty="0" sz="1600" spc="204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like </a:t>
            </a:r>
            <a:r>
              <a:rPr dirty="0" sz="1600" spc="-20">
                <a:latin typeface="Calibri"/>
                <a:cs typeface="Calibri"/>
              </a:rPr>
              <a:t>	</a:t>
            </a:r>
            <a:r>
              <a:rPr dirty="0" sz="1600">
                <a:latin typeface="Calibri"/>
                <a:cs typeface="Calibri"/>
              </a:rPr>
              <a:t>installing</a:t>
            </a:r>
            <a:r>
              <a:rPr dirty="0" sz="1600" spc="-7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app)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Here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VMM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depends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device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drivers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other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lower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level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services.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Drawbacks</a:t>
            </a:r>
            <a:r>
              <a:rPr dirty="0" sz="20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0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this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type</a:t>
            </a:r>
            <a:r>
              <a:rPr dirty="0" sz="20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0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System</a:t>
            </a:r>
            <a:r>
              <a:rPr dirty="0" sz="20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VM</a:t>
            </a:r>
            <a:r>
              <a:rPr dirty="0" sz="20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implementation</a:t>
            </a:r>
            <a:r>
              <a:rPr dirty="0" sz="20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20" b="1">
                <a:solidFill>
                  <a:srgbClr val="C00000"/>
                </a:solidFill>
                <a:latin typeface="Calibri"/>
                <a:cs typeface="Calibri"/>
              </a:rPr>
              <a:t>are:</a:t>
            </a:r>
            <a:endParaRPr sz="2000">
              <a:latin typeface="Calibri"/>
              <a:cs typeface="Calibri"/>
            </a:endParaRPr>
          </a:p>
          <a:p>
            <a:pPr algn="just" marL="466090" marR="5715" indent="-453390">
              <a:lnSpc>
                <a:spcPct val="113799"/>
              </a:lnSpc>
              <a:spcBef>
                <a:spcPts val="2405"/>
              </a:spcBef>
              <a:buFont typeface="Arial MT"/>
              <a:buChar char="•"/>
              <a:tabLst>
                <a:tab pos="469900" algn="l"/>
              </a:tabLst>
            </a:pPr>
            <a:r>
              <a:rPr dirty="0" sz="2000" b="1">
                <a:latin typeface="Calibri"/>
                <a:cs typeface="Calibri"/>
              </a:rPr>
              <a:t>There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may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chance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loss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efficiency,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because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more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layers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involved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when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is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required</a:t>
            </a:r>
            <a:r>
              <a:rPr dirty="0" sz="2000" spc="90" b="1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(if</a:t>
            </a:r>
            <a:r>
              <a:rPr dirty="0" sz="1400" spc="4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need</a:t>
            </a:r>
            <a:r>
              <a:rPr dirty="0" sz="1400" spc="4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4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write</a:t>
            </a:r>
            <a:r>
              <a:rPr dirty="0" sz="1400" spc="459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into</a:t>
            </a:r>
            <a:r>
              <a:rPr dirty="0" sz="1400" spc="4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4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memory</a:t>
            </a:r>
            <a:r>
              <a:rPr dirty="0" sz="1400">
                <a:latin typeface="Wingdings"/>
                <a:cs typeface="Wingdings"/>
              </a:rPr>
              <a:t></a:t>
            </a:r>
            <a:r>
              <a:rPr dirty="0" sz="1400">
                <a:latin typeface="Calibri"/>
                <a:cs typeface="Calibri"/>
              </a:rPr>
              <a:t>application</a:t>
            </a:r>
            <a:r>
              <a:rPr dirty="0" sz="1400">
                <a:latin typeface="Wingdings"/>
                <a:cs typeface="Wingdings"/>
              </a:rPr>
              <a:t></a:t>
            </a:r>
            <a:r>
              <a:rPr dirty="0" sz="1400">
                <a:latin typeface="Calibri"/>
                <a:cs typeface="Calibri"/>
              </a:rPr>
              <a:t>Guest</a:t>
            </a:r>
            <a:r>
              <a:rPr dirty="0" sz="1400" spc="459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OS</a:t>
            </a:r>
            <a:r>
              <a:rPr dirty="0" sz="1400">
                <a:latin typeface="Wingdings"/>
                <a:cs typeface="Wingdings"/>
              </a:rPr>
              <a:t></a:t>
            </a:r>
            <a:r>
              <a:rPr dirty="0" sz="1400" spc="440">
                <a:latin typeface="Times New Roman"/>
                <a:cs typeface="Times New Roman"/>
              </a:rPr>
              <a:t> </a:t>
            </a:r>
            <a:r>
              <a:rPr dirty="0" sz="1400">
                <a:latin typeface="Calibri"/>
                <a:cs typeface="Calibri"/>
              </a:rPr>
              <a:t>VMM</a:t>
            </a:r>
            <a:r>
              <a:rPr dirty="0" sz="1400">
                <a:latin typeface="Wingdings"/>
                <a:cs typeface="Wingdings"/>
              </a:rPr>
              <a:t></a:t>
            </a:r>
            <a:r>
              <a:rPr dirty="0" sz="1400" spc="440">
                <a:latin typeface="Times New Roman"/>
                <a:cs typeface="Times New Roman"/>
              </a:rPr>
              <a:t> </a:t>
            </a:r>
            <a:r>
              <a:rPr dirty="0" sz="1400">
                <a:latin typeface="Calibri"/>
                <a:cs typeface="Calibri"/>
              </a:rPr>
              <a:t>Host</a:t>
            </a:r>
            <a:r>
              <a:rPr dirty="0" sz="1400" spc="4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OS</a:t>
            </a:r>
            <a:r>
              <a:rPr dirty="0" sz="1400">
                <a:latin typeface="Wingdings"/>
                <a:cs typeface="Wingdings"/>
              </a:rPr>
              <a:t></a:t>
            </a:r>
            <a:r>
              <a:rPr dirty="0" sz="1400" spc="430">
                <a:latin typeface="Times New Roman"/>
                <a:cs typeface="Times New Roman"/>
              </a:rPr>
              <a:t> </a:t>
            </a:r>
            <a:r>
              <a:rPr dirty="0" sz="1400">
                <a:latin typeface="Calibri"/>
                <a:cs typeface="Calibri"/>
              </a:rPr>
              <a:t>Memory,</a:t>
            </a:r>
            <a:r>
              <a:rPr dirty="0" sz="1400" spc="459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But</a:t>
            </a:r>
            <a:r>
              <a:rPr dirty="0" sz="1400" spc="4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4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first</a:t>
            </a:r>
            <a:r>
              <a:rPr dirty="0" sz="1400" spc="459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implementation</a:t>
            </a:r>
            <a:r>
              <a:rPr dirty="0" sz="1400" spc="48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bare</a:t>
            </a:r>
            <a:r>
              <a:rPr dirty="0" sz="1400" spc="47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metal, 	Application</a:t>
            </a:r>
            <a:r>
              <a:rPr dirty="0" sz="1400" spc="-10">
                <a:latin typeface="Wingdings"/>
                <a:cs typeface="Wingdings"/>
              </a:rPr>
              <a:t></a:t>
            </a:r>
            <a:r>
              <a:rPr dirty="0" sz="1400" spc="-10">
                <a:latin typeface="Calibri"/>
                <a:cs typeface="Calibri"/>
              </a:rPr>
              <a:t>Guest</a:t>
            </a:r>
            <a:r>
              <a:rPr dirty="0" sz="1400">
                <a:latin typeface="Calibri"/>
                <a:cs typeface="Calibri"/>
              </a:rPr>
              <a:t> OS</a:t>
            </a:r>
            <a:r>
              <a:rPr dirty="0" sz="1400">
                <a:latin typeface="Wingdings"/>
                <a:cs typeface="Wingdings"/>
              </a:rPr>
              <a:t></a:t>
            </a:r>
            <a:r>
              <a:rPr dirty="0" sz="1400" spc="-55">
                <a:latin typeface="Times New Roman"/>
                <a:cs typeface="Times New Roman"/>
              </a:rPr>
              <a:t> </a:t>
            </a:r>
            <a:r>
              <a:rPr dirty="0" sz="1400">
                <a:latin typeface="Calibri"/>
                <a:cs typeface="Calibri"/>
              </a:rPr>
              <a:t>VMM</a:t>
            </a:r>
            <a:r>
              <a:rPr dirty="0" sz="1400">
                <a:latin typeface="Wingdings"/>
                <a:cs typeface="Wingdings"/>
              </a:rPr>
              <a:t></a:t>
            </a:r>
            <a:r>
              <a:rPr dirty="0" sz="1400" spc="-40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Calibri"/>
                <a:cs typeface="Calibri"/>
              </a:rPr>
              <a:t>Memory).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4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hosted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implementation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approach</a:t>
            </a:r>
            <a:r>
              <a:rPr dirty="0" sz="2000" spc="4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taken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Vmware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implementation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5729" y="-71247"/>
            <a:ext cx="432435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Whole</a:t>
            </a:r>
            <a:r>
              <a:rPr dirty="0" sz="28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40" b="0">
                <a:solidFill>
                  <a:srgbClr val="000000"/>
                </a:solidFill>
                <a:latin typeface="Calibri Light"/>
                <a:cs typeface="Calibri Light"/>
              </a:rPr>
              <a:t>System</a:t>
            </a:r>
            <a:r>
              <a:rPr dirty="0" sz="2800" spc="-12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VMs:</a:t>
            </a:r>
            <a:r>
              <a:rPr dirty="0" sz="2800" spc="-10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Emulation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18006"/>
            <a:ext cx="12037060" cy="5532120"/>
          </a:xfrm>
          <a:prstGeom prst="rect">
            <a:avLst/>
          </a:prstGeom>
        </p:spPr>
        <p:txBody>
          <a:bodyPr wrap="square" lIns="0" tIns="29845" rIns="0" bIns="0" rtlCol="0" vert="horz">
            <a:spAutoFit/>
          </a:bodyPr>
          <a:lstStyle/>
          <a:p>
            <a:pPr algn="just" marL="352425" marR="5080" indent="-339725">
              <a:lnSpc>
                <a:spcPct val="113500"/>
              </a:lnSpc>
              <a:spcBef>
                <a:spcPts val="23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conventional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VMs,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OS,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same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ISA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underlying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hardware.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i.e,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3 </a:t>
            </a:r>
            <a:r>
              <a:rPr dirty="0" sz="1400" spc="-5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or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4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VMs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created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 same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environment)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4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But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some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times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not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have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common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ISA.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(Appln</a:t>
            </a:r>
            <a:r>
              <a:rPr dirty="0" sz="1600" spc="-20">
                <a:latin typeface="Calibri"/>
                <a:cs typeface="Calibri"/>
              </a:rPr>
              <a:t> written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for</a:t>
            </a:r>
            <a:r>
              <a:rPr dirty="0" sz="1600" spc="-5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intel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arch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windows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OS,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but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run</a:t>
            </a:r>
            <a:endParaRPr sz="16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320"/>
              </a:spcBef>
            </a:pPr>
            <a:r>
              <a:rPr dirty="0" sz="1600">
                <a:latin typeface="Calibri"/>
                <a:cs typeface="Calibri"/>
              </a:rPr>
              <a:t>on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Apple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s/m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which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diff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arch)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600">
              <a:latin typeface="Calibri"/>
              <a:cs typeface="Calibri"/>
            </a:endParaRPr>
          </a:p>
          <a:p>
            <a:pPr algn="just" marL="352425" marR="5715" indent="-339725">
              <a:lnSpc>
                <a:spcPct val="1139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eg: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Apple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PowerPC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systems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Windows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PCs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different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ISA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also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different.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Similarly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Sun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Microsystem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servers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different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ISA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than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Windows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PCs.,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because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software's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closely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tied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its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systems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(ISA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completely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different,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apple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PC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OS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cannot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run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Windows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guest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OS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&amp;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Sun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Microsystems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Servers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cannot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run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Windows</a:t>
            </a:r>
            <a:r>
              <a:rPr dirty="0" sz="1400" spc="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guest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OS)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apple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PC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OS</a:t>
            </a:r>
            <a:r>
              <a:rPr dirty="0" sz="1400" spc="2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systems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calls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specifically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tied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apple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hardware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systems.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Apple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s/m,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cannot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install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windows</a:t>
            </a:r>
            <a:r>
              <a:rPr dirty="0" sz="1400" spc="-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guest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OS)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44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algn="just" marL="352425" marR="6985" indent="-339725">
              <a:lnSpc>
                <a:spcPct val="113799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requires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purchase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types,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which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may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complicated</a:t>
            </a:r>
            <a:r>
              <a:rPr dirty="0" sz="1600" spc="-10" b="1">
                <a:latin typeface="Calibri"/>
                <a:cs typeface="Calibri"/>
              </a:rPr>
              <a:t>.</a:t>
            </a:r>
            <a:r>
              <a:rPr dirty="0" sz="1600" spc="-10">
                <a:latin typeface="Calibri"/>
                <a:cs typeface="Calibri"/>
              </a:rPr>
              <a:t>(Appln</a:t>
            </a:r>
            <a:r>
              <a:rPr dirty="0" sz="1600" spc="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designed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Apple ISA</a:t>
            </a:r>
            <a:r>
              <a:rPr dirty="0" sz="1600" spc="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20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run </a:t>
            </a:r>
            <a:r>
              <a:rPr dirty="0" sz="1600" spc="-25">
                <a:latin typeface="Calibri"/>
                <a:cs typeface="Calibri"/>
              </a:rPr>
              <a:t>	</a:t>
            </a:r>
            <a:r>
              <a:rPr dirty="0" sz="1600">
                <a:latin typeface="Calibri"/>
                <a:cs typeface="Calibri"/>
              </a:rPr>
              <a:t>on only Apple s/m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appln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designed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Intel arch to be run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only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Intel s/m,</a:t>
            </a:r>
            <a:r>
              <a:rPr dirty="0" sz="1600" spc="36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appln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designed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for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Sun</a:t>
            </a:r>
            <a:r>
              <a:rPr dirty="0" sz="1600" spc="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Microsystem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 be</a:t>
            </a:r>
            <a:r>
              <a:rPr dirty="0" sz="1600" spc="1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executed</a:t>
            </a:r>
            <a:r>
              <a:rPr dirty="0" sz="1600">
                <a:latin typeface="Calibri"/>
                <a:cs typeface="Calibri"/>
              </a:rPr>
              <a:t> only </a:t>
            </a:r>
            <a:r>
              <a:rPr dirty="0" sz="1600" spc="-25">
                <a:latin typeface="Calibri"/>
                <a:cs typeface="Calibri"/>
              </a:rPr>
              <a:t>on </a:t>
            </a:r>
            <a:r>
              <a:rPr dirty="0" sz="1600" spc="-25">
                <a:latin typeface="Calibri"/>
                <a:cs typeface="Calibri"/>
              </a:rPr>
              <a:t>	</a:t>
            </a:r>
            <a:r>
              <a:rPr dirty="0" sz="1600">
                <a:latin typeface="Calibri"/>
                <a:cs typeface="Calibri"/>
              </a:rPr>
              <a:t>Sun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microsystem)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20"/>
              </a:spcBef>
              <a:buFont typeface="Arial MT"/>
              <a:buChar char="•"/>
            </a:pPr>
            <a:endParaRPr sz="1600">
              <a:latin typeface="Calibri"/>
              <a:cs typeface="Calibri"/>
            </a:endParaRPr>
          </a:p>
          <a:p>
            <a:pPr algn="just" marL="352425" marR="6985" indent="-339725">
              <a:lnSpc>
                <a:spcPct val="113999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motivates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support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both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different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ISA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OS.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type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called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Whole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VMs.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5729" y="-71247"/>
            <a:ext cx="432435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Whole</a:t>
            </a:r>
            <a:r>
              <a:rPr dirty="0" sz="28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40" b="0">
                <a:solidFill>
                  <a:srgbClr val="000000"/>
                </a:solidFill>
                <a:latin typeface="Calibri Light"/>
                <a:cs typeface="Calibri Light"/>
              </a:rPr>
              <a:t>System</a:t>
            </a:r>
            <a:r>
              <a:rPr dirty="0" sz="2800" spc="-12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VMs:</a:t>
            </a:r>
            <a:r>
              <a:rPr dirty="0" sz="2800" spc="-10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Emulation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23053"/>
            <a:ext cx="12035790" cy="1763395"/>
          </a:xfrm>
          <a:prstGeom prst="rect">
            <a:avLst/>
          </a:prstGeom>
        </p:spPr>
        <p:txBody>
          <a:bodyPr wrap="square" lIns="0" tIns="24130" rIns="0" bIns="0" rtlCol="0" vert="horz">
            <a:spAutoFit/>
          </a:bodyPr>
          <a:lstStyle/>
          <a:p>
            <a:pPr algn="just" marL="352425" marR="5080" indent="-339725">
              <a:lnSpc>
                <a:spcPct val="113700"/>
              </a:lnSpc>
              <a:spcBef>
                <a:spcPts val="19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Because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ISAs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different,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both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code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requires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emulation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via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binary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translation.</a:t>
            </a:r>
            <a:r>
              <a:rPr dirty="0" sz="2000" spc="490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(if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linux </a:t>
            </a:r>
            <a:r>
              <a:rPr dirty="0" sz="1600" spc="-10">
                <a:latin typeface="Calibri"/>
                <a:cs typeface="Calibri"/>
              </a:rPr>
              <a:t>	</a:t>
            </a:r>
            <a:r>
              <a:rPr dirty="0" sz="1600">
                <a:latin typeface="Calibri"/>
                <a:cs typeface="Calibri"/>
              </a:rPr>
              <a:t>application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run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windows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guest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Apple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system,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both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app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&amp;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windows OS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need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binary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translation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equivalent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Apple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ISA).</a:t>
            </a:r>
            <a:endParaRPr sz="1600">
              <a:latin typeface="Calibri"/>
              <a:cs typeface="Calibri"/>
            </a:endParaRPr>
          </a:p>
          <a:p>
            <a:pPr algn="just" marL="295910" marR="5080" indent="-283845">
              <a:lnSpc>
                <a:spcPct val="113799"/>
              </a:lnSpc>
              <a:spcBef>
                <a:spcPts val="114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4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below</a:t>
            </a:r>
            <a:r>
              <a:rPr dirty="0" sz="2000" spc="4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figure</a:t>
            </a:r>
            <a:r>
              <a:rPr dirty="0" sz="2000" spc="4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shows</a:t>
            </a:r>
            <a:r>
              <a:rPr dirty="0" sz="2000" spc="45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Whole</a:t>
            </a:r>
            <a:r>
              <a:rPr dirty="0" sz="2000" spc="4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4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4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built</a:t>
            </a:r>
            <a:r>
              <a:rPr dirty="0" sz="2000" spc="4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43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4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top</a:t>
            </a:r>
            <a:r>
              <a:rPr dirty="0" sz="2000" spc="4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4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conventional</a:t>
            </a:r>
            <a:r>
              <a:rPr dirty="0" sz="2000" spc="4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4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4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its</a:t>
            </a:r>
            <a:r>
              <a:rPr dirty="0" sz="2000" spc="4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own</a:t>
            </a:r>
            <a:r>
              <a:rPr dirty="0" sz="2000" spc="4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445" b="1">
                <a:latin typeface="Calibri"/>
                <a:cs typeface="Calibri"/>
              </a:rPr>
              <a:t> </a:t>
            </a:r>
            <a:r>
              <a:rPr dirty="0" sz="2000" spc="-50" b="1">
                <a:latin typeface="Calibri"/>
                <a:cs typeface="Calibri"/>
              </a:rPr>
              <a:t>&amp; </a:t>
            </a:r>
            <a:r>
              <a:rPr dirty="0" sz="2000" spc="-5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programs.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(Whole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system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VM</a:t>
            </a:r>
            <a:r>
              <a:rPr dirty="0" sz="1400">
                <a:latin typeface="Wingdings"/>
                <a:cs typeface="Wingdings"/>
              </a:rPr>
              <a:t></a:t>
            </a:r>
            <a:r>
              <a:rPr dirty="0" sz="1400" spc="-35">
                <a:latin typeface="Times New Roman"/>
                <a:cs typeface="Times New Roman"/>
              </a:rPr>
              <a:t> </a:t>
            </a:r>
            <a:r>
              <a:rPr dirty="0" sz="1400">
                <a:latin typeface="Calibri"/>
                <a:cs typeface="Calibri"/>
              </a:rPr>
              <a:t>complete VM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including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guest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app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&amp;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guest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OS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need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 emulate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 its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underlying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ISA)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(Entire app and</a:t>
            </a:r>
            <a:r>
              <a:rPr dirty="0" sz="1400" spc="-10">
                <a:latin typeface="Calibri"/>
                <a:cs typeface="Calibri"/>
              </a:rPr>
              <a:t> Guest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OS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are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treated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like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single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app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converted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run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underlying</a:t>
            </a:r>
            <a:r>
              <a:rPr dirty="0" sz="1400" spc="-10">
                <a:latin typeface="Calibri"/>
                <a:cs typeface="Calibri"/>
              </a:rPr>
              <a:t> architecture.)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4802479"/>
            <a:ext cx="12036425" cy="1845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295910" marR="5080" indent="-283845">
              <a:lnSpc>
                <a:spcPct val="113799"/>
              </a:lnSpc>
              <a:spcBef>
                <a:spcPts val="10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shown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figure,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Windows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systems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Macintosh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platform.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Complete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software,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and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just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like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one</a:t>
            </a:r>
            <a:r>
              <a:rPr dirty="0" sz="2000" spc="1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very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big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implemented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hardware.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(application</a:t>
            </a:r>
            <a:r>
              <a:rPr dirty="0" sz="1600" spc="80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call </a:t>
            </a:r>
            <a:r>
              <a:rPr dirty="0" sz="1600" spc="-20">
                <a:latin typeface="Calibri"/>
                <a:cs typeface="Calibri"/>
              </a:rPr>
              <a:t>	</a:t>
            </a:r>
            <a:r>
              <a:rPr dirty="0" sz="1600" spc="-10">
                <a:latin typeface="Calibri"/>
                <a:cs typeface="Calibri"/>
              </a:rPr>
              <a:t>statement,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Windows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call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statement,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VMM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instructions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completely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converted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into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underlying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call</a:t>
            </a:r>
            <a:r>
              <a:rPr dirty="0" sz="1600" spc="-6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statement)</a:t>
            </a:r>
            <a:endParaRPr sz="16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47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 b="1">
                <a:latin typeface="Calibri"/>
                <a:cs typeface="Calibri"/>
              </a:rPr>
              <a:t>Meantime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also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continue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compiled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its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native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ISA;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feature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illustrated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in</a:t>
            </a:r>
            <a:endParaRPr sz="20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340"/>
              </a:spcBef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right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hand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section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figure.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23160" y="2429335"/>
            <a:ext cx="7090909" cy="2086257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5729" y="-71247"/>
            <a:ext cx="432435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Whole</a:t>
            </a:r>
            <a:r>
              <a:rPr dirty="0" sz="2800" spc="-13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40" b="0">
                <a:solidFill>
                  <a:srgbClr val="000000"/>
                </a:solidFill>
                <a:latin typeface="Calibri Light"/>
                <a:cs typeface="Calibri Light"/>
              </a:rPr>
              <a:t>System</a:t>
            </a:r>
            <a:r>
              <a:rPr dirty="0" sz="2800" spc="-120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VMs:</a:t>
            </a:r>
            <a:r>
              <a:rPr dirty="0" sz="2800" spc="-105" b="0">
                <a:solidFill>
                  <a:srgbClr val="000000"/>
                </a:solidFill>
                <a:latin typeface="Calibri Light"/>
                <a:cs typeface="Calibri Light"/>
              </a:rPr>
              <a:t> </a:t>
            </a:r>
            <a:r>
              <a:rPr dirty="0" sz="2800" spc="-10" b="0">
                <a:solidFill>
                  <a:srgbClr val="000000"/>
                </a:solidFill>
                <a:latin typeface="Calibri Light"/>
                <a:cs typeface="Calibri Light"/>
              </a:rPr>
              <a:t>Emulation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33806"/>
            <a:ext cx="12036425" cy="1005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95910" marR="5080" indent="-283845">
              <a:lnSpc>
                <a:spcPct val="113799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implement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type,</a:t>
            </a:r>
            <a:r>
              <a:rPr dirty="0" sz="2000" spc="5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requires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emulation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instructions,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convert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ISA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to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its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equivalent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call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call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OS.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(Converting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app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instruction,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guest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calls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statement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into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its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equivalent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host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OS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system </a:t>
            </a:r>
            <a:r>
              <a:rPr dirty="0" sz="1600" spc="-10">
                <a:latin typeface="Calibri"/>
                <a:cs typeface="Calibri"/>
              </a:rPr>
              <a:t>	</a:t>
            </a:r>
            <a:r>
              <a:rPr dirty="0" sz="1600">
                <a:latin typeface="Calibri"/>
                <a:cs typeface="Calibri"/>
              </a:rPr>
              <a:t>call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statement</a:t>
            </a:r>
            <a:r>
              <a:rPr dirty="0" sz="1600" spc="-10">
                <a:latin typeface="Wingdings"/>
                <a:cs typeface="Wingdings"/>
              </a:rPr>
              <a:t></a:t>
            </a:r>
            <a:r>
              <a:rPr dirty="0" sz="1600" spc="-70">
                <a:latin typeface="Times New Roman"/>
                <a:cs typeface="Times New Roman"/>
              </a:rPr>
              <a:t> </a:t>
            </a:r>
            <a:r>
              <a:rPr dirty="0" sz="1600" spc="-10">
                <a:latin typeface="Calibri"/>
                <a:cs typeface="Calibri"/>
              </a:rPr>
              <a:t>complete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emulation)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06317" y="39369"/>
            <a:ext cx="570420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0">
                <a:latin typeface="Calibri Light"/>
                <a:cs typeface="Calibri Light"/>
              </a:rPr>
              <a:t>Full</a:t>
            </a:r>
            <a:r>
              <a:rPr dirty="0" sz="2800" spc="-70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Virtualization:</a:t>
            </a:r>
            <a:r>
              <a:rPr dirty="0" sz="2800" spc="-70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BINARY</a:t>
            </a:r>
            <a:r>
              <a:rPr dirty="0" sz="2800" spc="-9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TRANSLATION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707212"/>
            <a:ext cx="12036425" cy="55067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Depending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implementation</a:t>
            </a:r>
            <a:r>
              <a:rPr dirty="0" sz="2000" spc="-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technologies,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hardware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virtualization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classified</a:t>
            </a:r>
            <a:r>
              <a:rPr dirty="0" sz="2000" spc="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two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categories:</a:t>
            </a:r>
            <a:endParaRPr sz="2000">
              <a:latin typeface="Calibri"/>
              <a:cs typeface="Calibri"/>
            </a:endParaRPr>
          </a:p>
          <a:p>
            <a:pPr lvl="1" marL="579120" indent="-335280">
              <a:lnSpc>
                <a:spcPct val="100000"/>
              </a:lnSpc>
              <a:spcBef>
                <a:spcPts val="1540"/>
              </a:spcBef>
              <a:buFont typeface="Wingdings"/>
              <a:buChar char=""/>
              <a:tabLst>
                <a:tab pos="579120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Full</a:t>
            </a:r>
            <a:r>
              <a:rPr dirty="0" sz="20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endParaRPr sz="2000">
              <a:latin typeface="Calibri"/>
              <a:cs typeface="Calibri"/>
            </a:endParaRPr>
          </a:p>
          <a:p>
            <a:pPr lvl="1" marL="579120" indent="-335280">
              <a:lnSpc>
                <a:spcPct val="100000"/>
              </a:lnSpc>
              <a:spcBef>
                <a:spcPts val="1535"/>
              </a:spcBef>
              <a:buFont typeface="Wingdings"/>
              <a:buChar char=""/>
              <a:tabLst>
                <a:tab pos="579120" algn="l"/>
              </a:tabLst>
            </a:pP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Host-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based</a:t>
            </a:r>
            <a:r>
              <a:rPr dirty="0" sz="20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r>
              <a:rPr dirty="0" sz="2000" spc="-10">
                <a:solidFill>
                  <a:srgbClr val="C00000"/>
                </a:solidFill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algn="just" marL="297180">
              <a:lnSpc>
                <a:spcPct val="100000"/>
              </a:lnSpc>
              <a:spcBef>
                <a:spcPts val="1535"/>
              </a:spcBef>
            </a:pPr>
            <a:r>
              <a:rPr dirty="0" sz="2000" b="1">
                <a:latin typeface="Calibri"/>
                <a:cs typeface="Calibri"/>
              </a:rPr>
              <a:t>Full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virtualization</a:t>
            </a:r>
            <a:endParaRPr sz="2000">
              <a:latin typeface="Calibri"/>
              <a:cs typeface="Calibri"/>
            </a:endParaRPr>
          </a:p>
          <a:p>
            <a:pPr algn="just" marL="459740" marR="5715" indent="-351790">
              <a:lnSpc>
                <a:spcPct val="113999"/>
              </a:lnSpc>
              <a:spcBef>
                <a:spcPts val="1205"/>
              </a:spcBef>
              <a:buFont typeface="Arial MT"/>
              <a:buChar char="•"/>
              <a:tabLst>
                <a:tab pos="46355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Full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Virtualization,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complete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simulation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actual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takes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place.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2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is,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9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hypervisor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provides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complete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abstraction.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h/w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resources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completely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emulated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each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individual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VM’s)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.</a:t>
            </a:r>
            <a:endParaRPr sz="1400">
              <a:latin typeface="Calibri"/>
              <a:cs typeface="Calibri"/>
            </a:endParaRPr>
          </a:p>
          <a:p>
            <a:pPr algn="just" marL="443230" marR="6350" indent="-339725">
              <a:lnSpc>
                <a:spcPct val="113999"/>
              </a:lnSpc>
              <a:spcBef>
                <a:spcPts val="1200"/>
              </a:spcBef>
              <a:buFont typeface="Arial MT"/>
              <a:buChar char="•"/>
              <a:tabLst>
                <a:tab pos="446405" algn="l"/>
              </a:tabLst>
            </a:pPr>
            <a:r>
              <a:rPr dirty="0" sz="2000" b="1">
                <a:latin typeface="Calibri"/>
                <a:cs typeface="Calibri"/>
              </a:rPr>
              <a:t>Each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operating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unaware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virtualized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environment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therefore</a:t>
            </a:r>
            <a:r>
              <a:rPr dirty="0" sz="2000" spc="2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hardware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is </a:t>
            </a:r>
            <a:r>
              <a:rPr dirty="0" sz="2000" spc="-25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virtualized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host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operating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system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that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guest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issue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commands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it</a:t>
            </a:r>
            <a:r>
              <a:rPr dirty="0" sz="2000" spc="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thinks</a:t>
            </a:r>
            <a:r>
              <a:rPr dirty="0" sz="2000" spc="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actual</a:t>
            </a:r>
            <a:r>
              <a:rPr dirty="0" sz="2000" spc="8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hardware,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-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really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just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simulated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hardware</a:t>
            </a:r>
            <a:r>
              <a:rPr dirty="0" sz="2000" spc="-7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devices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created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host.</a:t>
            </a:r>
            <a:endParaRPr sz="2000">
              <a:latin typeface="Calibri"/>
              <a:cs typeface="Calibri"/>
            </a:endParaRPr>
          </a:p>
          <a:p>
            <a:pPr algn="just" marL="443230" marR="5080" indent="-339725">
              <a:lnSpc>
                <a:spcPct val="113999"/>
              </a:lnSpc>
              <a:spcBef>
                <a:spcPts val="1200"/>
              </a:spcBef>
              <a:buFont typeface="Arial MT"/>
              <a:buChar char="•"/>
              <a:tabLst>
                <a:tab pos="446405" algn="l"/>
              </a:tabLst>
            </a:pP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relies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binary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translation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trap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virtualize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execution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certain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sensitive,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non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virtualizable 	instructions.</a:t>
            </a:r>
            <a:endParaRPr sz="2000">
              <a:latin typeface="Calibri"/>
              <a:cs typeface="Calibri"/>
            </a:endParaRPr>
          </a:p>
          <a:p>
            <a:pPr algn="just" marL="443230" marR="8255" indent="-339725">
              <a:lnSpc>
                <a:spcPct val="113700"/>
              </a:lnSpc>
              <a:spcBef>
                <a:spcPts val="1210"/>
              </a:spcBef>
              <a:buFont typeface="Arial MT"/>
              <a:buChar char="•"/>
              <a:tabLst>
                <a:tab pos="44640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their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consist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noncritical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critical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instructions</a:t>
            </a:r>
            <a:r>
              <a:rPr dirty="0" sz="1600" b="1">
                <a:latin typeface="Calibri"/>
                <a:cs typeface="Calibri"/>
              </a:rPr>
              <a:t>.</a:t>
            </a:r>
            <a:r>
              <a:rPr dirty="0" sz="1600" spc="475" b="1">
                <a:latin typeface="Calibri"/>
                <a:cs typeface="Calibri"/>
              </a:rPr>
              <a:t> </a:t>
            </a:r>
            <a:r>
              <a:rPr dirty="0" sz="1600" spc="-20">
                <a:latin typeface="Calibri"/>
                <a:cs typeface="Calibri"/>
              </a:rPr>
              <a:t>(Non-</a:t>
            </a:r>
            <a:r>
              <a:rPr dirty="0" sz="1600">
                <a:latin typeface="Calibri"/>
                <a:cs typeface="Calibri"/>
              </a:rPr>
              <a:t>critical</a:t>
            </a:r>
            <a:r>
              <a:rPr dirty="0" sz="1600">
                <a:latin typeface="Wingdings"/>
                <a:cs typeface="Wingdings"/>
              </a:rPr>
              <a:t></a:t>
            </a:r>
            <a:r>
              <a:rPr dirty="0" sz="1600" spc="15">
                <a:latin typeface="Times New Roman"/>
                <a:cs typeface="Times New Roman"/>
              </a:rPr>
              <a:t> </a:t>
            </a:r>
            <a:r>
              <a:rPr dirty="0" sz="1600">
                <a:latin typeface="Calibri"/>
                <a:cs typeface="Calibri"/>
              </a:rPr>
              <a:t>reading</a:t>
            </a:r>
            <a:r>
              <a:rPr dirty="0" sz="1600" spc="6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from</a:t>
            </a:r>
            <a:r>
              <a:rPr dirty="0" sz="1600" spc="45">
                <a:latin typeface="Calibri"/>
                <a:cs typeface="Calibri"/>
              </a:rPr>
              <a:t> </a:t>
            </a:r>
            <a:r>
              <a:rPr dirty="0" sz="1600" spc="-25">
                <a:latin typeface="Calibri"/>
                <a:cs typeface="Calibri"/>
              </a:rPr>
              <a:t>the </a:t>
            </a:r>
            <a:r>
              <a:rPr dirty="0" sz="1600" spc="-25">
                <a:latin typeface="Calibri"/>
                <a:cs typeface="Calibri"/>
              </a:rPr>
              <a:t>	</a:t>
            </a:r>
            <a:r>
              <a:rPr dirty="0" sz="1600" spc="-10">
                <a:latin typeface="Calibri"/>
                <a:cs typeface="Calibri"/>
              </a:rPr>
              <a:t>memory,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storage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Critical</a:t>
            </a:r>
            <a:r>
              <a:rPr dirty="0" sz="1600" spc="-10">
                <a:latin typeface="Wingdings"/>
                <a:cs typeface="Wingdings"/>
              </a:rPr>
              <a:t></a:t>
            </a:r>
            <a:r>
              <a:rPr dirty="0" sz="1600" spc="-90">
                <a:latin typeface="Times New Roman"/>
                <a:cs typeface="Times New Roman"/>
              </a:rPr>
              <a:t> </a:t>
            </a:r>
            <a:r>
              <a:rPr dirty="0" sz="1600">
                <a:latin typeface="Calibri"/>
                <a:cs typeface="Calibri"/>
              </a:rPr>
              <a:t>writing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memory,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modifying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memory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contents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etc).</a:t>
            </a:r>
            <a:endParaRPr sz="1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6501" y="-71247"/>
            <a:ext cx="570420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0">
                <a:latin typeface="Calibri Light"/>
                <a:cs typeface="Calibri Light"/>
              </a:rPr>
              <a:t>Full</a:t>
            </a:r>
            <a:r>
              <a:rPr dirty="0" sz="2800" spc="-70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Virtualization: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BINARY</a:t>
            </a:r>
            <a:r>
              <a:rPr dirty="0" sz="2800" spc="-9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TRANSLATION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33806"/>
            <a:ext cx="12036425" cy="35039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just" marL="352425" marR="5080" indent="-339725">
              <a:lnSpc>
                <a:spcPct val="1137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Full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virtualization,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noncritical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instructions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directly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while</a:t>
            </a:r>
            <a:r>
              <a:rPr dirty="0" sz="2000" spc="3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critical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instructions</a:t>
            </a:r>
            <a:r>
              <a:rPr dirty="0" sz="2000" spc="30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are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discovered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replaced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traps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into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VMM</a:t>
            </a:r>
            <a:r>
              <a:rPr dirty="0" sz="1200" b="1">
                <a:latin typeface="Calibri"/>
                <a:cs typeface="Calibri"/>
              </a:rPr>
              <a:t>.</a:t>
            </a:r>
            <a:r>
              <a:rPr dirty="0" sz="1200">
                <a:latin typeface="Calibri"/>
                <a:cs typeface="Calibri"/>
              </a:rPr>
              <a:t>(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app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perform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read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from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memory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directly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while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write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operation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needs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issue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command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VMM, </a:t>
            </a:r>
            <a:r>
              <a:rPr dirty="0" sz="1200" spc="-2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OS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-10">
                <a:latin typeface="Calibri"/>
                <a:cs typeface="Calibri"/>
              </a:rPr>
              <a:t> memory)</a:t>
            </a:r>
            <a:endParaRPr sz="1200">
              <a:latin typeface="Calibri"/>
              <a:cs typeface="Calibri"/>
            </a:endParaRPr>
          </a:p>
          <a:p>
            <a:pPr algn="just" marL="3016250">
              <a:lnSpc>
                <a:spcPct val="100000"/>
              </a:lnSpc>
              <a:spcBef>
                <a:spcPts val="795"/>
              </a:spcBef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Why</a:t>
            </a:r>
            <a:r>
              <a:rPr dirty="0" sz="20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are</a:t>
            </a:r>
            <a:r>
              <a:rPr dirty="0" sz="20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only</a:t>
            </a:r>
            <a:r>
              <a:rPr dirty="0" sz="20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critical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instructions</a:t>
            </a:r>
            <a:r>
              <a:rPr dirty="0" sz="20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trapped</a:t>
            </a:r>
            <a:r>
              <a:rPr dirty="0" sz="20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into</a:t>
            </a:r>
            <a:r>
              <a:rPr dirty="0" sz="20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20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20" b="1">
                <a:solidFill>
                  <a:srgbClr val="C00000"/>
                </a:solidFill>
                <a:latin typeface="Calibri"/>
                <a:cs typeface="Calibri"/>
              </a:rPr>
              <a:t>VMM?</a:t>
            </a:r>
            <a:endParaRPr sz="2000">
              <a:latin typeface="Calibri"/>
              <a:cs typeface="Calibri"/>
            </a:endParaRPr>
          </a:p>
          <a:p>
            <a:pPr algn="just" marL="352425" marR="5080" indent="-339725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because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binary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translation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incur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large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performance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overhead.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Noncritical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instructions</a:t>
            </a:r>
            <a:r>
              <a:rPr dirty="0" sz="2000" spc="2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not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control</a:t>
            </a:r>
            <a:r>
              <a:rPr dirty="0" sz="2000" spc="4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4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43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threaten</a:t>
            </a:r>
            <a:r>
              <a:rPr dirty="0" sz="2000" spc="4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4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security</a:t>
            </a:r>
            <a:r>
              <a:rPr dirty="0" sz="2000" spc="4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4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4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system,</a:t>
            </a:r>
            <a:r>
              <a:rPr dirty="0" sz="2000" spc="4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but</a:t>
            </a:r>
            <a:r>
              <a:rPr dirty="0" sz="2000" spc="4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critical</a:t>
            </a:r>
            <a:r>
              <a:rPr dirty="0" sz="2000" spc="43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instructions</a:t>
            </a:r>
            <a:r>
              <a:rPr dirty="0" sz="2000" spc="4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do.</a:t>
            </a:r>
            <a:r>
              <a:rPr dirty="0" sz="2000" spc="43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Therefore,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running </a:t>
            </a:r>
            <a:r>
              <a:rPr dirty="0" sz="2000" spc="-10">
                <a:latin typeface="Calibri"/>
                <a:cs typeface="Calibri"/>
              </a:rPr>
              <a:t>	</a:t>
            </a:r>
            <a:r>
              <a:rPr dirty="0" sz="2000">
                <a:latin typeface="Calibri"/>
                <a:cs typeface="Calibri"/>
              </a:rPr>
              <a:t>noncritical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instructions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hardware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not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only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promote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efficiency,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but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also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ensure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system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security.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algn="r" marR="3166745">
              <a:lnSpc>
                <a:spcPct val="100000"/>
              </a:lnSpc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Binary</a:t>
            </a:r>
            <a:r>
              <a:rPr dirty="0" sz="20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Translation</a:t>
            </a:r>
            <a:r>
              <a:rPr dirty="0" sz="20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0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Guest</a:t>
            </a:r>
            <a:r>
              <a:rPr dirty="0" sz="20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OS</a:t>
            </a:r>
            <a:r>
              <a:rPr dirty="0" sz="20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Requests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Using</a:t>
            </a:r>
            <a:r>
              <a:rPr dirty="0" sz="20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a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25" b="1">
                <a:solidFill>
                  <a:srgbClr val="C00000"/>
                </a:solidFill>
                <a:latin typeface="Calibri"/>
                <a:cs typeface="Calibri"/>
              </a:rPr>
              <a:t>VMM</a:t>
            </a:r>
            <a:endParaRPr sz="2000">
              <a:latin typeface="Calibri"/>
              <a:cs typeface="Calibri"/>
            </a:endParaRPr>
          </a:p>
          <a:p>
            <a:pPr algn="r" marL="342265" marR="3189605" indent="-342265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42265" algn="l"/>
              </a:tabLst>
            </a:pP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approach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was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implemented</a:t>
            </a:r>
            <a:r>
              <a:rPr dirty="0" sz="2000" spc="-1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by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VMware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many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other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software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companies.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6417665"/>
            <a:ext cx="88639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11480" indent="-39878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11480" algn="l"/>
              </a:tabLst>
            </a:pP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shown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Figure,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VMware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puts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VMM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at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Ring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0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at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Ring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1.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6810" y="4626194"/>
            <a:ext cx="4201925" cy="1647829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6501" y="-71247"/>
            <a:ext cx="570420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0">
                <a:latin typeface="Calibri Light"/>
                <a:cs typeface="Calibri Light"/>
              </a:rPr>
              <a:t>Full</a:t>
            </a:r>
            <a:r>
              <a:rPr dirty="0" sz="2800" spc="-70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Virtualization: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BINARY</a:t>
            </a:r>
            <a:r>
              <a:rPr dirty="0" sz="2800" spc="-9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TRANSLATION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33806"/>
            <a:ext cx="3089275" cy="7207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13999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  <a:tab pos="923925" algn="l"/>
                <a:tab pos="2342515" algn="l"/>
              </a:tabLst>
            </a:pPr>
            <a:r>
              <a:rPr dirty="0" sz="2000" spc="-25" b="1">
                <a:latin typeface="Calibri"/>
                <a:cs typeface="Calibri"/>
              </a:rPr>
              <a:t>The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instructions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0" b="1">
                <a:latin typeface="Calibri"/>
                <a:cs typeface="Calibri"/>
              </a:rPr>
              <a:t>stream </a:t>
            </a:r>
            <a:r>
              <a:rPr dirty="0" sz="2000" spc="-10" b="1">
                <a:latin typeface="Calibri"/>
                <a:cs typeface="Calibri"/>
              </a:rPr>
              <a:t>instructions.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317494" y="475869"/>
            <a:ext cx="879602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29590" algn="l"/>
                <a:tab pos="1577975" algn="l"/>
                <a:tab pos="2153920" algn="l"/>
                <a:tab pos="3314065" algn="l"/>
                <a:tab pos="3844290" algn="l"/>
                <a:tab pos="5129530" algn="l"/>
                <a:tab pos="6133465" algn="l"/>
                <a:tab pos="6710045" algn="l"/>
              </a:tabLst>
            </a:pPr>
            <a:r>
              <a:rPr dirty="0" sz="2000" spc="-25" b="1">
                <a:latin typeface="Calibri"/>
                <a:cs typeface="Calibri"/>
              </a:rPr>
              <a:t>are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scanned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and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identifies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the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privileged,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control-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and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behaviour-sensitive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78739" y="1432875"/>
            <a:ext cx="12035790" cy="4678680"/>
          </a:xfrm>
          <a:prstGeom prst="rect">
            <a:avLst/>
          </a:prstGeom>
        </p:spPr>
        <p:txBody>
          <a:bodyPr wrap="square" lIns="0" tIns="55880" rIns="0" bIns="0" rtlCol="0" vert="horz">
            <a:spAutoFit/>
          </a:bodyPr>
          <a:lstStyle/>
          <a:p>
            <a:pPr marL="413384" indent="-400685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413384" algn="l"/>
              </a:tabLst>
            </a:pPr>
            <a:r>
              <a:rPr dirty="0" sz="2000" b="1">
                <a:latin typeface="Calibri"/>
                <a:cs typeface="Calibri"/>
              </a:rPr>
              <a:t>When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these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instructions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identified,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they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trapped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into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VMM,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which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emulates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behaviour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of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340"/>
              </a:spcBef>
            </a:pPr>
            <a:r>
              <a:rPr dirty="0" sz="2000" b="1">
                <a:latin typeface="Calibri"/>
                <a:cs typeface="Calibri"/>
              </a:rPr>
              <a:t>these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instructions.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Converts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instruction/system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call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VMM</a:t>
            </a:r>
            <a:r>
              <a:rPr dirty="0" sz="1400" spc="2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turn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Host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call,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turn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access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hardware)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25"/>
              </a:spcBef>
            </a:pPr>
            <a:endParaRPr sz="1400">
              <a:latin typeface="Calibri"/>
              <a:cs typeface="Calibri"/>
            </a:endParaRPr>
          </a:p>
          <a:p>
            <a:pPr marL="411480" indent="-398780">
              <a:lnSpc>
                <a:spcPct val="100000"/>
              </a:lnSpc>
              <a:buFont typeface="Arial MT"/>
              <a:buChar char="•"/>
              <a:tabLst>
                <a:tab pos="411480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method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used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emulation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called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Binary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Translation.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411480" indent="-398780">
              <a:lnSpc>
                <a:spcPct val="100000"/>
              </a:lnSpc>
              <a:buFont typeface="Arial MT"/>
              <a:buChar char="•"/>
              <a:tabLst>
                <a:tab pos="411480" algn="l"/>
              </a:tabLst>
            </a:pPr>
            <a:r>
              <a:rPr dirty="0" sz="2000" b="1">
                <a:latin typeface="Calibri"/>
                <a:cs typeface="Calibri"/>
              </a:rPr>
              <a:t>Thus,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Full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combines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binary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translation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direct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execution.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13999"/>
              </a:lnSpc>
              <a:spcBef>
                <a:spcPts val="24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performance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full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may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not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ideal,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because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involves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binary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translation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which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rather time-consuming.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9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 b="1">
                <a:latin typeface="Calibri"/>
                <a:cs typeface="Calibri"/>
              </a:rPr>
              <a:t>Particularly,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I/O-intensive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really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big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challenge.</a:t>
            </a:r>
            <a:endParaRPr sz="2000">
              <a:latin typeface="Calibri"/>
              <a:cs typeface="Calibri"/>
            </a:endParaRPr>
          </a:p>
          <a:p>
            <a:pPr marL="355600" marR="7620" indent="-342900">
              <a:lnSpc>
                <a:spcPct val="113999"/>
              </a:lnSpc>
              <a:spcBef>
                <a:spcPts val="24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Binary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translation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employs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code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cache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store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translated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hot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instructions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improve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performance,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but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it </a:t>
            </a:r>
            <a:r>
              <a:rPr dirty="0" sz="2000" b="1">
                <a:latin typeface="Calibri"/>
                <a:cs typeface="Calibri"/>
              </a:rPr>
              <a:t>increases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cost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memory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usage.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172" rIns="0" bIns="0" rtlCol="0" vert="horz">
            <a:spAutoFit/>
          </a:bodyPr>
          <a:lstStyle/>
          <a:p>
            <a:pPr marL="2633345">
              <a:lnSpc>
                <a:spcPct val="100000"/>
              </a:lnSpc>
              <a:spcBef>
                <a:spcPts val="95"/>
              </a:spcBef>
            </a:pPr>
            <a:r>
              <a:rPr dirty="0" sz="2800" spc="-45" b="0">
                <a:latin typeface="Calibri Light"/>
                <a:cs typeface="Calibri Light"/>
              </a:rPr>
              <a:t>Host-</a:t>
            </a:r>
            <a:r>
              <a:rPr dirty="0" sz="2800" spc="-20" b="0">
                <a:latin typeface="Calibri Light"/>
                <a:cs typeface="Calibri Light"/>
              </a:rPr>
              <a:t>Based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Virtualization:</a:t>
            </a:r>
            <a:r>
              <a:rPr dirty="0" sz="2800" spc="-5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BINARY</a:t>
            </a:r>
            <a:r>
              <a:rPr dirty="0" sz="2800" spc="-80" b="0">
                <a:latin typeface="Calibri Light"/>
                <a:cs typeface="Calibri Light"/>
              </a:rPr>
              <a:t> </a:t>
            </a:r>
            <a:r>
              <a:rPr dirty="0" sz="2800" spc="-20" b="0">
                <a:latin typeface="Calibri Light"/>
                <a:cs typeface="Calibri Light"/>
              </a:rPr>
              <a:t>TRANSLATION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789508"/>
            <a:ext cx="12036425" cy="6311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alternative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architecture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install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layer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top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OS.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(Full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Virtualization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can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create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using</a:t>
            </a:r>
            <a:endParaRPr sz="12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925"/>
              </a:spcBef>
            </a:pPr>
            <a:r>
              <a:rPr dirty="0" sz="1200" spc="-10">
                <a:latin typeface="Calibri"/>
                <a:cs typeface="Calibri"/>
              </a:rPr>
              <a:t>virtualization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software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installed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either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bare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metal 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top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OS,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but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Host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based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created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using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virtualization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software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installed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top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main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OS)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1978913"/>
            <a:ext cx="12035155" cy="2617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still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responsible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managing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hardware.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installed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top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layer.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Dedicated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may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VMs.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Certainly,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some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other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also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OS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5"/>
              </a:spcBef>
            </a:pPr>
            <a:r>
              <a:rPr dirty="0" sz="2000" b="1">
                <a:latin typeface="Calibri"/>
                <a:cs typeface="Calibri"/>
              </a:rPr>
              <a:t>directly</a:t>
            </a:r>
            <a:r>
              <a:rPr dirty="0" sz="1400" b="1">
                <a:latin typeface="Calibri"/>
                <a:cs typeface="Calibri"/>
              </a:rPr>
              <a:t>.</a:t>
            </a:r>
            <a:r>
              <a:rPr dirty="0" sz="1400" spc="-5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(Supports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both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few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app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run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VM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few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app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run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directly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host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OS)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9385" y="-71247"/>
            <a:ext cx="679704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45" b="0">
                <a:latin typeface="Calibri Light"/>
                <a:cs typeface="Calibri Light"/>
              </a:rPr>
              <a:t>Host-</a:t>
            </a:r>
            <a:r>
              <a:rPr dirty="0" sz="2800" spc="-20" b="0">
                <a:latin typeface="Calibri Light"/>
                <a:cs typeface="Calibri Light"/>
              </a:rPr>
              <a:t>Based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Virtualization:</a:t>
            </a:r>
            <a:r>
              <a:rPr dirty="0" sz="2800" spc="-5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BINARY</a:t>
            </a:r>
            <a:r>
              <a:rPr dirty="0" sz="2800" spc="-80" b="0">
                <a:latin typeface="Calibri Light"/>
                <a:cs typeface="Calibri Light"/>
              </a:rPr>
              <a:t> </a:t>
            </a:r>
            <a:r>
              <a:rPr dirty="0" sz="2800" spc="-20" b="0">
                <a:latin typeface="Calibri Light"/>
                <a:cs typeface="Calibri Light"/>
              </a:rPr>
              <a:t>TRANSLATION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558164"/>
            <a:ext cx="12036425" cy="55289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host-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architecture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has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some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distinct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advantages.</a:t>
            </a:r>
            <a:endParaRPr sz="2000">
              <a:latin typeface="Calibri"/>
              <a:cs typeface="Calibri"/>
            </a:endParaRPr>
          </a:p>
          <a:p>
            <a:pPr algn="just" lvl="1" marL="993775" marR="6350" indent="-354330">
              <a:lnSpc>
                <a:spcPct val="150100"/>
              </a:lnSpc>
              <a:spcBef>
                <a:spcPts val="2395"/>
              </a:spcBef>
              <a:buFont typeface="Wingdings"/>
              <a:buChar char=""/>
              <a:tabLst>
                <a:tab pos="995044" algn="l"/>
              </a:tabLst>
            </a:pPr>
            <a:r>
              <a:rPr dirty="0" sz="2000" b="1">
                <a:latin typeface="Calibri"/>
                <a:cs typeface="Calibri"/>
              </a:rPr>
              <a:t>First,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install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architecture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without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modifying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OS.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virtualizing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software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rely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device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drivers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other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low-</a:t>
            </a:r>
            <a:r>
              <a:rPr dirty="0" sz="2000" b="1">
                <a:latin typeface="Calibri"/>
                <a:cs typeface="Calibri"/>
              </a:rPr>
              <a:t>level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services</a:t>
            </a:r>
            <a:r>
              <a:rPr dirty="0" sz="1600" b="1">
                <a:latin typeface="Calibri"/>
                <a:cs typeface="Calibri"/>
              </a:rPr>
              <a:t>.</a:t>
            </a:r>
            <a:r>
              <a:rPr dirty="0" sz="1600" spc="-25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(not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like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bare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metal)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will </a:t>
            </a:r>
            <a:r>
              <a:rPr dirty="0" sz="2000" spc="-20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simplify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design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ease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deployment.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60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lvl="1" marL="1052195" indent="-412115">
              <a:lnSpc>
                <a:spcPct val="100000"/>
              </a:lnSpc>
              <a:buFont typeface="Wingdings"/>
              <a:buChar char=""/>
              <a:tabLst>
                <a:tab pos="1052195" algn="l"/>
              </a:tabLst>
            </a:pPr>
            <a:r>
              <a:rPr dirty="0" sz="2000" b="1">
                <a:latin typeface="Calibri"/>
                <a:cs typeface="Calibri"/>
              </a:rPr>
              <a:t>Second,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host-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approach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appeals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many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configurations.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60"/>
              </a:spcBef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algn="just" marL="352425" marR="8890" indent="-339725">
              <a:lnSpc>
                <a:spcPct val="1458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performance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host-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architecture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may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also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low.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When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requests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hardware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access,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involves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four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layers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mapping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which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downgrades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performance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significantly</a:t>
            </a:r>
            <a:r>
              <a:rPr dirty="0" sz="1400" spc="-10" b="1">
                <a:latin typeface="Calibri"/>
                <a:cs typeface="Calibri"/>
              </a:rPr>
              <a:t>.</a:t>
            </a:r>
            <a:r>
              <a:rPr dirty="0" sz="1400" spc="-6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App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statement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request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access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to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 spc="-20">
                <a:latin typeface="Calibri"/>
                <a:cs typeface="Calibri"/>
              </a:rPr>
              <a:t>memory</a:t>
            </a:r>
            <a:r>
              <a:rPr dirty="0" sz="1400" spc="-20">
                <a:latin typeface="Wingdings"/>
                <a:cs typeface="Wingdings"/>
              </a:rPr>
              <a:t></a:t>
            </a:r>
            <a:r>
              <a:rPr dirty="0" sz="1400" spc="-20">
                <a:latin typeface="Calibri"/>
                <a:cs typeface="Calibri"/>
              </a:rPr>
              <a:t>Translates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Guest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call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statement</a:t>
            </a:r>
            <a:r>
              <a:rPr dirty="0" sz="1400" spc="-10">
                <a:latin typeface="Wingdings"/>
                <a:cs typeface="Wingdings"/>
              </a:rPr>
              <a:t></a:t>
            </a:r>
            <a:r>
              <a:rPr dirty="0" sz="1400" spc="-25">
                <a:latin typeface="Times New Roman"/>
                <a:cs typeface="Times New Roman"/>
              </a:rPr>
              <a:t> </a:t>
            </a:r>
            <a:r>
              <a:rPr dirty="0" sz="1400" spc="-20">
                <a:latin typeface="Calibri"/>
                <a:cs typeface="Calibri"/>
              </a:rPr>
              <a:t>Translates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VMM</a:t>
            </a:r>
            <a:r>
              <a:rPr dirty="0" sz="1400" spc="-20">
                <a:latin typeface="Wingdings"/>
                <a:cs typeface="Wingdings"/>
              </a:rPr>
              <a:t></a:t>
            </a:r>
            <a:r>
              <a:rPr dirty="0" sz="1400" spc="-20">
                <a:latin typeface="Calibri"/>
                <a:cs typeface="Calibri"/>
              </a:rPr>
              <a:t>Translates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Host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call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statement,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then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access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memory)</a:t>
            </a:r>
            <a:endParaRPr sz="14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50000"/>
              </a:lnSpc>
              <a:spcBef>
                <a:spcPts val="224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When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ISA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different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ISA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underlying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hardware,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binary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translation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must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be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adopted.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Although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host-</a:t>
            </a:r>
            <a:r>
              <a:rPr dirty="0" sz="2000">
                <a:latin typeface="Calibri"/>
                <a:cs typeface="Calibri"/>
              </a:rPr>
              <a:t>based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architecture </a:t>
            </a:r>
            <a:r>
              <a:rPr dirty="0" sz="2000">
                <a:latin typeface="Calibri"/>
                <a:cs typeface="Calibri"/>
              </a:rPr>
              <a:t>has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flexibility,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performance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low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useful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practice.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4336" y="-5079"/>
            <a:ext cx="832104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Live</a:t>
            </a:r>
            <a:r>
              <a:rPr dirty="0" sz="3200" spc="-90"/>
              <a:t> </a:t>
            </a:r>
            <a:r>
              <a:rPr dirty="0" sz="3200"/>
              <a:t>VM</a:t>
            </a:r>
            <a:r>
              <a:rPr dirty="0" sz="3200" spc="-60"/>
              <a:t> </a:t>
            </a:r>
            <a:r>
              <a:rPr dirty="0" sz="3200"/>
              <a:t>Migration</a:t>
            </a:r>
            <a:r>
              <a:rPr dirty="0" sz="3200" spc="-100"/>
              <a:t> </a:t>
            </a:r>
            <a:r>
              <a:rPr dirty="0" sz="3200"/>
              <a:t>Steps</a:t>
            </a:r>
            <a:r>
              <a:rPr dirty="0" sz="3200" spc="-70"/>
              <a:t> </a:t>
            </a:r>
            <a:r>
              <a:rPr dirty="0" sz="3200"/>
              <a:t>and</a:t>
            </a:r>
            <a:r>
              <a:rPr dirty="0" sz="3200" spc="-75"/>
              <a:t> </a:t>
            </a:r>
            <a:r>
              <a:rPr dirty="0" sz="3200"/>
              <a:t>Performance</a:t>
            </a:r>
            <a:r>
              <a:rPr dirty="0" sz="3200" spc="-85"/>
              <a:t> </a:t>
            </a:r>
            <a:r>
              <a:rPr dirty="0" sz="3200" spc="-10"/>
              <a:t>Effects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78739" y="688339"/>
            <a:ext cx="12035790" cy="60166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clusters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built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installed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distributed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servers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more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physical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clusters.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cluster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interconnected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logically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across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several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physical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networks.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algn="just" marL="352425" marR="6350" indent="-339725">
              <a:lnSpc>
                <a:spcPct val="1457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cluster,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built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mixed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nodes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systems,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normal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method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operation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run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everything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physical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machine.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(VM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cluster created with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set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VMs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created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multiple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hosts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eg: 1 VM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cluster running 10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modules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application</a:t>
            </a:r>
            <a:r>
              <a:rPr dirty="0" sz="1100" spc="-10">
                <a:latin typeface="Wingdings"/>
                <a:cs typeface="Wingdings"/>
              </a:rPr>
              <a:t></a:t>
            </a:r>
            <a:r>
              <a:rPr dirty="0" sz="1100" spc="-25">
                <a:latin typeface="Times New Roman"/>
                <a:cs typeface="Times New Roman"/>
              </a:rPr>
              <a:t> </a:t>
            </a:r>
            <a:r>
              <a:rPr dirty="0" sz="1100">
                <a:latin typeface="Calibri"/>
                <a:cs typeface="Calibri"/>
              </a:rPr>
              <a:t>10 </a:t>
            </a:r>
            <a:r>
              <a:rPr dirty="0" sz="1100" spc="-25">
                <a:latin typeface="Calibri"/>
                <a:cs typeface="Calibri"/>
              </a:rPr>
              <a:t>VMs </a:t>
            </a:r>
            <a:r>
              <a:rPr dirty="0" sz="1100" spc="-25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created on 10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physical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machines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with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running guest system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acts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like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 master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which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takes care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all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10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VMs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operation in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cluster.</a:t>
            </a:r>
            <a:r>
              <a:rPr dirty="0" sz="1100" spc="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Normally,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VMs</a:t>
            </a:r>
            <a:r>
              <a:rPr dirty="0" sz="1100" spc="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runs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physical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machine. If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any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VM</a:t>
            </a:r>
            <a:r>
              <a:rPr dirty="0" sz="1100" spc="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running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 </a:t>
            </a:r>
            <a:r>
              <a:rPr dirty="0" sz="1100" spc="-25">
                <a:latin typeface="Calibri"/>
                <a:cs typeface="Calibri"/>
              </a:rPr>
              <a:t>any </a:t>
            </a:r>
            <a:r>
              <a:rPr dirty="0" sz="1100" spc="-25">
                <a:latin typeface="Calibri"/>
                <a:cs typeface="Calibri"/>
              </a:rPr>
              <a:t>	</a:t>
            </a:r>
            <a:r>
              <a:rPr dirty="0" sz="1100">
                <a:latin typeface="Calibri"/>
                <a:cs typeface="Calibri"/>
              </a:rPr>
              <a:t>physical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machine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fails,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its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role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could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replaced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another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VM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on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different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physical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machine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such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that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target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physical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machine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connected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same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guest</a:t>
            </a:r>
            <a:r>
              <a:rPr dirty="0" sz="1100" spc="-25">
                <a:latin typeface="Calibri"/>
                <a:cs typeface="Calibri"/>
              </a:rPr>
              <a:t> OS)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85"/>
              </a:spcBef>
              <a:buFont typeface="Arial MT"/>
              <a:buChar char="•"/>
            </a:pPr>
            <a:endParaRPr sz="11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When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fails,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its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role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could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replaced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another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different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node,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long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they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both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with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same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-25" b="1">
                <a:latin typeface="Calibri"/>
                <a:cs typeface="Calibri"/>
              </a:rPr>
              <a:t> OS.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advantage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enhanced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failover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flexibility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(supports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failover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situation)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potential</a:t>
            </a:r>
            <a:r>
              <a:rPr dirty="0" sz="2000" spc="2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drawback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must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stop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playing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its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role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if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its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residing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node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fails.</a:t>
            </a:r>
            <a:r>
              <a:rPr dirty="0" sz="2000" spc="225" b="1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However,</a:t>
            </a:r>
            <a:r>
              <a:rPr dirty="0" sz="2000" spc="220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this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5"/>
              </a:spcBef>
            </a:pPr>
            <a:r>
              <a:rPr dirty="0" sz="2000" b="1">
                <a:latin typeface="Calibri"/>
                <a:cs typeface="Calibri"/>
              </a:rPr>
              <a:t>problem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mitigated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live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migration.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4336" y="-5079"/>
            <a:ext cx="832104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Live</a:t>
            </a:r>
            <a:r>
              <a:rPr dirty="0" sz="3200" spc="-90"/>
              <a:t> </a:t>
            </a:r>
            <a:r>
              <a:rPr dirty="0" sz="3200"/>
              <a:t>VM</a:t>
            </a:r>
            <a:r>
              <a:rPr dirty="0" sz="3200" spc="-60"/>
              <a:t> </a:t>
            </a:r>
            <a:r>
              <a:rPr dirty="0" sz="3200"/>
              <a:t>Migration</a:t>
            </a:r>
            <a:r>
              <a:rPr dirty="0" sz="3200" spc="-100"/>
              <a:t> </a:t>
            </a:r>
            <a:r>
              <a:rPr dirty="0" sz="3200"/>
              <a:t>Steps</a:t>
            </a:r>
            <a:r>
              <a:rPr dirty="0" sz="3200" spc="-70"/>
              <a:t> </a:t>
            </a:r>
            <a:r>
              <a:rPr dirty="0" sz="3200"/>
              <a:t>and</a:t>
            </a:r>
            <a:r>
              <a:rPr dirty="0" sz="3200" spc="-75"/>
              <a:t> </a:t>
            </a:r>
            <a:r>
              <a:rPr dirty="0" sz="3200"/>
              <a:t>Performance</a:t>
            </a:r>
            <a:r>
              <a:rPr dirty="0" sz="3200" spc="-85"/>
              <a:t> </a:t>
            </a:r>
            <a:r>
              <a:rPr dirty="0" sz="3200" spc="-10"/>
              <a:t>Effects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78739" y="688339"/>
            <a:ext cx="5393690" cy="434276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There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four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ways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cluster: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lvl="1" marL="1042669" indent="-342900">
              <a:lnSpc>
                <a:spcPct val="100000"/>
              </a:lnSpc>
              <a:buFont typeface="Wingdings"/>
              <a:buChar char=""/>
              <a:tabLst>
                <a:tab pos="1042669" algn="l"/>
              </a:tabLst>
            </a:pPr>
            <a:r>
              <a:rPr dirty="0" sz="2400" spc="-20" b="1">
                <a:solidFill>
                  <a:srgbClr val="C00000"/>
                </a:solidFill>
                <a:latin typeface="Calibri"/>
                <a:cs typeface="Calibri"/>
              </a:rPr>
              <a:t>Guest-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Based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Manager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110"/>
              </a:spcBef>
              <a:buClr>
                <a:srgbClr val="C00000"/>
              </a:buClr>
              <a:buFont typeface="Wingdings"/>
              <a:buChar char=""/>
            </a:pPr>
            <a:endParaRPr sz="2400">
              <a:latin typeface="Calibri"/>
              <a:cs typeface="Calibri"/>
            </a:endParaRPr>
          </a:p>
          <a:p>
            <a:pPr lvl="1" marL="1042669" indent="-342900">
              <a:lnSpc>
                <a:spcPct val="100000"/>
              </a:lnSpc>
              <a:buFont typeface="Wingdings"/>
              <a:buChar char=""/>
              <a:tabLst>
                <a:tab pos="1042669" algn="l"/>
              </a:tabLst>
            </a:pPr>
            <a:r>
              <a:rPr dirty="0" sz="2400" spc="-25" b="1">
                <a:solidFill>
                  <a:srgbClr val="C00000"/>
                </a:solidFill>
                <a:latin typeface="Calibri"/>
                <a:cs typeface="Calibri"/>
              </a:rPr>
              <a:t>Host-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Based</a:t>
            </a:r>
            <a:r>
              <a:rPr dirty="0" sz="24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Manager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115"/>
              </a:spcBef>
              <a:buClr>
                <a:srgbClr val="C00000"/>
              </a:buClr>
              <a:buFont typeface="Wingdings"/>
              <a:buChar char=""/>
            </a:pPr>
            <a:endParaRPr sz="2400">
              <a:latin typeface="Calibri"/>
              <a:cs typeface="Calibri"/>
            </a:endParaRPr>
          </a:p>
          <a:p>
            <a:pPr lvl="1" marL="1042669" indent="-342900">
              <a:lnSpc>
                <a:spcPct val="100000"/>
              </a:lnSpc>
              <a:buFont typeface="Wingdings"/>
              <a:buChar char=""/>
              <a:tabLst>
                <a:tab pos="1042669" algn="l"/>
              </a:tabLst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Independent</a:t>
            </a:r>
            <a:r>
              <a:rPr dirty="0" sz="2400" spc="-9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Cluster</a:t>
            </a:r>
            <a:r>
              <a:rPr dirty="0" sz="2400" spc="-10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Manager</a:t>
            </a:r>
            <a:endParaRPr sz="2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110"/>
              </a:spcBef>
              <a:buClr>
                <a:srgbClr val="C00000"/>
              </a:buClr>
              <a:buFont typeface="Wingdings"/>
              <a:buChar char=""/>
            </a:pPr>
            <a:endParaRPr sz="2400">
              <a:latin typeface="Calibri"/>
              <a:cs typeface="Calibri"/>
            </a:endParaRPr>
          </a:p>
          <a:p>
            <a:pPr lvl="1" marL="1042669" indent="-3429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1042669" algn="l"/>
              </a:tabLst>
            </a:pPr>
            <a:r>
              <a:rPr dirty="0" sz="2400" spc="-20" b="1">
                <a:solidFill>
                  <a:srgbClr val="C00000"/>
                </a:solidFill>
                <a:latin typeface="Calibri"/>
                <a:cs typeface="Calibri"/>
              </a:rPr>
              <a:t>Integrated</a:t>
            </a:r>
            <a:r>
              <a:rPr dirty="0" sz="24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Cluster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4336" y="-95630"/>
            <a:ext cx="832104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Live</a:t>
            </a:r>
            <a:r>
              <a:rPr dirty="0" sz="3200" spc="-90"/>
              <a:t> </a:t>
            </a:r>
            <a:r>
              <a:rPr dirty="0" sz="3200"/>
              <a:t>VM</a:t>
            </a:r>
            <a:r>
              <a:rPr dirty="0" sz="3200" spc="-60"/>
              <a:t> </a:t>
            </a:r>
            <a:r>
              <a:rPr dirty="0" sz="3200"/>
              <a:t>Migration</a:t>
            </a:r>
            <a:r>
              <a:rPr dirty="0" sz="3200" spc="-100"/>
              <a:t> </a:t>
            </a:r>
            <a:r>
              <a:rPr dirty="0" sz="3200"/>
              <a:t>Steps</a:t>
            </a:r>
            <a:r>
              <a:rPr dirty="0" sz="3200" spc="-70"/>
              <a:t> </a:t>
            </a:r>
            <a:r>
              <a:rPr dirty="0" sz="3200"/>
              <a:t>and</a:t>
            </a:r>
            <a:r>
              <a:rPr dirty="0" sz="3200" spc="-75"/>
              <a:t> </a:t>
            </a:r>
            <a:r>
              <a:rPr dirty="0" sz="3200"/>
              <a:t>Performance</a:t>
            </a:r>
            <a:r>
              <a:rPr dirty="0" sz="3200" spc="-85"/>
              <a:t> </a:t>
            </a:r>
            <a:r>
              <a:rPr dirty="0" sz="3200" spc="-10"/>
              <a:t>Effects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82981"/>
            <a:ext cx="12036425" cy="64331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25" b="1">
                <a:solidFill>
                  <a:srgbClr val="00391A"/>
                </a:solidFill>
                <a:latin typeface="Calibri"/>
                <a:cs typeface="Calibri"/>
              </a:rPr>
              <a:t>Guest-</a:t>
            </a:r>
            <a:r>
              <a:rPr dirty="0" sz="2800" b="1">
                <a:solidFill>
                  <a:srgbClr val="00391A"/>
                </a:solidFill>
                <a:latin typeface="Calibri"/>
                <a:cs typeface="Calibri"/>
              </a:rPr>
              <a:t>Based</a:t>
            </a:r>
            <a:r>
              <a:rPr dirty="0" sz="2800" spc="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391A"/>
                </a:solidFill>
                <a:latin typeface="Calibri"/>
                <a:cs typeface="Calibri"/>
              </a:rPr>
              <a:t>Manager</a:t>
            </a:r>
            <a:endParaRPr sz="2800">
              <a:latin typeface="Calibri"/>
              <a:cs typeface="Calibri"/>
            </a:endParaRPr>
          </a:p>
          <a:p>
            <a:pPr marL="528955" marR="5715" indent="-285115">
              <a:lnSpc>
                <a:spcPct val="102299"/>
              </a:lnSpc>
              <a:spcBef>
                <a:spcPts val="1805"/>
              </a:spcBef>
              <a:buFont typeface="Arial MT"/>
              <a:buChar char="•"/>
              <a:tabLst>
                <a:tab pos="528955" algn="l"/>
              </a:tabLst>
            </a:pPr>
            <a:r>
              <a:rPr dirty="0" sz="2000" spc="-10" b="1">
                <a:latin typeface="Calibri"/>
                <a:cs typeface="Calibri"/>
              </a:rPr>
              <a:t>Guest-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Manager,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which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cluster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manager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resides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1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system.</a:t>
            </a:r>
            <a:r>
              <a:rPr dirty="0" sz="2000" spc="18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(VM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cluster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consisting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multiple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VMs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from </a:t>
            </a:r>
            <a:r>
              <a:rPr dirty="0" sz="1200" spc="-10">
                <a:latin typeface="Calibri"/>
                <a:cs typeface="Calibri"/>
              </a:rPr>
              <a:t>different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physical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machine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designed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cluster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runs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top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VM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20">
                <a:latin typeface="Calibri"/>
                <a:cs typeface="Calibri"/>
              </a:rPr>
              <a:t>cluster.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Host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</a:t>
            </a:r>
            <a:r>
              <a:rPr dirty="0" sz="1200" spc="-10">
                <a:latin typeface="Wingdings"/>
                <a:cs typeface="Wingdings"/>
              </a:rPr>
              <a:t></a:t>
            </a:r>
            <a:r>
              <a:rPr dirty="0" sz="1200" spc="-60">
                <a:latin typeface="Times New Roman"/>
                <a:cs typeface="Times New Roman"/>
              </a:rPr>
              <a:t> </a:t>
            </a:r>
            <a:r>
              <a:rPr dirty="0" sz="1200">
                <a:latin typeface="Calibri"/>
                <a:cs typeface="Calibri"/>
              </a:rPr>
              <a:t>Physical </a:t>
            </a:r>
            <a:r>
              <a:rPr dirty="0" sz="1200" spc="-10">
                <a:latin typeface="Calibri"/>
                <a:cs typeface="Calibri"/>
              </a:rPr>
              <a:t>System,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Guest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</a:t>
            </a:r>
            <a:r>
              <a:rPr dirty="0" sz="1200" spc="-10">
                <a:latin typeface="Wingdings"/>
                <a:cs typeface="Wingdings"/>
              </a:rPr>
              <a:t></a:t>
            </a:r>
            <a:r>
              <a:rPr dirty="0" sz="1200" spc="-45">
                <a:latin typeface="Times New Roman"/>
                <a:cs typeface="Times New Roman"/>
              </a:rPr>
              <a:t> </a:t>
            </a:r>
            <a:r>
              <a:rPr dirty="0" sz="1200">
                <a:latin typeface="Calibri"/>
                <a:cs typeface="Calibri"/>
              </a:rPr>
              <a:t>Virtual</a:t>
            </a:r>
            <a:r>
              <a:rPr dirty="0" sz="1200" spc="-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System)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5"/>
              </a:spcBef>
              <a:buFont typeface="Arial MT"/>
              <a:buChar char="•"/>
            </a:pPr>
            <a:endParaRPr sz="1200">
              <a:latin typeface="Calibri"/>
              <a:cs typeface="Calibri"/>
            </a:endParaRPr>
          </a:p>
          <a:p>
            <a:pPr marL="528955" indent="-285115">
              <a:lnSpc>
                <a:spcPct val="100000"/>
              </a:lnSpc>
              <a:buFont typeface="Arial MT"/>
              <a:buChar char="•"/>
              <a:tabLst>
                <a:tab pos="528955" algn="l"/>
              </a:tabLst>
            </a:pP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case,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form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cluster.</a:t>
            </a:r>
            <a:endParaRPr sz="2000">
              <a:latin typeface="Calibri"/>
              <a:cs typeface="Calibri"/>
            </a:endParaRPr>
          </a:p>
          <a:p>
            <a:pPr marL="528955" marR="6985" indent="-285115">
              <a:lnSpc>
                <a:spcPct val="150000"/>
              </a:lnSpc>
              <a:spcBef>
                <a:spcPts val="1205"/>
              </a:spcBef>
              <a:buFont typeface="Arial MT"/>
              <a:buChar char="•"/>
              <a:tabLst>
                <a:tab pos="528955" algn="l"/>
              </a:tabLst>
            </a:pP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example,</a:t>
            </a:r>
            <a:r>
              <a:rPr dirty="0" sz="2000" spc="114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openMosix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open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source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Linux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cluster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running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different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systems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top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Xen </a:t>
            </a:r>
            <a:r>
              <a:rPr dirty="0" sz="2000" spc="-10" b="1">
                <a:latin typeface="Calibri"/>
                <a:cs typeface="Calibri"/>
              </a:rPr>
              <a:t>hypervisor.</a:t>
            </a:r>
            <a:endParaRPr sz="2000">
              <a:latin typeface="Calibri"/>
              <a:cs typeface="Calibri"/>
            </a:endParaRPr>
          </a:p>
          <a:p>
            <a:pPr marL="528955" indent="-285115">
              <a:lnSpc>
                <a:spcPct val="100000"/>
              </a:lnSpc>
              <a:spcBef>
                <a:spcPts val="2400"/>
              </a:spcBef>
              <a:buFont typeface="Arial MT"/>
              <a:buChar char="•"/>
              <a:tabLst>
                <a:tab pos="528955" algn="l"/>
              </a:tabLst>
            </a:pPr>
            <a:r>
              <a:rPr dirty="0" sz="2000">
                <a:latin typeface="Calibri"/>
                <a:cs typeface="Calibri"/>
              </a:rPr>
              <a:t>Another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example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Sun’s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cluster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Oasis,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experimental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Solaris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cluster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supported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VMware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VMM.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20"/>
              </a:spcBef>
            </a:pPr>
            <a:r>
              <a:rPr dirty="0" sz="2800" spc="-20" b="1">
                <a:solidFill>
                  <a:srgbClr val="00391A"/>
                </a:solidFill>
                <a:latin typeface="Calibri"/>
                <a:cs typeface="Calibri"/>
              </a:rPr>
              <a:t>Host-</a:t>
            </a:r>
            <a:r>
              <a:rPr dirty="0" sz="2800" b="1">
                <a:solidFill>
                  <a:srgbClr val="00391A"/>
                </a:solidFill>
                <a:latin typeface="Calibri"/>
                <a:cs typeface="Calibri"/>
              </a:rPr>
              <a:t>Based </a:t>
            </a:r>
            <a:r>
              <a:rPr dirty="0" sz="2800" spc="-10" b="1">
                <a:solidFill>
                  <a:srgbClr val="00391A"/>
                </a:solidFill>
                <a:latin typeface="Calibri"/>
                <a:cs typeface="Calibri"/>
              </a:rPr>
              <a:t>Manager</a:t>
            </a:r>
            <a:endParaRPr sz="2800">
              <a:latin typeface="Calibri"/>
              <a:cs typeface="Calibri"/>
            </a:endParaRPr>
          </a:p>
          <a:p>
            <a:pPr marL="528955" indent="-285115">
              <a:lnSpc>
                <a:spcPct val="100000"/>
              </a:lnSpc>
              <a:spcBef>
                <a:spcPts val="2680"/>
              </a:spcBef>
              <a:buFont typeface="Arial MT"/>
              <a:buChar char="•"/>
              <a:tabLst>
                <a:tab pos="528955" algn="l"/>
              </a:tabLst>
            </a:pPr>
            <a:r>
              <a:rPr dirty="0" sz="2000" b="1">
                <a:latin typeface="Calibri"/>
                <a:cs typeface="Calibri"/>
              </a:rPr>
              <a:t>We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build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cluster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systems.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(Cluster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Manager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software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runs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dedicated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physical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machine)</a:t>
            </a:r>
            <a:endParaRPr sz="1600">
              <a:latin typeface="Calibri"/>
              <a:cs typeface="Calibri"/>
            </a:endParaRPr>
          </a:p>
          <a:p>
            <a:pPr marL="528955" marR="5080" indent="-285115">
              <a:lnSpc>
                <a:spcPct val="150000"/>
              </a:lnSpc>
              <a:spcBef>
                <a:spcPts val="1205"/>
              </a:spcBef>
              <a:buFont typeface="Arial MT"/>
              <a:buChar char="•"/>
              <a:tabLst>
                <a:tab pos="528955" algn="l"/>
              </a:tabLst>
            </a:pP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host-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manager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supervises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systems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restart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another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physical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1800" b="1">
                <a:latin typeface="Calibri"/>
                <a:cs typeface="Calibri"/>
              </a:rPr>
              <a:t>.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(Cluster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running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10">
                <a:latin typeface="Calibri"/>
                <a:cs typeface="Calibri"/>
              </a:rPr>
              <a:t> dedicated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physical system</a:t>
            </a:r>
            <a:r>
              <a:rPr dirty="0" sz="1200" spc="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monitors </a:t>
            </a:r>
            <a:r>
              <a:rPr dirty="0" sz="1200">
                <a:latin typeface="Calibri"/>
                <a:cs typeface="Calibri"/>
              </a:rPr>
              <a:t>functionality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virtual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cluster.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If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any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fails, starts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 VM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another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physical machine)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  <a:buFont typeface="Arial MT"/>
              <a:buChar char="•"/>
            </a:pPr>
            <a:endParaRPr sz="1200">
              <a:latin typeface="Calibri"/>
              <a:cs typeface="Calibri"/>
            </a:endParaRPr>
          </a:p>
          <a:p>
            <a:pPr marL="528955" indent="-285115">
              <a:lnSpc>
                <a:spcPct val="100000"/>
              </a:lnSpc>
              <a:buFont typeface="Arial MT"/>
              <a:buChar char="•"/>
              <a:tabLst>
                <a:tab pos="528955" algn="l"/>
              </a:tabLst>
            </a:pP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good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example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VMware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restart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after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failure.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4336" y="-5079"/>
            <a:ext cx="832104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Live</a:t>
            </a:r>
            <a:r>
              <a:rPr dirty="0" sz="3200" spc="-90"/>
              <a:t> </a:t>
            </a:r>
            <a:r>
              <a:rPr dirty="0" sz="3200"/>
              <a:t>VM</a:t>
            </a:r>
            <a:r>
              <a:rPr dirty="0" sz="3200" spc="-60"/>
              <a:t> </a:t>
            </a:r>
            <a:r>
              <a:rPr dirty="0" sz="3200"/>
              <a:t>Migration</a:t>
            </a:r>
            <a:r>
              <a:rPr dirty="0" sz="3200" spc="-100"/>
              <a:t> </a:t>
            </a:r>
            <a:r>
              <a:rPr dirty="0" sz="3200"/>
              <a:t>Steps</a:t>
            </a:r>
            <a:r>
              <a:rPr dirty="0" sz="3200" spc="-70"/>
              <a:t> </a:t>
            </a:r>
            <a:r>
              <a:rPr dirty="0" sz="3200"/>
              <a:t>and</a:t>
            </a:r>
            <a:r>
              <a:rPr dirty="0" sz="3200" spc="-75"/>
              <a:t> </a:t>
            </a:r>
            <a:r>
              <a:rPr dirty="0" sz="3200"/>
              <a:t>Performance</a:t>
            </a:r>
            <a:r>
              <a:rPr dirty="0" sz="3200" spc="-85"/>
              <a:t> </a:t>
            </a:r>
            <a:r>
              <a:rPr dirty="0" sz="3200" spc="-10"/>
              <a:t>Effects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24498"/>
            <a:ext cx="12035790" cy="6250305"/>
          </a:xfrm>
          <a:prstGeom prst="rect">
            <a:avLst/>
          </a:prstGeom>
        </p:spPr>
        <p:txBody>
          <a:bodyPr wrap="square" lIns="0" tIns="171450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35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These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two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cluster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management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either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guest-</a:t>
            </a:r>
            <a:r>
              <a:rPr dirty="0" sz="2000" b="1">
                <a:latin typeface="Calibri"/>
                <a:cs typeface="Calibri"/>
              </a:rPr>
              <a:t>only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host-</a:t>
            </a:r>
            <a:r>
              <a:rPr dirty="0" sz="2000" spc="-20" b="1">
                <a:latin typeface="Calibri"/>
                <a:cs typeface="Calibri"/>
              </a:rPr>
              <a:t>only,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but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they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not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mix.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745"/>
              </a:spcBef>
            </a:pPr>
            <a:r>
              <a:rPr dirty="0" sz="2800" spc="-10" b="1">
                <a:solidFill>
                  <a:srgbClr val="00391A"/>
                </a:solidFill>
                <a:latin typeface="Calibri"/>
                <a:cs typeface="Calibri"/>
              </a:rPr>
              <a:t>Independent</a:t>
            </a:r>
            <a:r>
              <a:rPr dirty="0" sz="2800" spc="-8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391A"/>
                </a:solidFill>
                <a:latin typeface="Calibri"/>
                <a:cs typeface="Calibri"/>
              </a:rPr>
              <a:t>cluster</a:t>
            </a:r>
            <a:r>
              <a:rPr dirty="0" sz="2800" spc="-8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391A"/>
                </a:solidFill>
                <a:latin typeface="Calibri"/>
                <a:cs typeface="Calibri"/>
              </a:rPr>
              <a:t>manager</a:t>
            </a:r>
            <a:endParaRPr sz="2800">
              <a:latin typeface="Calibri"/>
              <a:cs typeface="Calibri"/>
            </a:endParaRPr>
          </a:p>
          <a:p>
            <a:pPr marL="355600" marR="6350" indent="-342900">
              <a:lnSpc>
                <a:spcPct val="150000"/>
              </a:lnSpc>
              <a:spcBef>
                <a:spcPts val="2685"/>
              </a:spcBef>
              <a:buChar char="•"/>
              <a:tabLst>
                <a:tab pos="355600" algn="l"/>
                <a:tab pos="413384" algn="l"/>
              </a:tabLst>
            </a:pPr>
            <a:r>
              <a:rPr dirty="0" sz="2000">
                <a:latin typeface="Arial MT"/>
                <a:cs typeface="Arial MT"/>
              </a:rPr>
              <a:t>	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third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way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cluster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independent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cluster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manager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both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guest systems.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(Cluster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manager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host</a:t>
            </a:r>
            <a:r>
              <a:rPr dirty="0" sz="1400">
                <a:latin typeface="Wingdings"/>
                <a:cs typeface="Wingdings"/>
              </a:rPr>
              <a:t>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Calibri"/>
                <a:cs typeface="Calibri"/>
              </a:rPr>
              <a:t>takes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care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physical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machine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Cluster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manger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virtual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cluster</a:t>
            </a:r>
            <a:r>
              <a:rPr dirty="0" sz="1400" spc="-10">
                <a:latin typeface="Wingdings"/>
                <a:cs typeface="Wingdings"/>
              </a:rPr>
              <a:t></a:t>
            </a:r>
            <a:r>
              <a:rPr dirty="0" sz="1400" spc="-75">
                <a:latin typeface="Times New Roman"/>
                <a:cs typeface="Times New Roman"/>
              </a:rPr>
              <a:t> </a:t>
            </a:r>
            <a:r>
              <a:rPr dirty="0" sz="1400" spc="-10">
                <a:latin typeface="Calibri"/>
                <a:cs typeface="Calibri"/>
              </a:rPr>
              <a:t>takes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care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virtual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cluster)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85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will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make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infrastructure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management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more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complex,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however.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7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800" spc="-20" b="1">
                <a:solidFill>
                  <a:srgbClr val="00391A"/>
                </a:solidFill>
                <a:latin typeface="Calibri"/>
                <a:cs typeface="Calibri"/>
              </a:rPr>
              <a:t>Integrated</a:t>
            </a:r>
            <a:r>
              <a:rPr dirty="0" sz="2800" spc="-8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391A"/>
                </a:solidFill>
                <a:latin typeface="Calibri"/>
                <a:cs typeface="Calibri"/>
              </a:rPr>
              <a:t>cluster</a:t>
            </a:r>
            <a:endParaRPr sz="2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70"/>
              </a:spcBef>
            </a:pP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spc="-10" b="1">
                <a:latin typeface="Calibri"/>
                <a:cs typeface="Calibri"/>
              </a:rPr>
              <a:t>Finally,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integrated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cluster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guest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413384" indent="-4006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413384" algn="l"/>
                <a:tab pos="977265" algn="l"/>
                <a:tab pos="1814195" algn="l"/>
                <a:tab pos="2304415" algn="l"/>
                <a:tab pos="3373120" algn="l"/>
                <a:tab pos="4041140" algn="l"/>
                <a:tab pos="4445000" algn="l"/>
                <a:tab pos="5534660" algn="l"/>
                <a:tab pos="5894070" algn="l"/>
                <a:tab pos="7172959" algn="l"/>
                <a:tab pos="8241665" algn="l"/>
                <a:tab pos="9488170" algn="l"/>
                <a:tab pos="10641965" algn="l"/>
                <a:tab pos="11178540" algn="l"/>
              </a:tabLst>
            </a:pPr>
            <a:r>
              <a:rPr dirty="0" sz="2000" spc="-20" b="1">
                <a:latin typeface="Calibri"/>
                <a:cs typeface="Calibri"/>
              </a:rPr>
              <a:t>This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means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the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manager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0" b="1">
                <a:latin typeface="Calibri"/>
                <a:cs typeface="Calibri"/>
              </a:rPr>
              <a:t>must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be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designed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to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distinguish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between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virtualized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resources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and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physical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spc="-10" b="1">
                <a:latin typeface="Calibri"/>
                <a:cs typeface="Calibri"/>
              </a:rPr>
              <a:t>resources.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(One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cluster</a:t>
            </a:r>
            <a:r>
              <a:rPr dirty="0" sz="1200" spc="-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integrated</a:t>
            </a:r>
            <a:r>
              <a:rPr dirty="0" sz="1200" spc="-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with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host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cluster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guest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cluster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manager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takes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care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both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physical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machine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well</a:t>
            </a:r>
            <a:r>
              <a:rPr dirty="0" sz="1200" spc="-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as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virtual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cluster)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34336" y="-5079"/>
            <a:ext cx="832104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/>
              <a:t>Live</a:t>
            </a:r>
            <a:r>
              <a:rPr dirty="0" sz="3200" spc="-90"/>
              <a:t> </a:t>
            </a:r>
            <a:r>
              <a:rPr dirty="0" sz="3200"/>
              <a:t>VM</a:t>
            </a:r>
            <a:r>
              <a:rPr dirty="0" sz="3200" spc="-60"/>
              <a:t> </a:t>
            </a:r>
            <a:r>
              <a:rPr dirty="0" sz="3200"/>
              <a:t>Migration</a:t>
            </a:r>
            <a:r>
              <a:rPr dirty="0" sz="3200" spc="-100"/>
              <a:t> </a:t>
            </a:r>
            <a:r>
              <a:rPr dirty="0" sz="3200"/>
              <a:t>Steps</a:t>
            </a:r>
            <a:r>
              <a:rPr dirty="0" sz="3200" spc="-70"/>
              <a:t> </a:t>
            </a:r>
            <a:r>
              <a:rPr dirty="0" sz="3200"/>
              <a:t>and</a:t>
            </a:r>
            <a:r>
              <a:rPr dirty="0" sz="3200" spc="-75"/>
              <a:t> </a:t>
            </a:r>
            <a:r>
              <a:rPr dirty="0" sz="3200"/>
              <a:t>Performance</a:t>
            </a:r>
            <a:r>
              <a:rPr dirty="0" sz="3200" spc="-85"/>
              <a:t> </a:t>
            </a:r>
            <a:r>
              <a:rPr dirty="0" sz="3200" spc="-10"/>
              <a:t>Effects</a:t>
            </a:r>
            <a:endParaRPr sz="3200"/>
          </a:p>
        </p:txBody>
      </p:sp>
      <p:sp>
        <p:nvSpPr>
          <p:cNvPr id="3" name="object 3" descr=""/>
          <p:cNvSpPr txBox="1"/>
          <p:nvPr/>
        </p:nvSpPr>
        <p:spPr>
          <a:xfrm>
            <a:off x="78739" y="537035"/>
            <a:ext cx="12036425" cy="5055235"/>
          </a:xfrm>
          <a:prstGeom prst="rect">
            <a:avLst/>
          </a:prstGeom>
        </p:spPr>
        <p:txBody>
          <a:bodyPr wrap="square" lIns="0" tIns="16446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2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VMs can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 </a:t>
            </a:r>
            <a:r>
              <a:rPr dirty="0" sz="2000" spc="-20" b="1">
                <a:latin typeface="Calibri"/>
                <a:cs typeface="Calibri"/>
              </a:rPr>
              <a:t>live-</a:t>
            </a:r>
            <a:r>
              <a:rPr dirty="0" sz="2000" b="1">
                <a:latin typeface="Calibri"/>
                <a:cs typeface="Calibri"/>
              </a:rPr>
              <a:t>migrated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one physical machine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 another;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case of failure, one VM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 replaced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by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another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VM.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3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clusters</a:t>
            </a:r>
            <a:r>
              <a:rPr dirty="0" sz="2000" spc="3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3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3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applied</a:t>
            </a:r>
            <a:r>
              <a:rPr dirty="0" sz="2000" spc="3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3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computational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grids,</a:t>
            </a:r>
            <a:r>
              <a:rPr dirty="0" sz="2000" spc="3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3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platforms,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high-</a:t>
            </a:r>
            <a:r>
              <a:rPr dirty="0" sz="2000" b="1">
                <a:latin typeface="Calibri"/>
                <a:cs typeface="Calibri"/>
              </a:rPr>
              <a:t>performance</a:t>
            </a:r>
            <a:r>
              <a:rPr dirty="0" sz="2000" spc="38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computing </a:t>
            </a:r>
            <a:r>
              <a:rPr dirty="0" sz="2000" b="1">
                <a:latin typeface="Calibri"/>
                <a:cs typeface="Calibri"/>
              </a:rPr>
              <a:t>(HPC)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Live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migration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transferring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live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one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physical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another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without </a:t>
            </a:r>
            <a:r>
              <a:rPr dirty="0" sz="2000" b="1">
                <a:latin typeface="Calibri"/>
                <a:cs typeface="Calibri"/>
              </a:rPr>
              <a:t>disrupting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normal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operation.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(without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interrupting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its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operation)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5600" marR="7620" indent="-342900">
              <a:lnSpc>
                <a:spcPct val="150000"/>
              </a:lnSpc>
              <a:buChar char="•"/>
              <a:tabLst>
                <a:tab pos="355600" algn="l"/>
                <a:tab pos="400685" algn="l"/>
              </a:tabLst>
            </a:pPr>
            <a:r>
              <a:rPr dirty="0" sz="1600">
                <a:latin typeface="Arial MT"/>
                <a:cs typeface="Arial MT"/>
              </a:rPr>
              <a:t>	</a:t>
            </a:r>
            <a:r>
              <a:rPr dirty="0" sz="2000" b="1">
                <a:latin typeface="Calibri"/>
                <a:cs typeface="Calibri"/>
              </a:rPr>
              <a:t>Live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migration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enables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porting(shipping)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machines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carried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out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systematic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manner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to </a:t>
            </a:r>
            <a:r>
              <a:rPr dirty="0" sz="2000" b="1">
                <a:latin typeface="Calibri"/>
                <a:cs typeface="Calibri"/>
              </a:rPr>
              <a:t>ensure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minimal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operational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downtime.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5376" y="-71247"/>
            <a:ext cx="692213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0">
                <a:latin typeface="Calibri Light"/>
                <a:cs typeface="Calibri Light"/>
              </a:rPr>
              <a:t>Live</a:t>
            </a:r>
            <a:r>
              <a:rPr dirty="0" sz="2800" spc="-110" b="0">
                <a:latin typeface="Calibri Light"/>
                <a:cs typeface="Calibri Light"/>
              </a:rPr>
              <a:t> </a:t>
            </a:r>
            <a:r>
              <a:rPr dirty="0" sz="2800" b="0">
                <a:latin typeface="Calibri Light"/>
                <a:cs typeface="Calibri Light"/>
              </a:rPr>
              <a:t>VM</a:t>
            </a:r>
            <a:r>
              <a:rPr dirty="0" sz="2800" spc="-9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Migration</a:t>
            </a:r>
            <a:r>
              <a:rPr dirty="0" sz="2800" spc="-95" b="0">
                <a:latin typeface="Calibri Light"/>
                <a:cs typeface="Calibri Light"/>
              </a:rPr>
              <a:t> </a:t>
            </a:r>
            <a:r>
              <a:rPr dirty="0" sz="2800" spc="-20" b="0">
                <a:latin typeface="Calibri Light"/>
                <a:cs typeface="Calibri Light"/>
              </a:rPr>
              <a:t>Steps</a:t>
            </a:r>
            <a:r>
              <a:rPr dirty="0" sz="2800" spc="-110" b="0">
                <a:latin typeface="Calibri Light"/>
                <a:cs typeface="Calibri Light"/>
              </a:rPr>
              <a:t> </a:t>
            </a:r>
            <a:r>
              <a:rPr dirty="0" sz="2800" b="0">
                <a:latin typeface="Calibri Light"/>
                <a:cs typeface="Calibri Light"/>
              </a:rPr>
              <a:t>and</a:t>
            </a:r>
            <a:r>
              <a:rPr dirty="0" sz="2800" spc="-105" b="0">
                <a:latin typeface="Calibri Light"/>
                <a:cs typeface="Calibri Light"/>
              </a:rPr>
              <a:t> </a:t>
            </a:r>
            <a:r>
              <a:rPr dirty="0" sz="2800" spc="-35" b="0">
                <a:latin typeface="Calibri Light"/>
                <a:cs typeface="Calibri Light"/>
              </a:rPr>
              <a:t>Performance</a:t>
            </a:r>
            <a:r>
              <a:rPr dirty="0" sz="2800" spc="-110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Effects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06374"/>
            <a:ext cx="12035155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Below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figure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shows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life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migration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B.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migration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copies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VM </a:t>
            </a:r>
            <a:r>
              <a:rPr dirty="0" sz="2000" spc="-10" b="1">
                <a:latin typeface="Calibri"/>
                <a:cs typeface="Calibri"/>
              </a:rPr>
              <a:t>state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file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storage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area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machine.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0195" y="1484059"/>
            <a:ext cx="7057644" cy="5188853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5376" y="-71247"/>
            <a:ext cx="692213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0">
                <a:latin typeface="Calibri Light"/>
                <a:cs typeface="Calibri Light"/>
              </a:rPr>
              <a:t>Live</a:t>
            </a:r>
            <a:r>
              <a:rPr dirty="0" sz="2800" spc="-110" b="0">
                <a:latin typeface="Calibri Light"/>
                <a:cs typeface="Calibri Light"/>
              </a:rPr>
              <a:t> </a:t>
            </a:r>
            <a:r>
              <a:rPr dirty="0" sz="2800" b="0">
                <a:latin typeface="Calibri Light"/>
                <a:cs typeface="Calibri Light"/>
              </a:rPr>
              <a:t>VM</a:t>
            </a:r>
            <a:r>
              <a:rPr dirty="0" sz="2800" spc="-9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Migration</a:t>
            </a:r>
            <a:r>
              <a:rPr dirty="0" sz="2800" spc="-95" b="0">
                <a:latin typeface="Calibri Light"/>
                <a:cs typeface="Calibri Light"/>
              </a:rPr>
              <a:t> </a:t>
            </a:r>
            <a:r>
              <a:rPr dirty="0" sz="2800" spc="-20" b="0">
                <a:latin typeface="Calibri Light"/>
                <a:cs typeface="Calibri Light"/>
              </a:rPr>
              <a:t>Steps</a:t>
            </a:r>
            <a:r>
              <a:rPr dirty="0" sz="2800" spc="-110" b="0">
                <a:latin typeface="Calibri Light"/>
                <a:cs typeface="Calibri Light"/>
              </a:rPr>
              <a:t> </a:t>
            </a:r>
            <a:r>
              <a:rPr dirty="0" sz="2800" b="0">
                <a:latin typeface="Calibri Light"/>
                <a:cs typeface="Calibri Light"/>
              </a:rPr>
              <a:t>and</a:t>
            </a:r>
            <a:r>
              <a:rPr dirty="0" sz="2800" spc="-105" b="0">
                <a:latin typeface="Calibri Light"/>
                <a:cs typeface="Calibri Light"/>
              </a:rPr>
              <a:t> </a:t>
            </a:r>
            <a:r>
              <a:rPr dirty="0" sz="2800" spc="-35" b="0">
                <a:latin typeface="Calibri Light"/>
                <a:cs typeface="Calibri Light"/>
              </a:rPr>
              <a:t>Performance</a:t>
            </a:r>
            <a:r>
              <a:rPr dirty="0" sz="2800" spc="-110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Effects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28870"/>
            <a:ext cx="12036425" cy="6499860"/>
          </a:xfrm>
          <a:prstGeom prst="rect">
            <a:avLst/>
          </a:prstGeom>
        </p:spPr>
        <p:txBody>
          <a:bodyPr wrap="square" lIns="0" tIns="106680" rIns="0" bIns="0" rtlCol="0" vert="horz">
            <a:spAutoFit/>
          </a:bodyPr>
          <a:lstStyle/>
          <a:p>
            <a:pPr marL="411480" indent="-398780">
              <a:lnSpc>
                <a:spcPct val="100000"/>
              </a:lnSpc>
              <a:spcBef>
                <a:spcPts val="840"/>
              </a:spcBef>
              <a:buFont typeface="Arial MT"/>
              <a:buChar char="•"/>
              <a:tabLst>
                <a:tab pos="411480" algn="l"/>
              </a:tabLst>
            </a:pPr>
            <a:r>
              <a:rPr dirty="0" sz="2000" b="1">
                <a:latin typeface="Calibri"/>
                <a:cs typeface="Calibri"/>
              </a:rPr>
              <a:t>Live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migration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consists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following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six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steps: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8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Steps</a:t>
            </a:r>
            <a:r>
              <a:rPr dirty="0" sz="24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0</a:t>
            </a:r>
            <a:r>
              <a:rPr dirty="0" sz="24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1:</a:t>
            </a:r>
            <a:r>
              <a:rPr dirty="0" sz="24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Start</a:t>
            </a:r>
            <a:r>
              <a:rPr dirty="0" sz="24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migration</a:t>
            </a:r>
            <a:endParaRPr sz="2400">
              <a:latin typeface="Calibri"/>
              <a:cs typeface="Calibri"/>
            </a:endParaRPr>
          </a:p>
          <a:p>
            <a:pPr lvl="1" marL="760730" indent="-285115">
              <a:lnSpc>
                <a:spcPct val="100000"/>
              </a:lnSpc>
              <a:spcBef>
                <a:spcPts val="2590"/>
              </a:spcBef>
              <a:buFont typeface="Arial MT"/>
              <a:buChar char="•"/>
              <a:tabLst>
                <a:tab pos="760730" algn="l"/>
              </a:tabLst>
            </a:pPr>
            <a:r>
              <a:rPr dirty="0" sz="1800" b="1">
                <a:latin typeface="Calibri"/>
                <a:cs typeface="Calibri"/>
              </a:rPr>
              <a:t>This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step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makes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preparations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migration,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including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determining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migrating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VM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destination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host.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04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algn="just" lvl="1" marL="760730" marR="6350" indent="-285115">
              <a:lnSpc>
                <a:spcPct val="150000"/>
              </a:lnSpc>
              <a:buFont typeface="Arial MT"/>
              <a:buChar char="•"/>
              <a:tabLst>
                <a:tab pos="760730" algn="l"/>
              </a:tabLst>
            </a:pPr>
            <a:r>
              <a:rPr dirty="0" sz="1800" b="1">
                <a:latin typeface="Calibri"/>
                <a:cs typeface="Calibri"/>
              </a:rPr>
              <a:t>Although</a:t>
            </a:r>
            <a:r>
              <a:rPr dirty="0" sz="1800" spc="2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users</a:t>
            </a:r>
            <a:r>
              <a:rPr dirty="0" sz="1800" spc="2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could</a:t>
            </a:r>
            <a:r>
              <a:rPr dirty="0" sz="1800" spc="254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manually</a:t>
            </a:r>
            <a:r>
              <a:rPr dirty="0" sz="1800" spc="2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make</a:t>
            </a:r>
            <a:r>
              <a:rPr dirty="0" sz="1800" spc="2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2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VM</a:t>
            </a:r>
            <a:r>
              <a:rPr dirty="0" sz="1800" spc="2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migrate</a:t>
            </a:r>
            <a:r>
              <a:rPr dirty="0" sz="1800" spc="254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2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</a:t>
            </a:r>
            <a:r>
              <a:rPr dirty="0" sz="1800" spc="2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appointed</a:t>
            </a:r>
            <a:r>
              <a:rPr dirty="0" sz="1800" spc="2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host,</a:t>
            </a:r>
            <a:r>
              <a:rPr dirty="0" sz="1800" spc="2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2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most</a:t>
            </a:r>
            <a:r>
              <a:rPr dirty="0" sz="1800" spc="2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circumstances,</a:t>
            </a:r>
            <a:r>
              <a:rPr dirty="0" sz="1800" spc="254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2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migration</a:t>
            </a:r>
            <a:r>
              <a:rPr dirty="0" sz="1800" spc="250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is </a:t>
            </a:r>
            <a:r>
              <a:rPr dirty="0" sz="1800" b="1">
                <a:latin typeface="Calibri"/>
                <a:cs typeface="Calibri"/>
              </a:rPr>
              <a:t>automatically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started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strategies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such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as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load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balancing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server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consolidation.</a:t>
            </a: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80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Steps</a:t>
            </a:r>
            <a:r>
              <a:rPr dirty="0" sz="24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2:</a:t>
            </a:r>
            <a:r>
              <a:rPr dirty="0" sz="24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30" b="1">
                <a:solidFill>
                  <a:srgbClr val="C00000"/>
                </a:solidFill>
                <a:latin typeface="Calibri"/>
                <a:cs typeface="Calibri"/>
              </a:rPr>
              <a:t>Transfer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memory</a:t>
            </a:r>
            <a:endParaRPr sz="2400">
              <a:latin typeface="Calibri"/>
              <a:cs typeface="Calibri"/>
            </a:endParaRPr>
          </a:p>
          <a:p>
            <a:pPr algn="just" lvl="1" marL="760730" marR="5715" indent="-285115">
              <a:lnSpc>
                <a:spcPct val="150000"/>
              </a:lnSpc>
              <a:spcBef>
                <a:spcPts val="1510"/>
              </a:spcBef>
              <a:buFont typeface="Arial MT"/>
              <a:buChar char="•"/>
              <a:tabLst>
                <a:tab pos="760730" algn="l"/>
              </a:tabLst>
            </a:pPr>
            <a:r>
              <a:rPr dirty="0" sz="1800" b="1">
                <a:latin typeface="Calibri"/>
                <a:cs typeface="Calibri"/>
              </a:rPr>
              <a:t>Since</a:t>
            </a:r>
            <a:r>
              <a:rPr dirty="0" sz="1800" spc="1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1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whole</a:t>
            </a:r>
            <a:r>
              <a:rPr dirty="0" sz="1800" spc="1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execution</a:t>
            </a:r>
            <a:r>
              <a:rPr dirty="0" sz="1800" spc="1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state</a:t>
            </a:r>
            <a:r>
              <a:rPr dirty="0" sz="1800" spc="1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1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1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VM</a:t>
            </a:r>
            <a:r>
              <a:rPr dirty="0" sz="1800" spc="1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1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stored</a:t>
            </a:r>
            <a:r>
              <a:rPr dirty="0" sz="1800" spc="1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1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memory,</a:t>
            </a:r>
            <a:r>
              <a:rPr dirty="0" sz="1800" spc="1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sending</a:t>
            </a:r>
            <a:r>
              <a:rPr dirty="0" sz="1800" spc="1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1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VM’s</a:t>
            </a:r>
            <a:r>
              <a:rPr dirty="0" sz="1800" spc="1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memory</a:t>
            </a:r>
            <a:r>
              <a:rPr dirty="0" sz="1800" spc="1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1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1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destination</a:t>
            </a:r>
            <a:r>
              <a:rPr dirty="0" sz="1800" spc="14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node </a:t>
            </a:r>
            <a:r>
              <a:rPr dirty="0" sz="1800" b="1">
                <a:latin typeface="Calibri"/>
                <a:cs typeface="Calibri"/>
              </a:rPr>
              <a:t>ensures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continuity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service</a:t>
            </a:r>
            <a:r>
              <a:rPr dirty="0" sz="1800" spc="-10" b="1">
                <a:latin typeface="Calibri"/>
                <a:cs typeface="Calibri"/>
              </a:rPr>
              <a:t> provided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25" b="1">
                <a:latin typeface="Calibri"/>
                <a:cs typeface="Calibri"/>
              </a:rPr>
              <a:t> VM.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204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algn="just" lvl="1" marL="760730" marR="5080" indent="-285115">
              <a:lnSpc>
                <a:spcPct val="150000"/>
              </a:lnSpc>
              <a:buFont typeface="Arial MT"/>
              <a:buChar char="•"/>
              <a:tabLst>
                <a:tab pos="760730" algn="l"/>
              </a:tabLst>
            </a:pPr>
            <a:r>
              <a:rPr dirty="0" sz="1800" b="1">
                <a:latin typeface="Calibri"/>
                <a:cs typeface="Calibri"/>
              </a:rPr>
              <a:t>All</a:t>
            </a:r>
            <a:r>
              <a:rPr dirty="0" sz="1800" spc="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8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8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memory</a:t>
            </a:r>
            <a:r>
              <a:rPr dirty="0" sz="1800" spc="8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data</a:t>
            </a:r>
            <a:r>
              <a:rPr dirty="0" sz="1800" spc="8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transferred</a:t>
            </a:r>
            <a:r>
              <a:rPr dirty="0" sz="1800" spc="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first</a:t>
            </a:r>
            <a:r>
              <a:rPr dirty="0" sz="1800" spc="8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round,</a:t>
            </a:r>
            <a:r>
              <a:rPr dirty="0" sz="1800" spc="9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then</a:t>
            </a:r>
            <a:r>
              <a:rPr dirty="0" sz="1800" spc="8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migration</a:t>
            </a:r>
            <a:r>
              <a:rPr dirty="0" sz="1800" spc="9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controller</a:t>
            </a:r>
            <a:r>
              <a:rPr dirty="0" sz="1800" spc="8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recopies</a:t>
            </a:r>
            <a:r>
              <a:rPr dirty="0" sz="1800" spc="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9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memory</a:t>
            </a:r>
            <a:r>
              <a:rPr dirty="0" sz="1800" spc="7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data </a:t>
            </a:r>
            <a:r>
              <a:rPr dirty="0" sz="1800" b="1">
                <a:latin typeface="Calibri"/>
                <a:cs typeface="Calibri"/>
              </a:rPr>
              <a:t>which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changed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last</a:t>
            </a:r>
            <a:r>
              <a:rPr dirty="0" sz="1800" spc="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round.</a:t>
            </a:r>
            <a:r>
              <a:rPr dirty="0" sz="1800" spc="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These</a:t>
            </a:r>
            <a:r>
              <a:rPr dirty="0" sz="1800" spc="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steps</a:t>
            </a:r>
            <a:r>
              <a:rPr dirty="0" sz="1800" spc="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keep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iterating</a:t>
            </a:r>
            <a:r>
              <a:rPr dirty="0" sz="1800" spc="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until</a:t>
            </a:r>
            <a:r>
              <a:rPr dirty="0" sz="1800" spc="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dirty</a:t>
            </a:r>
            <a:r>
              <a:rPr dirty="0" sz="1800" spc="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portion</a:t>
            </a:r>
            <a:r>
              <a:rPr dirty="0" sz="1800" spc="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memory</a:t>
            </a:r>
            <a:r>
              <a:rPr dirty="0" sz="1800" spc="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small</a:t>
            </a:r>
            <a:r>
              <a:rPr dirty="0" sz="1800" spc="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enough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to </a:t>
            </a:r>
            <a:r>
              <a:rPr dirty="0" sz="1800" b="1">
                <a:latin typeface="Calibri"/>
                <a:cs typeface="Calibri"/>
              </a:rPr>
              <a:t>handle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final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copy.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285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lvl="1" marL="760730" indent="-285115">
              <a:lnSpc>
                <a:spcPct val="100000"/>
              </a:lnSpc>
              <a:buFont typeface="Arial MT"/>
              <a:buChar char="•"/>
              <a:tabLst>
                <a:tab pos="760730" algn="l"/>
              </a:tabLst>
            </a:pPr>
            <a:r>
              <a:rPr dirty="0" sz="1800" b="1">
                <a:latin typeface="Calibri"/>
                <a:cs typeface="Calibri"/>
              </a:rPr>
              <a:t>Although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precopying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memory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performed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iteratively,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execution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programs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not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obviously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interrupted.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5376" y="-71247"/>
            <a:ext cx="6922134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0">
                <a:latin typeface="Calibri Light"/>
                <a:cs typeface="Calibri Light"/>
              </a:rPr>
              <a:t>Live</a:t>
            </a:r>
            <a:r>
              <a:rPr dirty="0" sz="2800" spc="-110" b="0">
                <a:latin typeface="Calibri Light"/>
                <a:cs typeface="Calibri Light"/>
              </a:rPr>
              <a:t> </a:t>
            </a:r>
            <a:r>
              <a:rPr dirty="0" sz="2800" b="0">
                <a:latin typeface="Calibri Light"/>
                <a:cs typeface="Calibri Light"/>
              </a:rPr>
              <a:t>VM</a:t>
            </a:r>
            <a:r>
              <a:rPr dirty="0" sz="2800" spc="-9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Migration</a:t>
            </a:r>
            <a:r>
              <a:rPr dirty="0" sz="2800" spc="-95" b="0">
                <a:latin typeface="Calibri Light"/>
                <a:cs typeface="Calibri Light"/>
              </a:rPr>
              <a:t> </a:t>
            </a:r>
            <a:r>
              <a:rPr dirty="0" sz="2800" spc="-20" b="0">
                <a:latin typeface="Calibri Light"/>
                <a:cs typeface="Calibri Light"/>
              </a:rPr>
              <a:t>Steps</a:t>
            </a:r>
            <a:r>
              <a:rPr dirty="0" sz="2800" spc="-110" b="0">
                <a:latin typeface="Calibri Light"/>
                <a:cs typeface="Calibri Light"/>
              </a:rPr>
              <a:t> </a:t>
            </a:r>
            <a:r>
              <a:rPr dirty="0" sz="2800" b="0">
                <a:latin typeface="Calibri Light"/>
                <a:cs typeface="Calibri Light"/>
              </a:rPr>
              <a:t>and</a:t>
            </a:r>
            <a:r>
              <a:rPr dirty="0" sz="2800" spc="-105" b="0">
                <a:latin typeface="Calibri Light"/>
                <a:cs typeface="Calibri Light"/>
              </a:rPr>
              <a:t> </a:t>
            </a:r>
            <a:r>
              <a:rPr dirty="0" sz="2800" spc="-35" b="0">
                <a:latin typeface="Calibri Light"/>
                <a:cs typeface="Calibri Light"/>
              </a:rPr>
              <a:t>Performance</a:t>
            </a:r>
            <a:r>
              <a:rPr dirty="0" sz="2800" spc="-110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Effects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49230"/>
            <a:ext cx="12035155" cy="642429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411480" indent="-398780">
              <a:lnSpc>
                <a:spcPct val="100000"/>
              </a:lnSpc>
              <a:spcBef>
                <a:spcPts val="680"/>
              </a:spcBef>
              <a:buFont typeface="Arial MT"/>
              <a:buChar char="•"/>
              <a:tabLst>
                <a:tab pos="411480" algn="l"/>
              </a:tabLst>
            </a:pPr>
            <a:r>
              <a:rPr dirty="0" sz="2000" b="1">
                <a:latin typeface="Calibri"/>
                <a:cs typeface="Calibri"/>
              </a:rPr>
              <a:t>Live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migration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consists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following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six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steps: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690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Step</a:t>
            </a:r>
            <a:r>
              <a:rPr dirty="0" sz="24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3:</a:t>
            </a:r>
            <a:r>
              <a:rPr dirty="0" sz="24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Suspend</a:t>
            </a:r>
            <a:r>
              <a:rPr dirty="0" sz="24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24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VM</a:t>
            </a:r>
            <a:r>
              <a:rPr dirty="0" sz="24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copy</a:t>
            </a:r>
            <a:r>
              <a:rPr dirty="0" sz="24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24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last</a:t>
            </a:r>
            <a:r>
              <a:rPr dirty="0" sz="24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portion</a:t>
            </a:r>
            <a:r>
              <a:rPr dirty="0" sz="2400" spc="-8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4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24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C00000"/>
                </a:solidFill>
                <a:latin typeface="Calibri"/>
                <a:cs typeface="Calibri"/>
              </a:rPr>
              <a:t>data</a:t>
            </a:r>
            <a:endParaRPr sz="2400">
              <a:latin typeface="Calibri"/>
              <a:cs typeface="Calibri"/>
            </a:endParaRPr>
          </a:p>
          <a:p>
            <a:pPr lvl="1" marL="528955" indent="-342900">
              <a:lnSpc>
                <a:spcPct val="100000"/>
              </a:lnSpc>
              <a:spcBef>
                <a:spcPts val="2014"/>
              </a:spcBef>
              <a:buFont typeface="Arial MT"/>
              <a:buChar char="•"/>
              <a:tabLst>
                <a:tab pos="528955" algn="l"/>
              </a:tabLst>
            </a:pP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migrating</a:t>
            </a:r>
            <a:r>
              <a:rPr dirty="0" sz="1900" spc="-70" b="1">
                <a:latin typeface="Calibri"/>
                <a:cs typeface="Calibri"/>
              </a:rPr>
              <a:t> </a:t>
            </a:r>
            <a:r>
              <a:rPr dirty="0" sz="1900" spc="-20" b="1">
                <a:latin typeface="Calibri"/>
                <a:cs typeface="Calibri"/>
              </a:rPr>
              <a:t>VM’s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execution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is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suspended</a:t>
            </a:r>
            <a:r>
              <a:rPr dirty="0" sz="1900" spc="-1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when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last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spc="-20" b="1">
                <a:latin typeface="Calibri"/>
                <a:cs typeface="Calibri"/>
              </a:rPr>
              <a:t>round’s</a:t>
            </a:r>
            <a:r>
              <a:rPr dirty="0" sz="1900" spc="-2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memory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data</a:t>
            </a:r>
            <a:r>
              <a:rPr dirty="0" sz="1900" spc="-5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is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transferred.</a:t>
            </a:r>
            <a:endParaRPr sz="19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220"/>
              </a:spcBef>
              <a:buFont typeface="Arial MT"/>
              <a:buChar char="•"/>
            </a:pPr>
            <a:endParaRPr sz="1900">
              <a:latin typeface="Calibri"/>
              <a:cs typeface="Calibri"/>
            </a:endParaRPr>
          </a:p>
          <a:p>
            <a:pPr lvl="1" marL="528955" indent="-342900">
              <a:lnSpc>
                <a:spcPct val="100000"/>
              </a:lnSpc>
              <a:buFont typeface="Arial MT"/>
              <a:buChar char="•"/>
              <a:tabLst>
                <a:tab pos="528955" algn="l"/>
              </a:tabLst>
            </a:pPr>
            <a:r>
              <a:rPr dirty="0" sz="1900" b="1">
                <a:latin typeface="Calibri"/>
                <a:cs typeface="Calibri"/>
              </a:rPr>
              <a:t>Other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nonmemory</a:t>
            </a:r>
            <a:r>
              <a:rPr dirty="0" sz="1900" spc="-2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data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such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as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CPU</a:t>
            </a:r>
            <a:r>
              <a:rPr dirty="0" sz="1900" spc="-6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and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network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states</a:t>
            </a:r>
            <a:r>
              <a:rPr dirty="0" sz="1900" spc="-2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should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be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sent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as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well.</a:t>
            </a:r>
            <a:endParaRPr sz="19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80"/>
              </a:spcBef>
              <a:buFont typeface="Arial MT"/>
              <a:buChar char="•"/>
            </a:pPr>
            <a:endParaRPr sz="1900">
              <a:latin typeface="Calibri"/>
              <a:cs typeface="Calibri"/>
            </a:endParaRPr>
          </a:p>
          <a:p>
            <a:pPr lvl="1" marL="528955" marR="5080" indent="-342900">
              <a:lnSpc>
                <a:spcPct val="150100"/>
              </a:lnSpc>
              <a:buFont typeface="Arial MT"/>
              <a:buChar char="•"/>
              <a:tabLst>
                <a:tab pos="528955" algn="l"/>
              </a:tabLst>
            </a:pPr>
            <a:r>
              <a:rPr dirty="0" sz="1900" b="1">
                <a:latin typeface="Calibri"/>
                <a:cs typeface="Calibri"/>
              </a:rPr>
              <a:t>During this</a:t>
            </a:r>
            <a:r>
              <a:rPr dirty="0" sz="1900" spc="1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step,</a:t>
            </a:r>
            <a:r>
              <a:rPr dirty="0" sz="1900" spc="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VM</a:t>
            </a:r>
            <a:r>
              <a:rPr dirty="0" sz="1900" spc="-1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is</a:t>
            </a:r>
            <a:r>
              <a:rPr dirty="0" sz="1900" spc="-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stopped</a:t>
            </a:r>
            <a:r>
              <a:rPr dirty="0" sz="1900" spc="-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and its</a:t>
            </a:r>
            <a:r>
              <a:rPr dirty="0" sz="1900" spc="-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applications</a:t>
            </a:r>
            <a:r>
              <a:rPr dirty="0" sz="1900" spc="1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will no</a:t>
            </a:r>
            <a:r>
              <a:rPr dirty="0" sz="1900" spc="-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longer run. This</a:t>
            </a:r>
            <a:r>
              <a:rPr dirty="0" sz="1900" spc="-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“service</a:t>
            </a:r>
            <a:r>
              <a:rPr dirty="0" sz="1900" spc="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unavailable”</a:t>
            </a:r>
            <a:r>
              <a:rPr dirty="0" sz="1900" spc="1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time is</a:t>
            </a:r>
            <a:r>
              <a:rPr dirty="0" sz="1900" spc="-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called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“downtime”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of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migration,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which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should</a:t>
            </a:r>
            <a:r>
              <a:rPr dirty="0" sz="1900" spc="-2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be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as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short</a:t>
            </a:r>
            <a:r>
              <a:rPr dirty="0" sz="1900" spc="-1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as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possible</a:t>
            </a:r>
            <a:r>
              <a:rPr dirty="0" sz="1900" spc="-1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so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that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it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can</a:t>
            </a:r>
            <a:r>
              <a:rPr dirty="0" sz="1900" spc="-2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be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negligible</a:t>
            </a:r>
            <a:r>
              <a:rPr dirty="0" sz="1900" spc="-2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to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users.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35"/>
              </a:spcBef>
              <a:buFont typeface="Wingdings"/>
              <a:buChar char=""/>
              <a:tabLst>
                <a:tab pos="354965" algn="l"/>
              </a:tabLst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Steps</a:t>
            </a:r>
            <a:r>
              <a:rPr dirty="0" sz="24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4</a:t>
            </a:r>
            <a:r>
              <a:rPr dirty="0" sz="24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5:</a:t>
            </a:r>
            <a:r>
              <a:rPr dirty="0" sz="24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Commit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activate</a:t>
            </a:r>
            <a:r>
              <a:rPr dirty="0" sz="24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the</a:t>
            </a:r>
            <a:r>
              <a:rPr dirty="0" sz="24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new</a:t>
            </a:r>
            <a:r>
              <a:rPr dirty="0" sz="24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C00000"/>
                </a:solidFill>
                <a:latin typeface="Calibri"/>
                <a:cs typeface="Calibri"/>
              </a:rPr>
              <a:t>host</a:t>
            </a:r>
            <a:endParaRPr sz="2400">
              <a:latin typeface="Calibri"/>
              <a:cs typeface="Calibri"/>
            </a:endParaRPr>
          </a:p>
          <a:p>
            <a:pPr lvl="1" marL="528955" indent="-348615">
              <a:lnSpc>
                <a:spcPct val="100000"/>
              </a:lnSpc>
              <a:spcBef>
                <a:spcPts val="2014"/>
              </a:spcBef>
              <a:buFont typeface="Arial MT"/>
              <a:buChar char="•"/>
              <a:tabLst>
                <a:tab pos="528955" algn="l"/>
              </a:tabLst>
            </a:pPr>
            <a:r>
              <a:rPr dirty="0" sz="1900" b="1">
                <a:latin typeface="Calibri"/>
                <a:cs typeface="Calibri"/>
              </a:rPr>
              <a:t>After</a:t>
            </a:r>
            <a:r>
              <a:rPr dirty="0" sz="1900" spc="-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all</a:t>
            </a:r>
            <a:r>
              <a:rPr dirty="0" sz="1900" spc="1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1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needed</a:t>
            </a:r>
            <a:r>
              <a:rPr dirty="0" sz="1900" spc="1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data</a:t>
            </a:r>
            <a:r>
              <a:rPr dirty="0" sz="1900" spc="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is</a:t>
            </a:r>
            <a:r>
              <a:rPr dirty="0" sz="1900" spc="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copied,</a:t>
            </a:r>
            <a:r>
              <a:rPr dirty="0" sz="1900" spc="1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on</a:t>
            </a:r>
            <a:r>
              <a:rPr dirty="0" sz="1900" spc="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1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destination</a:t>
            </a:r>
            <a:r>
              <a:rPr dirty="0" sz="1900" spc="1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host,</a:t>
            </a:r>
            <a:r>
              <a:rPr dirty="0" sz="1900" spc="1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VM</a:t>
            </a:r>
            <a:r>
              <a:rPr dirty="0" sz="1900" spc="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reloads</a:t>
            </a:r>
            <a:r>
              <a:rPr dirty="0" sz="1900" spc="1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1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states</a:t>
            </a:r>
            <a:r>
              <a:rPr dirty="0" sz="1900" spc="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and</a:t>
            </a:r>
            <a:r>
              <a:rPr dirty="0" sz="1900" spc="1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recovers</a:t>
            </a:r>
            <a:r>
              <a:rPr dirty="0" sz="1900" spc="1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1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execution</a:t>
            </a:r>
            <a:endParaRPr sz="1900">
              <a:latin typeface="Calibri"/>
              <a:cs typeface="Calibri"/>
            </a:endParaRPr>
          </a:p>
          <a:p>
            <a:pPr marL="528955">
              <a:lnSpc>
                <a:spcPct val="100000"/>
              </a:lnSpc>
              <a:spcBef>
                <a:spcPts val="1140"/>
              </a:spcBef>
            </a:pPr>
            <a:r>
              <a:rPr dirty="0" sz="1900" b="1">
                <a:latin typeface="Calibri"/>
                <a:cs typeface="Calibri"/>
              </a:rPr>
              <a:t>of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programs</a:t>
            </a:r>
            <a:r>
              <a:rPr dirty="0" sz="1900" spc="-2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in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it,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and</a:t>
            </a:r>
            <a:r>
              <a:rPr dirty="0" sz="1900" spc="-2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service</a:t>
            </a:r>
            <a:r>
              <a:rPr dirty="0" sz="1900" spc="-1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provided</a:t>
            </a:r>
            <a:r>
              <a:rPr dirty="0" sz="1900" spc="-2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by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this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VM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continues.</a:t>
            </a:r>
            <a:endParaRPr sz="19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900">
              <a:latin typeface="Calibri"/>
              <a:cs typeface="Calibri"/>
            </a:endParaRPr>
          </a:p>
          <a:p>
            <a:pPr lvl="1" marL="528955" indent="-348615">
              <a:lnSpc>
                <a:spcPct val="100000"/>
              </a:lnSpc>
              <a:buFont typeface="Arial MT"/>
              <a:buChar char="•"/>
              <a:tabLst>
                <a:tab pos="528955" algn="l"/>
              </a:tabLst>
            </a:pPr>
            <a:r>
              <a:rPr dirty="0" sz="1900" b="1">
                <a:latin typeface="Calibri"/>
                <a:cs typeface="Calibri"/>
              </a:rPr>
              <a:t>Then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network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connection is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redirected</a:t>
            </a:r>
            <a:r>
              <a:rPr dirty="0" sz="1900" spc="-2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to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new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VM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and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dependency to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source</a:t>
            </a:r>
            <a:r>
              <a:rPr dirty="0" sz="1900" spc="-2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host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is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cleared.</a:t>
            </a:r>
            <a:endParaRPr sz="19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225"/>
              </a:spcBef>
              <a:buFont typeface="Arial MT"/>
              <a:buChar char="•"/>
            </a:pPr>
            <a:endParaRPr sz="1900">
              <a:latin typeface="Calibri"/>
              <a:cs typeface="Calibri"/>
            </a:endParaRPr>
          </a:p>
          <a:p>
            <a:pPr lvl="1" marL="528955" indent="-348615">
              <a:lnSpc>
                <a:spcPct val="100000"/>
              </a:lnSpc>
              <a:buFont typeface="Arial MT"/>
              <a:buChar char="•"/>
              <a:tabLst>
                <a:tab pos="528955" algn="l"/>
              </a:tabLst>
            </a:pP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whole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migration</a:t>
            </a:r>
            <a:r>
              <a:rPr dirty="0" sz="1900" spc="-5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process</a:t>
            </a:r>
            <a:r>
              <a:rPr dirty="0" sz="1900" spc="-1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finishes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by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removing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original</a:t>
            </a:r>
            <a:r>
              <a:rPr dirty="0" sz="1900" spc="-6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VM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from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source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host.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76242" y="2519933"/>
            <a:ext cx="4237990" cy="17780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1500" spc="-70">
                <a:solidFill>
                  <a:srgbClr val="00391A"/>
                </a:solidFill>
              </a:rPr>
              <a:t>UNIT-</a:t>
            </a:r>
            <a:r>
              <a:rPr dirty="0" sz="11500" spc="-50">
                <a:solidFill>
                  <a:srgbClr val="00391A"/>
                </a:solidFill>
              </a:rPr>
              <a:t>3</a:t>
            </a:r>
            <a:endParaRPr sz="11500"/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7124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49960"/>
            <a:ext cx="91738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Extended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Computing</a:t>
            </a:r>
            <a:r>
              <a:rPr dirty="0" sz="24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Services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various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cloud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service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models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their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extensions)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3729329"/>
            <a:ext cx="12040235" cy="2921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9085" marR="5080" indent="-2870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 b="1">
                <a:latin typeface="Calibri"/>
                <a:cs typeface="Calibri"/>
              </a:rPr>
              <a:t>Figure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shows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six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layers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services,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ranging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hardware,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network,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collocation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infrastructure, </a:t>
            </a:r>
            <a:r>
              <a:rPr dirty="0" sz="2000" b="1">
                <a:latin typeface="Calibri"/>
                <a:cs typeface="Calibri"/>
              </a:rPr>
              <a:t>platform,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applications.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top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three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layers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SaaS,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PaaS,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IaaS.</a:t>
            </a:r>
            <a:endParaRPr sz="2000">
              <a:latin typeface="Calibri"/>
              <a:cs typeface="Calibri"/>
            </a:endParaRPr>
          </a:p>
          <a:p>
            <a:pPr marL="299085" marR="10795" indent="-287020">
              <a:lnSpc>
                <a:spcPct val="150100"/>
              </a:lnSpc>
              <a:spcBef>
                <a:spcPts val="239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3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</a:t>
            </a:r>
            <a:r>
              <a:rPr dirty="0" sz="2000" spc="3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PaaS,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which</a:t>
            </a:r>
            <a:r>
              <a:rPr dirty="0" sz="2000" spc="3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sits</a:t>
            </a:r>
            <a:r>
              <a:rPr dirty="0" sz="2000" spc="3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3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top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IaaS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infrastructure.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top</a:t>
            </a:r>
            <a:r>
              <a:rPr dirty="0" sz="2000" spc="3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layer</a:t>
            </a:r>
            <a:r>
              <a:rPr dirty="0" sz="2000" spc="3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offers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SaaS. </a:t>
            </a:r>
            <a:r>
              <a:rPr dirty="0" sz="2000" b="1">
                <a:latin typeface="Calibri"/>
                <a:cs typeface="Calibri"/>
              </a:rPr>
              <a:t>Although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three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basic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models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dissimilar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usage,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they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built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top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another.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142744" y="809244"/>
            <a:ext cx="7505700" cy="3173095"/>
            <a:chOff x="2142744" y="809244"/>
            <a:chExt cx="7505700" cy="317309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2744" y="809244"/>
              <a:ext cx="7505700" cy="2967228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19727" y="3755136"/>
              <a:ext cx="4666487" cy="2270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7124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49960"/>
            <a:ext cx="91738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Extended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Computing</a:t>
            </a:r>
            <a:r>
              <a:rPr dirty="0" sz="24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Services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various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cloud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service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models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their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extensions)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739" y="2917737"/>
            <a:ext cx="12037060" cy="389509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bottom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three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layers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more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related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physical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requirements.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bottommost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layer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Hardware</a:t>
            </a:r>
            <a:endParaRPr sz="20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484"/>
              </a:spcBef>
            </a:pP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 </a:t>
            </a:r>
            <a:r>
              <a:rPr dirty="0" sz="2000" spc="-10" b="1">
                <a:latin typeface="Calibri"/>
                <a:cs typeface="Calibri"/>
              </a:rPr>
              <a:t>(HaaS).</a:t>
            </a:r>
            <a:endParaRPr sz="2000">
              <a:latin typeface="Calibri"/>
              <a:cs typeface="Calibri"/>
            </a:endParaRPr>
          </a:p>
          <a:p>
            <a:pPr algn="just" marL="299085" marR="6350" indent="-287020">
              <a:lnSpc>
                <a:spcPct val="120000"/>
              </a:lnSpc>
              <a:spcBef>
                <a:spcPts val="1800"/>
              </a:spcBef>
              <a:buSzPct val="90000"/>
              <a:buFont typeface="Arial MT"/>
              <a:buChar char="•"/>
              <a:tabLst>
                <a:tab pos="299085" algn="l"/>
                <a:tab pos="349885" algn="l"/>
              </a:tabLst>
            </a:pP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next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layer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interconnecting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components,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simply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called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Service </a:t>
            </a:r>
            <a:r>
              <a:rPr dirty="0" sz="2000" b="1">
                <a:latin typeface="Calibri"/>
                <a:cs typeface="Calibri"/>
              </a:rPr>
              <a:t>(NaaS).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(allowing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companies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up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their</a:t>
            </a:r>
            <a:r>
              <a:rPr dirty="0" sz="1400" spc="-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own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networks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entirely </a:t>
            </a:r>
            <a:r>
              <a:rPr dirty="0" sz="1400">
                <a:latin typeface="Calibri"/>
                <a:cs typeface="Calibri"/>
              </a:rPr>
              <a:t>without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hardware).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LANs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fall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within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scope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NaaS.</a:t>
            </a:r>
            <a:endParaRPr sz="2000">
              <a:latin typeface="Calibri"/>
              <a:cs typeface="Calibri"/>
            </a:endParaRPr>
          </a:p>
          <a:p>
            <a:pPr algn="just" marL="295910" marR="6350" indent="-283845">
              <a:lnSpc>
                <a:spcPct val="119000"/>
              </a:lnSpc>
              <a:spcBef>
                <a:spcPts val="182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 b="1">
                <a:latin typeface="Calibri"/>
                <a:cs typeface="Calibri"/>
              </a:rPr>
              <a:t>The next layer up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offers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Location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 a Service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(LaaS),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which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 collocation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house,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power,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and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secure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physical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resources.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(LaaS</a:t>
            </a:r>
            <a:r>
              <a:rPr dirty="0" sz="1400" spc="1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is</a:t>
            </a:r>
            <a:r>
              <a:rPr dirty="0" sz="1400" spc="1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1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facility</a:t>
            </a:r>
            <a:r>
              <a:rPr dirty="0" sz="1400" spc="1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1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offers</a:t>
            </a:r>
            <a:r>
              <a:rPr dirty="0" sz="1400" spc="1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space</a:t>
            </a:r>
            <a:r>
              <a:rPr dirty="0" sz="1400" spc="10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114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1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proper</a:t>
            </a:r>
            <a:r>
              <a:rPr dirty="0" sz="1400" spc="1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power,</a:t>
            </a:r>
            <a:r>
              <a:rPr dirty="0" sz="1400" spc="1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cooling</a:t>
            </a:r>
            <a:r>
              <a:rPr dirty="0" sz="1400" spc="110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and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security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host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businesses’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computing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hardware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servers).</a:t>
            </a:r>
            <a:endParaRPr sz="1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218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infrastructure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layer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further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subdivided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(DaaS)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Communication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spc="-50" b="1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299085">
              <a:lnSpc>
                <a:spcPct val="100000"/>
              </a:lnSpc>
              <a:spcBef>
                <a:spcPts val="480"/>
              </a:spcBef>
            </a:pP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(CaaS)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addition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compute.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2142744" y="827532"/>
            <a:ext cx="7505700" cy="2025014"/>
            <a:chOff x="2142744" y="827532"/>
            <a:chExt cx="7505700" cy="2025014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142744" y="827532"/>
              <a:ext cx="7505700" cy="1825752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43140" y="2681668"/>
              <a:ext cx="4586687" cy="17030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7124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55052"/>
            <a:ext cx="12035790" cy="6341745"/>
          </a:xfrm>
          <a:prstGeom prst="rect">
            <a:avLst/>
          </a:prstGeom>
        </p:spPr>
        <p:txBody>
          <a:bodyPr wrap="square" lIns="0" tIns="1073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Extended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Computing</a:t>
            </a:r>
            <a:r>
              <a:rPr dirty="0" sz="24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Services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various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cloud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service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models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their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extensions)</a:t>
            </a:r>
            <a:endParaRPr sz="16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183515" algn="l"/>
              </a:tabLst>
            </a:pPr>
            <a:r>
              <a:rPr dirty="0" sz="2000">
                <a:latin typeface="Calibri"/>
                <a:cs typeface="Calibri"/>
              </a:rPr>
              <a:t>As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shown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Table,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players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are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divided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into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three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classes:</a:t>
            </a:r>
            <a:endParaRPr sz="2000">
              <a:latin typeface="Calibri"/>
              <a:cs typeface="Calibri"/>
            </a:endParaRPr>
          </a:p>
          <a:p>
            <a:pPr lvl="1" marL="977265" indent="-342900">
              <a:lnSpc>
                <a:spcPct val="100000"/>
              </a:lnSpc>
              <a:spcBef>
                <a:spcPts val="1825"/>
              </a:spcBef>
              <a:buFont typeface="Wingdings"/>
              <a:buChar char=""/>
              <a:tabLst>
                <a:tab pos="977265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service</a:t>
            </a:r>
            <a:r>
              <a:rPr dirty="0" sz="2000" spc="-1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providers</a:t>
            </a:r>
            <a:r>
              <a:rPr dirty="0" sz="20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0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IT</a:t>
            </a:r>
            <a:r>
              <a:rPr dirty="0" sz="20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Administrators</a:t>
            </a:r>
            <a:endParaRPr sz="2000">
              <a:latin typeface="Calibri"/>
              <a:cs typeface="Calibri"/>
            </a:endParaRPr>
          </a:p>
          <a:p>
            <a:pPr lvl="1" marL="977265" indent="-342900">
              <a:lnSpc>
                <a:spcPct val="100000"/>
              </a:lnSpc>
              <a:spcBef>
                <a:spcPts val="2210"/>
              </a:spcBef>
              <a:buFont typeface="Wingdings"/>
              <a:buChar char=""/>
              <a:tabLst>
                <a:tab pos="977265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Software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developers</a:t>
            </a:r>
            <a:r>
              <a:rPr dirty="0" sz="20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or</a:t>
            </a:r>
            <a:r>
              <a:rPr dirty="0" sz="20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C00000"/>
                </a:solidFill>
                <a:latin typeface="Calibri"/>
                <a:cs typeface="Calibri"/>
              </a:rPr>
              <a:t>Vendors</a:t>
            </a:r>
            <a:endParaRPr sz="2000">
              <a:latin typeface="Calibri"/>
              <a:cs typeface="Calibri"/>
            </a:endParaRPr>
          </a:p>
          <a:p>
            <a:pPr lvl="1" marL="977265" indent="-342900">
              <a:lnSpc>
                <a:spcPct val="100000"/>
              </a:lnSpc>
              <a:spcBef>
                <a:spcPts val="2195"/>
              </a:spcBef>
              <a:buFont typeface="Wingdings"/>
              <a:buChar char=""/>
              <a:tabLst>
                <a:tab pos="977265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End</a:t>
            </a:r>
            <a:r>
              <a:rPr dirty="0" sz="20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Users</a:t>
            </a:r>
            <a:r>
              <a:rPr dirty="0" sz="20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or</a:t>
            </a:r>
            <a:r>
              <a:rPr dirty="0" sz="20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Business</a:t>
            </a:r>
            <a:r>
              <a:rPr dirty="0" sz="20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spc="-20" b="1">
                <a:solidFill>
                  <a:srgbClr val="C00000"/>
                </a:solidFill>
                <a:latin typeface="Calibri"/>
                <a:cs typeface="Calibri"/>
              </a:rPr>
              <a:t>Users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These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players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vary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their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roles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under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IaaS,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PaaS,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SaaS</a:t>
            </a:r>
            <a:r>
              <a:rPr dirty="0" sz="2000" spc="-10" b="1">
                <a:latin typeface="Calibri"/>
                <a:cs typeface="Calibri"/>
              </a:rPr>
              <a:t> models.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41500"/>
              </a:lnSpc>
              <a:spcBef>
                <a:spcPts val="8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table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entries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distinguish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three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models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viewed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different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players.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(Table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shows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how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three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players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view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three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cloud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models)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45"/>
              </a:spcBef>
              <a:buFont typeface="Arial MT"/>
              <a:buChar char="•"/>
              <a:tabLst>
                <a:tab pos="354965" algn="l"/>
                <a:tab pos="1050290" algn="l"/>
                <a:tab pos="1553210" algn="l"/>
                <a:tab pos="2644775" algn="l"/>
                <a:tab pos="3713479" algn="l"/>
                <a:tab pos="5154930" algn="l"/>
                <a:tab pos="6482715" algn="l"/>
                <a:tab pos="8002270" algn="l"/>
                <a:tab pos="8427720" algn="l"/>
                <a:tab pos="8705215" algn="l"/>
                <a:tab pos="9411970" algn="l"/>
                <a:tab pos="10134600" algn="l"/>
                <a:tab pos="11186160" algn="l"/>
                <a:tab pos="11500485" algn="l"/>
              </a:tabLst>
            </a:pPr>
            <a:r>
              <a:rPr dirty="0" sz="2000" spc="-20">
                <a:latin typeface="Calibri"/>
                <a:cs typeface="Calibri"/>
              </a:rPr>
              <a:t>From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the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software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vendors’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perspective</a:t>
            </a:r>
            <a:r>
              <a:rPr dirty="0" sz="2000" spc="-10">
                <a:latin typeface="Calibri"/>
                <a:cs typeface="Calibri"/>
              </a:rPr>
              <a:t>,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application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performance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on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50">
                <a:latin typeface="Calibri"/>
                <a:cs typeface="Calibri"/>
              </a:rPr>
              <a:t>a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given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cloud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10">
                <a:latin typeface="Calibri"/>
                <a:cs typeface="Calibri"/>
              </a:rPr>
              <a:t>platform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5">
                <a:latin typeface="Calibri"/>
                <a:cs typeface="Calibri"/>
              </a:rPr>
              <a:t>is</a:t>
            </a:r>
            <a:r>
              <a:rPr dirty="0" sz="2000">
                <a:latin typeface="Calibri"/>
                <a:cs typeface="Calibri"/>
              </a:rPr>
              <a:t>	</a:t>
            </a:r>
            <a:r>
              <a:rPr dirty="0" sz="2000" spc="-20">
                <a:latin typeface="Calibri"/>
                <a:cs typeface="Calibri"/>
              </a:rPr>
              <a:t>most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spc="-10">
                <a:latin typeface="Calibri"/>
                <a:cs typeface="Calibri"/>
              </a:rPr>
              <a:t>important.</a:t>
            </a:r>
            <a:r>
              <a:rPr dirty="0" sz="1400" spc="-10">
                <a:latin typeface="Calibri"/>
                <a:cs typeface="Calibri"/>
              </a:rPr>
              <a:t>(Designing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application</a:t>
            </a:r>
            <a:r>
              <a:rPr dirty="0" sz="1400">
                <a:latin typeface="Calibri"/>
                <a:cs typeface="Calibri"/>
              </a:rPr>
              <a:t> with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optimized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performance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wrt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time,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space,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works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for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all</a:t>
            </a:r>
            <a:r>
              <a:rPr dirty="0" sz="1400" spc="-10">
                <a:latin typeface="Calibri"/>
                <a:cs typeface="Calibri"/>
              </a:rPr>
              <a:t> scenario)</a:t>
            </a:r>
            <a:endParaRPr sz="1400">
              <a:latin typeface="Calibri"/>
              <a:cs typeface="Calibri"/>
            </a:endParaRPr>
          </a:p>
          <a:p>
            <a:pPr marL="355600" marR="5080" indent="-342900">
              <a:lnSpc>
                <a:spcPct val="141500"/>
              </a:lnSpc>
              <a:spcBef>
                <a:spcPts val="8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19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providers’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perspective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infrastructure</a:t>
            </a:r>
            <a:r>
              <a:rPr dirty="0" sz="2000" spc="20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performance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0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primary</a:t>
            </a:r>
            <a:r>
              <a:rPr dirty="0" sz="2000" spc="20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concern.</a:t>
            </a:r>
            <a:r>
              <a:rPr dirty="0" sz="1400" spc="-10">
                <a:latin typeface="Calibri"/>
                <a:cs typeface="Calibri"/>
              </a:rPr>
              <a:t>(optimized</a:t>
            </a:r>
            <a:r>
              <a:rPr dirty="0" sz="1400" spc="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CPU</a:t>
            </a:r>
            <a:r>
              <a:rPr dirty="0" sz="1400" spc="6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utilization, Storage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utilization)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5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From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users’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perspective</a:t>
            </a:r>
            <a:r>
              <a:rPr dirty="0" sz="2000" spc="-10">
                <a:latin typeface="Calibri"/>
                <a:cs typeface="Calibri"/>
              </a:rPr>
              <a:t>,</a:t>
            </a:r>
            <a:r>
              <a:rPr dirty="0" sz="2000" spc="-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quality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services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including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security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most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important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96100" y="783336"/>
            <a:ext cx="5295900" cy="2307336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7124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49960"/>
            <a:ext cx="12033250" cy="6257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396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Extended</a:t>
            </a:r>
            <a:r>
              <a:rPr dirty="0" sz="24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Computing</a:t>
            </a:r>
            <a:r>
              <a:rPr dirty="0" sz="24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Services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4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Service</a:t>
            </a:r>
            <a:r>
              <a:rPr dirty="0" sz="24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30" b="1">
                <a:solidFill>
                  <a:srgbClr val="C00000"/>
                </a:solidFill>
                <a:latin typeface="Calibri"/>
                <a:cs typeface="Calibri"/>
              </a:rPr>
              <a:t>Tasks</a:t>
            </a:r>
            <a:r>
              <a:rPr dirty="0" sz="24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Trends</a:t>
            </a:r>
            <a:endParaRPr sz="2400">
              <a:latin typeface="Calibri"/>
              <a:cs typeface="Calibri"/>
            </a:endParaRPr>
          </a:p>
          <a:p>
            <a:pPr lvl="1" marL="475615" indent="-297180">
              <a:lnSpc>
                <a:spcPct val="100000"/>
              </a:lnSpc>
              <a:spcBef>
                <a:spcPts val="1420"/>
              </a:spcBef>
              <a:buFont typeface="Arial MT"/>
              <a:buChar char="•"/>
              <a:tabLst>
                <a:tab pos="475615" algn="l"/>
              </a:tabLst>
            </a:pP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top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layer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in</a:t>
            </a:r>
            <a:r>
              <a:rPr dirty="0" sz="1900" spc="-6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cloud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service</a:t>
            </a:r>
            <a:r>
              <a:rPr dirty="0" sz="1900" spc="-1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is</a:t>
            </a:r>
            <a:r>
              <a:rPr dirty="0" sz="1900" spc="-6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SaaS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applications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for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business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applications.</a:t>
            </a:r>
            <a:endParaRPr sz="1900">
              <a:latin typeface="Calibri"/>
              <a:cs typeface="Calibri"/>
            </a:endParaRPr>
          </a:p>
          <a:p>
            <a:pPr lvl="1" marL="475615" indent="-297180">
              <a:lnSpc>
                <a:spcPct val="100000"/>
              </a:lnSpc>
              <a:spcBef>
                <a:spcPts val="1745"/>
              </a:spcBef>
              <a:buFont typeface="Arial MT"/>
              <a:buChar char="•"/>
              <a:tabLst>
                <a:tab pos="475615" algn="l"/>
              </a:tabLst>
            </a:pPr>
            <a:r>
              <a:rPr dirty="0" sz="1900">
                <a:latin typeface="Calibri"/>
                <a:cs typeface="Calibri"/>
              </a:rPr>
              <a:t>For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example,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CRM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is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heavily</a:t>
            </a:r>
            <a:r>
              <a:rPr dirty="0" sz="1900" spc="-5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practiced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in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business</a:t>
            </a:r>
            <a:r>
              <a:rPr dirty="0" sz="1900" spc="-2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promotion,</a:t>
            </a:r>
            <a:r>
              <a:rPr dirty="0" sz="1900" spc="-2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direct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sales,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and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marketing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services</a:t>
            </a:r>
            <a:r>
              <a:rPr dirty="0" sz="1900" spc="-10">
                <a:latin typeface="Calibri"/>
                <a:cs typeface="Calibri"/>
              </a:rPr>
              <a:t>.</a:t>
            </a:r>
            <a:endParaRPr sz="1900">
              <a:latin typeface="Calibri"/>
              <a:cs typeface="Calibri"/>
            </a:endParaRPr>
          </a:p>
          <a:p>
            <a:pPr lvl="1" marL="475615" indent="-297180">
              <a:lnSpc>
                <a:spcPct val="100000"/>
              </a:lnSpc>
              <a:spcBef>
                <a:spcPts val="1739"/>
              </a:spcBef>
              <a:buFont typeface="Arial MT"/>
              <a:buChar char="•"/>
              <a:tabLst>
                <a:tab pos="475615" algn="l"/>
              </a:tabLst>
            </a:pPr>
            <a:r>
              <a:rPr dirty="0" sz="1900" b="1">
                <a:latin typeface="Calibri"/>
                <a:cs typeface="Calibri"/>
              </a:rPr>
              <a:t>CRM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offered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first</a:t>
            </a:r>
            <a:r>
              <a:rPr dirty="0" sz="1900" spc="-2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SaaS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on</a:t>
            </a:r>
            <a:r>
              <a:rPr dirty="0" sz="1900" spc="-2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cloud</a:t>
            </a:r>
            <a:r>
              <a:rPr dirty="0" sz="1900" spc="-2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successfully.</a:t>
            </a:r>
            <a:endParaRPr sz="1900">
              <a:latin typeface="Calibri"/>
              <a:cs typeface="Calibri"/>
            </a:endParaRPr>
          </a:p>
          <a:p>
            <a:pPr lvl="1" marL="475615" marR="5080" indent="-297180">
              <a:lnSpc>
                <a:spcPct val="150100"/>
              </a:lnSpc>
              <a:spcBef>
                <a:spcPts val="600"/>
              </a:spcBef>
              <a:buFont typeface="Arial MT"/>
              <a:buChar char="•"/>
              <a:tabLst>
                <a:tab pos="475615" algn="l"/>
              </a:tabLst>
            </a:pPr>
            <a:r>
              <a:rPr dirty="0" sz="1900">
                <a:latin typeface="Calibri"/>
                <a:cs typeface="Calibri"/>
              </a:rPr>
              <a:t>The</a:t>
            </a:r>
            <a:r>
              <a:rPr dirty="0" sz="1900" spc="2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approach</a:t>
            </a:r>
            <a:r>
              <a:rPr dirty="0" sz="1900" spc="21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is</a:t>
            </a:r>
            <a:r>
              <a:rPr dirty="0" sz="1900" spc="22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to</a:t>
            </a:r>
            <a:r>
              <a:rPr dirty="0" sz="1900" spc="220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widen</a:t>
            </a:r>
            <a:r>
              <a:rPr dirty="0" sz="1900" spc="22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market</a:t>
            </a:r>
            <a:r>
              <a:rPr dirty="0" sz="1900" spc="22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coverage</a:t>
            </a:r>
            <a:r>
              <a:rPr dirty="0" sz="1900" spc="2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by</a:t>
            </a:r>
            <a:r>
              <a:rPr dirty="0" sz="1900" spc="22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investigating</a:t>
            </a:r>
            <a:r>
              <a:rPr dirty="0" sz="1900" spc="2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customer</a:t>
            </a:r>
            <a:r>
              <a:rPr dirty="0" sz="1900" spc="22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behaviors</a:t>
            </a:r>
            <a:r>
              <a:rPr dirty="0" sz="1900" spc="2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and</a:t>
            </a:r>
            <a:r>
              <a:rPr dirty="0" sz="1900" spc="22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revealing</a:t>
            </a:r>
            <a:r>
              <a:rPr dirty="0" sz="1900" spc="229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opportunities</a:t>
            </a:r>
            <a:r>
              <a:rPr dirty="0" sz="1900" spc="229" b="1">
                <a:latin typeface="Calibri"/>
                <a:cs typeface="Calibri"/>
              </a:rPr>
              <a:t> </a:t>
            </a:r>
            <a:r>
              <a:rPr dirty="0" sz="1900" spc="-25" b="1">
                <a:latin typeface="Calibri"/>
                <a:cs typeface="Calibri"/>
              </a:rPr>
              <a:t>by </a:t>
            </a:r>
            <a:r>
              <a:rPr dirty="0" sz="1900" spc="-10" b="1">
                <a:latin typeface="Calibri"/>
                <a:cs typeface="Calibri"/>
              </a:rPr>
              <a:t>statistical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analysis.</a:t>
            </a:r>
            <a:endParaRPr sz="1900">
              <a:latin typeface="Calibri"/>
              <a:cs typeface="Calibri"/>
            </a:endParaRPr>
          </a:p>
          <a:p>
            <a:pPr lvl="1" marL="475615" indent="-297180">
              <a:lnSpc>
                <a:spcPct val="100000"/>
              </a:lnSpc>
              <a:spcBef>
                <a:spcPts val="1740"/>
              </a:spcBef>
              <a:buFont typeface="Arial MT"/>
              <a:buChar char="•"/>
              <a:tabLst>
                <a:tab pos="475615" algn="l"/>
              </a:tabLst>
            </a:pPr>
            <a:r>
              <a:rPr dirty="0" sz="1900" b="1">
                <a:latin typeface="Calibri"/>
                <a:cs typeface="Calibri"/>
              </a:rPr>
              <a:t>SaaS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tools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also</a:t>
            </a:r>
            <a:r>
              <a:rPr dirty="0" sz="1900" spc="-5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apply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to</a:t>
            </a:r>
            <a:r>
              <a:rPr dirty="0" sz="1900" spc="-5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distributed</a:t>
            </a:r>
            <a:r>
              <a:rPr dirty="0" sz="1900" spc="-2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collaboration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(Google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docs)</a:t>
            </a:r>
            <a:r>
              <a:rPr dirty="0" sz="1900">
                <a:latin typeface="Calibri"/>
                <a:cs typeface="Calibri"/>
              </a:rPr>
              <a:t>,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financial</a:t>
            </a:r>
            <a:r>
              <a:rPr dirty="0" sz="1900" spc="-5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and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human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resources management.</a:t>
            </a:r>
            <a:endParaRPr sz="1900">
              <a:latin typeface="Calibri"/>
              <a:cs typeface="Calibri"/>
            </a:endParaRPr>
          </a:p>
          <a:p>
            <a:pPr lvl="1" marL="475615" indent="-297180">
              <a:lnSpc>
                <a:spcPct val="100000"/>
              </a:lnSpc>
              <a:spcBef>
                <a:spcPts val="1740"/>
              </a:spcBef>
              <a:buFont typeface="Arial MT"/>
              <a:buChar char="•"/>
              <a:tabLst>
                <a:tab pos="475615" algn="l"/>
              </a:tabLst>
            </a:pPr>
            <a:r>
              <a:rPr dirty="0" sz="1900">
                <a:latin typeface="Calibri"/>
                <a:cs typeface="Calibri"/>
              </a:rPr>
              <a:t>These</a:t>
            </a:r>
            <a:r>
              <a:rPr dirty="0" sz="1900" spc="-6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cloud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services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have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been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growing</a:t>
            </a:r>
            <a:r>
              <a:rPr dirty="0" sz="1900" spc="-3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rapidly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in</a:t>
            </a:r>
            <a:r>
              <a:rPr dirty="0" sz="1900" spc="-7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recent</a:t>
            </a:r>
            <a:r>
              <a:rPr dirty="0" sz="1900" spc="-75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years.</a:t>
            </a:r>
            <a:endParaRPr sz="1900">
              <a:latin typeface="Calibri"/>
              <a:cs typeface="Calibri"/>
            </a:endParaRPr>
          </a:p>
          <a:p>
            <a:pPr lvl="1" marL="475615" indent="-297180">
              <a:lnSpc>
                <a:spcPct val="100000"/>
              </a:lnSpc>
              <a:spcBef>
                <a:spcPts val="1739"/>
              </a:spcBef>
              <a:buFont typeface="Arial MT"/>
              <a:buChar char="•"/>
              <a:tabLst>
                <a:tab pos="475615" algn="l"/>
              </a:tabLst>
            </a:pPr>
            <a:r>
              <a:rPr dirty="0" sz="1900" b="1">
                <a:latin typeface="Calibri"/>
                <a:cs typeface="Calibri"/>
              </a:rPr>
              <a:t>PaaS</a:t>
            </a:r>
            <a:r>
              <a:rPr dirty="0" sz="1900" spc="-5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is</a:t>
            </a:r>
            <a:r>
              <a:rPr dirty="0" sz="1900" spc="-6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provided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by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Google,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Salesforce.com,</a:t>
            </a:r>
            <a:r>
              <a:rPr dirty="0" sz="1900" spc="-2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and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Facebook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(Facebook</a:t>
            </a:r>
            <a:r>
              <a:rPr dirty="0" sz="1400" spc="-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service)</a:t>
            </a:r>
            <a:r>
              <a:rPr dirty="0" sz="1900">
                <a:latin typeface="Calibri"/>
                <a:cs typeface="Calibri"/>
              </a:rPr>
              <a:t>,</a:t>
            </a:r>
            <a:r>
              <a:rPr dirty="0" sz="1900" spc="-4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among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others.</a:t>
            </a:r>
            <a:endParaRPr sz="1900">
              <a:latin typeface="Calibri"/>
              <a:cs typeface="Calibri"/>
            </a:endParaRPr>
          </a:p>
          <a:p>
            <a:pPr lvl="1" marL="475615" indent="-297180">
              <a:lnSpc>
                <a:spcPct val="100000"/>
              </a:lnSpc>
              <a:spcBef>
                <a:spcPts val="1739"/>
              </a:spcBef>
              <a:buFont typeface="Arial MT"/>
              <a:buChar char="•"/>
              <a:tabLst>
                <a:tab pos="475615" algn="l"/>
              </a:tabLst>
            </a:pPr>
            <a:r>
              <a:rPr dirty="0" sz="1900" b="1">
                <a:latin typeface="Calibri"/>
                <a:cs typeface="Calibri"/>
              </a:rPr>
              <a:t>IaaS</a:t>
            </a:r>
            <a:r>
              <a:rPr dirty="0" sz="1900" spc="-6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is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provided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by</a:t>
            </a:r>
            <a:r>
              <a:rPr dirty="0" sz="1900" spc="-5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Amazon,</a:t>
            </a:r>
            <a:r>
              <a:rPr dirty="0" sz="1900" spc="-5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Windows</a:t>
            </a:r>
            <a:r>
              <a:rPr dirty="0" sz="1900" spc="-5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Azure,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and</a:t>
            </a:r>
            <a:r>
              <a:rPr dirty="0" sz="1900" spc="-5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RackRack</a:t>
            </a:r>
            <a:r>
              <a:rPr dirty="0" sz="1900">
                <a:latin typeface="Calibri"/>
                <a:cs typeface="Calibri"/>
              </a:rPr>
              <a:t>,</a:t>
            </a:r>
            <a:r>
              <a:rPr dirty="0" sz="1900" spc="-3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among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others.</a:t>
            </a:r>
            <a:endParaRPr sz="1900">
              <a:latin typeface="Calibri"/>
              <a:cs typeface="Calibri"/>
            </a:endParaRPr>
          </a:p>
          <a:p>
            <a:pPr lvl="1" marL="475615" indent="-297180">
              <a:lnSpc>
                <a:spcPct val="100000"/>
              </a:lnSpc>
              <a:spcBef>
                <a:spcPts val="1739"/>
              </a:spcBef>
              <a:buFont typeface="Arial MT"/>
              <a:buChar char="•"/>
              <a:tabLst>
                <a:tab pos="475615" algn="l"/>
              </a:tabLst>
            </a:pPr>
            <a:r>
              <a:rPr dirty="0" sz="1900" b="1">
                <a:latin typeface="Calibri"/>
                <a:cs typeface="Calibri"/>
              </a:rPr>
              <a:t>Collocation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services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require</a:t>
            </a:r>
            <a:r>
              <a:rPr dirty="0" sz="1900" spc="-2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multiple</a:t>
            </a:r>
            <a:r>
              <a:rPr dirty="0" sz="1900" spc="-6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cloud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providers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to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work</a:t>
            </a:r>
            <a:r>
              <a:rPr dirty="0" sz="1900" spc="-6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together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to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support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supply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chains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in</a:t>
            </a:r>
            <a:r>
              <a:rPr dirty="0" sz="1900" spc="-6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manufacturing.</a:t>
            </a:r>
            <a:endParaRPr sz="1900">
              <a:latin typeface="Calibri"/>
              <a:cs typeface="Calibri"/>
            </a:endParaRPr>
          </a:p>
          <a:p>
            <a:pPr lvl="1" marL="475615" indent="-297180">
              <a:lnSpc>
                <a:spcPct val="100000"/>
              </a:lnSpc>
              <a:spcBef>
                <a:spcPts val="1745"/>
              </a:spcBef>
              <a:buFont typeface="Arial MT"/>
              <a:buChar char="•"/>
              <a:tabLst>
                <a:tab pos="475615" algn="l"/>
              </a:tabLst>
            </a:pPr>
            <a:r>
              <a:rPr dirty="0" sz="1900" b="1">
                <a:latin typeface="Calibri"/>
                <a:cs typeface="Calibri"/>
              </a:rPr>
              <a:t>Network</a:t>
            </a:r>
            <a:r>
              <a:rPr dirty="0" sz="1900" spc="-8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cloud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services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provide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communications</a:t>
            </a:r>
            <a:r>
              <a:rPr dirty="0" sz="1900" spc="-5" b="1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such</a:t>
            </a:r>
            <a:r>
              <a:rPr dirty="0" sz="1900" spc="-5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as</a:t>
            </a:r>
            <a:r>
              <a:rPr dirty="0" sz="1900" spc="-6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those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by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80">
                <a:latin typeface="Calibri"/>
                <a:cs typeface="Calibri"/>
              </a:rPr>
              <a:t>AT&amp;T,</a:t>
            </a:r>
            <a:r>
              <a:rPr dirty="0" sz="1900" spc="-25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Qwest,</a:t>
            </a:r>
            <a:r>
              <a:rPr dirty="0" sz="1900" spc="-40">
                <a:latin typeface="Calibri"/>
                <a:cs typeface="Calibri"/>
              </a:rPr>
              <a:t> </a:t>
            </a:r>
            <a:r>
              <a:rPr dirty="0" sz="1900">
                <a:latin typeface="Calibri"/>
                <a:cs typeface="Calibri"/>
              </a:rPr>
              <a:t>and</a:t>
            </a:r>
            <a:r>
              <a:rPr dirty="0" sz="1900" spc="-50">
                <a:latin typeface="Calibri"/>
                <a:cs typeface="Calibri"/>
              </a:rPr>
              <a:t> </a:t>
            </a:r>
            <a:r>
              <a:rPr dirty="0" sz="1900" spc="-10">
                <a:latin typeface="Calibri"/>
                <a:cs typeface="Calibri"/>
              </a:rPr>
              <a:t>AboveNet.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7124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49960"/>
            <a:ext cx="12035790" cy="60077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396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Extended</a:t>
            </a:r>
            <a:r>
              <a:rPr dirty="0" sz="24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Computing</a:t>
            </a:r>
            <a:r>
              <a:rPr dirty="0" sz="24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Services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2.</a:t>
            </a:r>
            <a:r>
              <a:rPr dirty="0" sz="24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Software</a:t>
            </a:r>
            <a:r>
              <a:rPr dirty="0" sz="24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Stack</a:t>
            </a:r>
            <a:r>
              <a:rPr dirty="0" sz="24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for</a:t>
            </a:r>
            <a:r>
              <a:rPr dirty="0" sz="24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4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Computing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5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overall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stacks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built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scratch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meet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rigorous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goals.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algn="just" marL="352425" marR="5715" indent="-339725">
              <a:lnSpc>
                <a:spcPct val="1471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Developers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have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consider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how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design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meet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critical requirements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such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high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throughput,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HA,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fault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tolerance.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(Developers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need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think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designing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software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takes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care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of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all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these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layers/services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at</a:t>
            </a:r>
            <a:r>
              <a:rPr dirty="0" sz="1600" spc="-10">
                <a:latin typeface="Calibri"/>
                <a:cs typeface="Calibri"/>
              </a:rPr>
              <a:t> different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levels </a:t>
            </a:r>
            <a:r>
              <a:rPr dirty="0" sz="1600" spc="-10">
                <a:latin typeface="Calibri"/>
                <a:cs typeface="Calibri"/>
              </a:rPr>
              <a:t>	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providing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these</a:t>
            </a:r>
            <a:r>
              <a:rPr dirty="0" sz="1600" spc="-2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-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users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such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way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meet</a:t>
            </a:r>
            <a:r>
              <a:rPr dirty="0" sz="1600" spc="-10">
                <a:latin typeface="Calibri"/>
                <a:cs typeface="Calibri"/>
              </a:rPr>
              <a:t> required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throughput,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HA,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and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fault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tolerance).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55"/>
              </a:spcBef>
              <a:buFont typeface="Arial MT"/>
              <a:buChar char="•"/>
            </a:pPr>
            <a:endParaRPr sz="1600">
              <a:latin typeface="Calibri"/>
              <a:cs typeface="Calibri"/>
            </a:endParaRPr>
          </a:p>
          <a:p>
            <a:pPr algn="just" marL="352425" marR="6985" indent="-339725">
              <a:lnSpc>
                <a:spcPct val="1415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Even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operating system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might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modified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meet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 special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requirement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processing.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(Even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OS </a:t>
            </a:r>
            <a:r>
              <a:rPr dirty="0" sz="1400" spc="-25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runs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cloud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center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need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modified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takes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care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all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these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services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NaaS,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LaaS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etc.)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472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overall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stack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structure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computing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viewed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layers.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Each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layer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has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its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own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purpose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interface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upper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layers</a:t>
            </a:r>
            <a:r>
              <a:rPr dirty="0" sz="2000" spc="3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just</a:t>
            </a:r>
            <a:r>
              <a:rPr dirty="0" sz="2000" spc="3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traditional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stack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does.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However,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lower</a:t>
            </a:r>
            <a:r>
              <a:rPr dirty="0" sz="2000" spc="1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layers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not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completely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transparent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upper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layers.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(SaaS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layer</a:t>
            </a:r>
            <a:r>
              <a:rPr dirty="0" sz="1400" spc="-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takes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care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 </a:t>
            </a:r>
            <a:r>
              <a:rPr dirty="0" sz="1400" spc="-10">
                <a:latin typeface="Calibri"/>
                <a:cs typeface="Calibri"/>
              </a:rPr>
              <a:t>providing/sharing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softwares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customers,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PaaS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SaaS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layer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takes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care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providing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platform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customers,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IaaS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layer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takes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care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sharing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hardwares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customers)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7124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49960"/>
            <a:ext cx="12035790" cy="5743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4396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Extended</a:t>
            </a:r>
            <a:r>
              <a:rPr dirty="0" sz="24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Computing</a:t>
            </a:r>
            <a:r>
              <a:rPr dirty="0" sz="24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Services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3.</a:t>
            </a:r>
            <a:r>
              <a:rPr dirty="0" sz="24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Runtime</a:t>
            </a:r>
            <a:r>
              <a:rPr dirty="0" sz="24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Support</a:t>
            </a:r>
            <a:r>
              <a:rPr dirty="0" sz="24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Services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55"/>
              </a:spcBef>
              <a:buFont typeface="Arial MT"/>
              <a:buChar char="•"/>
              <a:tabLst>
                <a:tab pos="354965" algn="l"/>
                <a:tab pos="742315" algn="l"/>
                <a:tab pos="1071880" algn="l"/>
                <a:tab pos="1327785" algn="l"/>
                <a:tab pos="2162810" algn="l"/>
                <a:tab pos="3721100" algn="l"/>
                <a:tab pos="4418965" algn="l"/>
                <a:tab pos="4891405" algn="l"/>
                <a:tab pos="5447665" algn="l"/>
                <a:tab pos="6151880" algn="l"/>
                <a:tab pos="7127240" algn="l"/>
                <a:tab pos="8401685" algn="l"/>
                <a:tab pos="9373870" algn="l"/>
                <a:tab pos="9703435" algn="l"/>
                <a:tab pos="10186035" algn="l"/>
                <a:tab pos="10893425" algn="l"/>
              </a:tabLst>
            </a:pPr>
            <a:r>
              <a:rPr dirty="0" sz="2000" spc="-25" b="1">
                <a:latin typeface="Calibri"/>
                <a:cs typeface="Calibri"/>
              </a:rPr>
              <a:t>As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in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50" b="1">
                <a:latin typeface="Calibri"/>
                <a:cs typeface="Calibri"/>
              </a:rPr>
              <a:t>a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cluster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environment,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there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are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0" b="1">
                <a:latin typeface="Calibri"/>
                <a:cs typeface="Calibri"/>
              </a:rPr>
              <a:t>also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0" b="1">
                <a:latin typeface="Calibri"/>
                <a:cs typeface="Calibri"/>
              </a:rPr>
              <a:t>some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runtime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supporting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services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in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the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cloud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computing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5"/>
              </a:spcBef>
            </a:pPr>
            <a:r>
              <a:rPr dirty="0" sz="2000" spc="-10" b="1">
                <a:latin typeface="Calibri"/>
                <a:cs typeface="Calibri"/>
              </a:rPr>
              <a:t>environment.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Cluster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monitoring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collect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runtime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status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entire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cluster.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spcBef>
                <a:spcPts val="24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scheduler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queues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tasks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submitted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whole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cluster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assigns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tasks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processing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nodes </a:t>
            </a:r>
            <a:r>
              <a:rPr dirty="0" sz="2000" b="1">
                <a:latin typeface="Calibri"/>
                <a:cs typeface="Calibri"/>
              </a:rPr>
              <a:t>according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node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availability.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891540" algn="l"/>
                <a:tab pos="2195195" algn="l"/>
                <a:tab pos="3368675" algn="l"/>
                <a:tab pos="3815079" algn="l"/>
                <a:tab pos="4313555" algn="l"/>
                <a:tab pos="5037455" algn="l"/>
                <a:tab pos="6354445" algn="l"/>
                <a:tab pos="6863715" algn="l"/>
                <a:tab pos="7732395" algn="l"/>
                <a:tab pos="9383395" algn="l"/>
                <a:tab pos="9963785" algn="l"/>
                <a:tab pos="10475595" algn="l"/>
                <a:tab pos="11447145" algn="l"/>
              </a:tabLst>
            </a:pPr>
            <a:r>
              <a:rPr dirty="0" sz="2000" spc="-25" b="1">
                <a:latin typeface="Calibri"/>
                <a:cs typeface="Calibri"/>
              </a:rPr>
              <a:t>The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distributed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scheduler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for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the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cloud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application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has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special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characteristics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0" b="1">
                <a:latin typeface="Calibri"/>
                <a:cs typeface="Calibri"/>
              </a:rPr>
              <a:t>that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can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support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cloud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5"/>
              </a:spcBef>
            </a:pPr>
            <a:r>
              <a:rPr dirty="0" sz="2000" b="1">
                <a:latin typeface="Calibri"/>
                <a:cs typeface="Calibri"/>
              </a:rPr>
              <a:t>applications,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such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scheduling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programs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written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MapReduce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style.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55"/>
              </a:spcBef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runtime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support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keeps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cluster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working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properly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high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efficiency.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7124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294823"/>
            <a:ext cx="12037060" cy="6458585"/>
          </a:xfrm>
          <a:prstGeom prst="rect">
            <a:avLst/>
          </a:prstGeom>
        </p:spPr>
        <p:txBody>
          <a:bodyPr wrap="square" lIns="0" tIns="167640" rIns="0" bIns="0" rtlCol="0" vert="horz">
            <a:spAutoFit/>
          </a:bodyPr>
          <a:lstStyle/>
          <a:p>
            <a:pPr marL="2955290">
              <a:lnSpc>
                <a:spcPct val="100000"/>
              </a:lnSpc>
              <a:spcBef>
                <a:spcPts val="132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Resource</a:t>
            </a:r>
            <a:r>
              <a:rPr dirty="0" sz="2400" spc="-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Provisioning</a:t>
            </a:r>
            <a:r>
              <a:rPr dirty="0" sz="2400" spc="-1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Platform</a:t>
            </a:r>
            <a:r>
              <a:rPr dirty="0" sz="24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Deployment</a:t>
            </a:r>
            <a:endParaRPr sz="2400">
              <a:latin typeface="Calibri"/>
              <a:cs typeface="Calibri"/>
            </a:endParaRPr>
          </a:p>
          <a:p>
            <a:pPr marL="299085" indent="-286385">
              <a:lnSpc>
                <a:spcPct val="100000"/>
              </a:lnSpc>
              <a:spcBef>
                <a:spcPts val="1025"/>
              </a:spcBef>
              <a:buFont typeface="Arial MT"/>
              <a:buChar char="•"/>
              <a:tabLst>
                <a:tab pos="299085" algn="l"/>
              </a:tabLst>
            </a:pP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architecture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puts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more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emphasis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number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processor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cores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instances.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980"/>
              </a:spcBef>
              <a:buAutoNum type="arabicPeriod"/>
              <a:tabLst>
                <a:tab pos="469265" algn="l"/>
              </a:tabLst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Provisioning</a:t>
            </a:r>
            <a:r>
              <a:rPr dirty="0" sz="24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Compute</a:t>
            </a:r>
            <a:r>
              <a:rPr dirty="0" sz="24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Resources</a:t>
            </a:r>
            <a:r>
              <a:rPr dirty="0" sz="24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(VMs)</a:t>
            </a:r>
            <a:endParaRPr sz="24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146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Providers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supply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services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signing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SLAs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users.</a:t>
            </a:r>
            <a:endParaRPr sz="20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SLAs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must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commit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sufficient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resources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such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11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CPU,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memory,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bandwidth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spc="-50" b="1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preset</a:t>
            </a:r>
            <a:r>
              <a:rPr dirty="0" sz="2000" spc="-9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period.</a:t>
            </a:r>
            <a:endParaRPr sz="20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 b="1">
                <a:latin typeface="Calibri"/>
                <a:cs typeface="Calibri"/>
              </a:rPr>
              <a:t>Underprovisioning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will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lead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broken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SLAs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penalties.</a:t>
            </a:r>
            <a:endParaRPr sz="20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Overprovisioning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resources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will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lead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underutilization,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consequently,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decrease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revenue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provider.</a:t>
            </a:r>
            <a:endParaRPr sz="2000">
              <a:latin typeface="Calibri"/>
              <a:cs typeface="Calibri"/>
            </a:endParaRPr>
          </a:p>
          <a:p>
            <a:pPr algn="just" lvl="1" marL="352425" indent="-33972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352425" algn="l"/>
              </a:tabLst>
            </a:pPr>
            <a:r>
              <a:rPr dirty="0" sz="2000" b="1">
                <a:latin typeface="Calibri"/>
                <a:cs typeface="Calibri"/>
              </a:rPr>
              <a:t>Deploying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autonomous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efficiently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provision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challenging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problem.</a:t>
            </a:r>
            <a:endParaRPr sz="2000">
              <a:latin typeface="Calibri"/>
              <a:cs typeface="Calibri"/>
            </a:endParaRPr>
          </a:p>
          <a:p>
            <a:pPr algn="just" lvl="1" marL="352425" marR="7620" indent="-339725">
              <a:lnSpc>
                <a:spcPct val="15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9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difficulty</a:t>
            </a:r>
            <a:r>
              <a:rPr dirty="0" sz="2000" spc="8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comes</a:t>
            </a:r>
            <a:r>
              <a:rPr dirty="0" sz="2000" spc="10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9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0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unpredictability</a:t>
            </a:r>
            <a:r>
              <a:rPr dirty="0" sz="2000" spc="9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0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consumer</a:t>
            </a:r>
            <a:r>
              <a:rPr dirty="0" sz="2000" spc="10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demand,</a:t>
            </a:r>
            <a:r>
              <a:rPr dirty="0" sz="2000" spc="9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10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9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hardware</a:t>
            </a:r>
            <a:r>
              <a:rPr dirty="0" sz="2000" spc="100" b="1">
                <a:latin typeface="Calibri"/>
                <a:cs typeface="Calibri"/>
              </a:rPr>
              <a:t>  </a:t>
            </a:r>
            <a:r>
              <a:rPr dirty="0" sz="2000" spc="-10" b="1">
                <a:latin typeface="Calibri"/>
                <a:cs typeface="Calibri"/>
              </a:rPr>
              <a:t>failures,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heterogeneity</a:t>
            </a:r>
            <a:r>
              <a:rPr dirty="0" sz="2000" spc="3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services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(User</a:t>
            </a:r>
            <a:r>
              <a:rPr dirty="0" sz="1600" spc="24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may</a:t>
            </a:r>
            <a:r>
              <a:rPr dirty="0" sz="1600" spc="229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take</a:t>
            </a:r>
            <a:r>
              <a:rPr dirty="0" sz="1600" spc="22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NaaS,Queue</a:t>
            </a:r>
            <a:r>
              <a:rPr dirty="0" sz="1600" spc="229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Service,</a:t>
            </a:r>
            <a:r>
              <a:rPr dirty="0" sz="1600" spc="22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SaaS)</a:t>
            </a:r>
            <a:r>
              <a:rPr dirty="0" sz="1600" spc="4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,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power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management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(heat</a:t>
            </a:r>
            <a:r>
              <a:rPr dirty="0" sz="1200" spc="14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dissipation</a:t>
            </a:r>
            <a:r>
              <a:rPr dirty="0" sz="1200" spc="14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from</a:t>
            </a:r>
            <a:r>
              <a:rPr dirty="0" sz="1200" spc="130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server)</a:t>
            </a:r>
            <a:r>
              <a:rPr dirty="0" sz="2000" b="1">
                <a:latin typeface="Calibri"/>
                <a:cs typeface="Calibri"/>
              </a:rPr>
              <a:t>,</a:t>
            </a:r>
            <a:r>
              <a:rPr dirty="0" sz="2000" spc="31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and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conflicts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signed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SLAs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between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consumers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providers.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7124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21944"/>
            <a:ext cx="12035790" cy="653224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2955290">
              <a:lnSpc>
                <a:spcPct val="100000"/>
              </a:lnSpc>
              <a:spcBef>
                <a:spcPts val="1105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Resource</a:t>
            </a:r>
            <a:r>
              <a:rPr dirty="0" sz="2400" spc="-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Provisioning</a:t>
            </a:r>
            <a:r>
              <a:rPr dirty="0" sz="2400" spc="-1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Platform</a:t>
            </a:r>
            <a:r>
              <a:rPr dirty="0" sz="24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Deployment</a:t>
            </a: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1010"/>
              </a:spcBef>
              <a:buAutoNum type="arabicPeriod"/>
              <a:tabLst>
                <a:tab pos="469265" algn="l"/>
              </a:tabLst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Provisioning</a:t>
            </a:r>
            <a:r>
              <a:rPr dirty="0" sz="2400" spc="-9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400" spc="-9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Compute</a:t>
            </a:r>
            <a:r>
              <a:rPr dirty="0" sz="2400" spc="-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Resources</a:t>
            </a:r>
            <a:r>
              <a:rPr dirty="0" sz="24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(VMs)</a:t>
            </a:r>
            <a:r>
              <a:rPr dirty="0" sz="24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(Cont…)</a:t>
            </a:r>
            <a:endParaRPr sz="24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144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Efficient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provisioning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depends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architecture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management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infrastructures.</a:t>
            </a:r>
            <a:endParaRPr sz="2000">
              <a:latin typeface="Calibri"/>
              <a:cs typeface="Calibri"/>
            </a:endParaRPr>
          </a:p>
          <a:p>
            <a:pPr lvl="1" marL="355600" marR="5080" indent="-342900">
              <a:lnSpc>
                <a:spcPct val="15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virtualized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cluster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servers,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demands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efficient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installation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VMs,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live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migration,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fast </a:t>
            </a:r>
            <a:r>
              <a:rPr dirty="0" sz="2000" b="1">
                <a:latin typeface="Calibri"/>
                <a:cs typeface="Calibri"/>
              </a:rPr>
              <a:t>recovery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-9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failures.</a:t>
            </a:r>
            <a:endParaRPr sz="20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80" b="1">
                <a:latin typeface="Calibri"/>
                <a:cs typeface="Calibri"/>
              </a:rPr>
              <a:t>To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deploy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VMs,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treat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them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physical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customized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operating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specific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applications.</a:t>
            </a:r>
            <a:endParaRPr sz="2000">
              <a:latin typeface="Calibri"/>
              <a:cs typeface="Calibri"/>
            </a:endParaRPr>
          </a:p>
          <a:p>
            <a:pPr lvl="1" marL="355600" marR="5080" indent="-342900">
              <a:lnSpc>
                <a:spcPct val="150000"/>
              </a:lnSpc>
              <a:spcBef>
                <a:spcPts val="6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example,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Amazon’s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EC2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(IaaS</a:t>
            </a:r>
            <a:r>
              <a:rPr dirty="0" sz="1400" spc="10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service</a:t>
            </a:r>
            <a:r>
              <a:rPr dirty="0" sz="1400" spc="9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from</a:t>
            </a:r>
            <a:r>
              <a:rPr dirty="0" sz="1400" spc="9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Amazon)</a:t>
            </a:r>
            <a:r>
              <a:rPr dirty="0" sz="1400" spc="9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uses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Xen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monitor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(VMM).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same </a:t>
            </a:r>
            <a:r>
              <a:rPr dirty="0" sz="2000" b="1">
                <a:latin typeface="Calibri"/>
                <a:cs typeface="Calibri"/>
              </a:rPr>
              <a:t>VMM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IBM’s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Blue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Cloud.</a:t>
            </a:r>
            <a:endParaRPr sz="20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1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EC2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platform,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some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predefined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templates</a:t>
            </a:r>
            <a:r>
              <a:rPr dirty="0" sz="2000" spc="1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also</a:t>
            </a:r>
            <a:r>
              <a:rPr dirty="0" sz="2000" spc="1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provided.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1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choose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different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kinds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of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VMs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templates.</a:t>
            </a:r>
            <a:endParaRPr sz="20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 b="1">
                <a:latin typeface="Calibri"/>
                <a:cs typeface="Calibri"/>
              </a:rPr>
              <a:t>IBM’s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Blue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does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any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templates.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general, </a:t>
            </a:r>
            <a:r>
              <a:rPr dirty="0" sz="2000" b="1">
                <a:latin typeface="Calibri"/>
                <a:cs typeface="Calibri"/>
              </a:rPr>
              <a:t>any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type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top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Xen.</a:t>
            </a:r>
            <a:endParaRPr sz="20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Microsoft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also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applies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its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Azure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platform.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provider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should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offer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resource-</a:t>
            </a:r>
            <a:r>
              <a:rPr dirty="0" sz="2000" spc="-10" b="1">
                <a:latin typeface="Calibri"/>
                <a:cs typeface="Calibri"/>
              </a:rPr>
              <a:t>economic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5"/>
              </a:spcBef>
            </a:pPr>
            <a:r>
              <a:rPr dirty="0" sz="2000" spc="-10" b="1">
                <a:latin typeface="Calibri"/>
                <a:cs typeface="Calibri"/>
              </a:rPr>
              <a:t>services.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7124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21944"/>
            <a:ext cx="9088755" cy="3988435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2955290">
              <a:lnSpc>
                <a:spcPct val="100000"/>
              </a:lnSpc>
              <a:spcBef>
                <a:spcPts val="1105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Resource</a:t>
            </a:r>
            <a:r>
              <a:rPr dirty="0" sz="2400" spc="-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Provisioning</a:t>
            </a:r>
            <a:r>
              <a:rPr dirty="0" sz="2400" spc="-1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Platform</a:t>
            </a:r>
            <a:r>
              <a:rPr dirty="0" sz="24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Deployment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2.</a:t>
            </a:r>
            <a:r>
              <a:rPr dirty="0" sz="2400" spc="-8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Resource</a:t>
            </a:r>
            <a:r>
              <a:rPr dirty="0" sz="24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Provisioning</a:t>
            </a:r>
            <a:r>
              <a:rPr dirty="0" sz="24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Methods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2400">
              <a:latin typeface="Calibri"/>
              <a:cs typeface="Calibri"/>
            </a:endParaRPr>
          </a:p>
          <a:p>
            <a:pPr marL="641350" indent="-342265">
              <a:lnSpc>
                <a:spcPct val="100000"/>
              </a:lnSpc>
              <a:buFont typeface="Wingdings"/>
              <a:buChar char=""/>
              <a:tabLst>
                <a:tab pos="641350" algn="l"/>
              </a:tabLst>
            </a:pPr>
            <a:r>
              <a:rPr dirty="0" sz="2400" spc="-10">
                <a:solidFill>
                  <a:srgbClr val="416429"/>
                </a:solidFill>
                <a:latin typeface="Arial Black"/>
                <a:cs typeface="Arial Black"/>
              </a:rPr>
              <a:t>Demand-</a:t>
            </a:r>
            <a:r>
              <a:rPr dirty="0" sz="2400">
                <a:solidFill>
                  <a:srgbClr val="416429"/>
                </a:solidFill>
                <a:latin typeface="Arial Black"/>
                <a:cs typeface="Arial Black"/>
              </a:rPr>
              <a:t>Driven</a:t>
            </a:r>
            <a:r>
              <a:rPr dirty="0" sz="2400" spc="-30">
                <a:solidFill>
                  <a:srgbClr val="416429"/>
                </a:solidFill>
                <a:latin typeface="Arial Black"/>
                <a:cs typeface="Arial Black"/>
              </a:rPr>
              <a:t> </a:t>
            </a:r>
            <a:r>
              <a:rPr dirty="0" sz="2400" spc="-10">
                <a:solidFill>
                  <a:srgbClr val="416429"/>
                </a:solidFill>
                <a:latin typeface="Arial Black"/>
                <a:cs typeface="Arial Black"/>
              </a:rPr>
              <a:t>method</a:t>
            </a:r>
            <a:endParaRPr sz="2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930"/>
              </a:spcBef>
              <a:buClr>
                <a:srgbClr val="416429"/>
              </a:buClr>
              <a:buFont typeface="Wingdings"/>
              <a:buChar char=""/>
            </a:pPr>
            <a:endParaRPr sz="2400">
              <a:latin typeface="Arial Black"/>
              <a:cs typeface="Arial Black"/>
            </a:endParaRPr>
          </a:p>
          <a:p>
            <a:pPr marL="641350" indent="-342265">
              <a:lnSpc>
                <a:spcPct val="100000"/>
              </a:lnSpc>
              <a:buFont typeface="Wingdings"/>
              <a:buChar char=""/>
              <a:tabLst>
                <a:tab pos="641350" algn="l"/>
              </a:tabLst>
            </a:pPr>
            <a:r>
              <a:rPr dirty="0" sz="2400">
                <a:solidFill>
                  <a:srgbClr val="416429"/>
                </a:solidFill>
                <a:latin typeface="Arial Black"/>
                <a:cs typeface="Arial Black"/>
              </a:rPr>
              <a:t>Event</a:t>
            </a:r>
            <a:r>
              <a:rPr dirty="0" sz="2400" spc="-75">
                <a:solidFill>
                  <a:srgbClr val="416429"/>
                </a:solidFill>
                <a:latin typeface="Arial Black"/>
                <a:cs typeface="Arial Black"/>
              </a:rPr>
              <a:t> </a:t>
            </a:r>
            <a:r>
              <a:rPr dirty="0" sz="2400">
                <a:solidFill>
                  <a:srgbClr val="416429"/>
                </a:solidFill>
                <a:latin typeface="Arial Black"/>
                <a:cs typeface="Arial Black"/>
              </a:rPr>
              <a:t>Driven</a:t>
            </a:r>
            <a:r>
              <a:rPr dirty="0" sz="2400" spc="-90">
                <a:solidFill>
                  <a:srgbClr val="416429"/>
                </a:solidFill>
                <a:latin typeface="Arial Black"/>
                <a:cs typeface="Arial Black"/>
              </a:rPr>
              <a:t> </a:t>
            </a:r>
            <a:r>
              <a:rPr dirty="0" sz="2400" spc="-10">
                <a:solidFill>
                  <a:srgbClr val="416429"/>
                </a:solidFill>
                <a:latin typeface="Arial Black"/>
                <a:cs typeface="Arial Black"/>
              </a:rPr>
              <a:t>method</a:t>
            </a:r>
            <a:endParaRPr sz="24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1935"/>
              </a:spcBef>
              <a:buClr>
                <a:srgbClr val="416429"/>
              </a:buClr>
              <a:buFont typeface="Wingdings"/>
              <a:buChar char=""/>
            </a:pPr>
            <a:endParaRPr sz="2400">
              <a:latin typeface="Arial Black"/>
              <a:cs typeface="Arial Black"/>
            </a:endParaRPr>
          </a:p>
          <a:p>
            <a:pPr marL="641350" indent="-342265">
              <a:lnSpc>
                <a:spcPct val="100000"/>
              </a:lnSpc>
              <a:buFont typeface="Wingdings"/>
              <a:buChar char=""/>
              <a:tabLst>
                <a:tab pos="641350" algn="l"/>
              </a:tabLst>
            </a:pPr>
            <a:r>
              <a:rPr dirty="0" sz="2400" spc="-10">
                <a:solidFill>
                  <a:srgbClr val="416429"/>
                </a:solidFill>
                <a:latin typeface="Arial Black"/>
                <a:cs typeface="Arial Black"/>
              </a:rPr>
              <a:t>Popularity-</a:t>
            </a:r>
            <a:r>
              <a:rPr dirty="0" sz="2400">
                <a:solidFill>
                  <a:srgbClr val="416429"/>
                </a:solidFill>
                <a:latin typeface="Arial Black"/>
                <a:cs typeface="Arial Black"/>
              </a:rPr>
              <a:t>Driven</a:t>
            </a:r>
            <a:r>
              <a:rPr dirty="0" sz="2400" spc="-85">
                <a:solidFill>
                  <a:srgbClr val="416429"/>
                </a:solidFill>
                <a:latin typeface="Arial Black"/>
                <a:cs typeface="Arial Black"/>
              </a:rPr>
              <a:t> </a:t>
            </a:r>
            <a:r>
              <a:rPr dirty="0" sz="2400" spc="-10">
                <a:solidFill>
                  <a:srgbClr val="416429"/>
                </a:solidFill>
                <a:latin typeface="Arial Black"/>
                <a:cs typeface="Arial Black"/>
              </a:rPr>
              <a:t>method</a:t>
            </a:r>
            <a:endParaRPr sz="2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7124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49960"/>
            <a:ext cx="12036425" cy="6147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Resource</a:t>
            </a:r>
            <a:r>
              <a:rPr dirty="0" sz="2400" spc="-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Provisioning</a:t>
            </a:r>
            <a:r>
              <a:rPr dirty="0" sz="2400" spc="-1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Platform</a:t>
            </a:r>
            <a:r>
              <a:rPr dirty="0" sz="24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Deployment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 spc="-10">
                <a:solidFill>
                  <a:srgbClr val="416429"/>
                </a:solidFill>
                <a:latin typeface="Arial Black"/>
                <a:cs typeface="Arial Black"/>
              </a:rPr>
              <a:t>Demand-</a:t>
            </a:r>
            <a:r>
              <a:rPr dirty="0" sz="2400">
                <a:solidFill>
                  <a:srgbClr val="416429"/>
                </a:solidFill>
                <a:latin typeface="Arial Black"/>
                <a:cs typeface="Arial Black"/>
              </a:rPr>
              <a:t>Driven</a:t>
            </a:r>
            <a:r>
              <a:rPr dirty="0" sz="2400" spc="-30">
                <a:solidFill>
                  <a:srgbClr val="416429"/>
                </a:solidFill>
                <a:latin typeface="Arial Black"/>
                <a:cs typeface="Arial Black"/>
              </a:rPr>
              <a:t> </a:t>
            </a:r>
            <a:r>
              <a:rPr dirty="0" sz="2400" spc="-10">
                <a:solidFill>
                  <a:srgbClr val="416429"/>
                </a:solidFill>
                <a:latin typeface="Arial Black"/>
                <a:cs typeface="Arial Black"/>
              </a:rPr>
              <a:t>method</a:t>
            </a:r>
            <a:endParaRPr sz="2400">
              <a:latin typeface="Arial Black"/>
              <a:cs typeface="Arial Black"/>
            </a:endParaRPr>
          </a:p>
          <a:p>
            <a:pPr marL="528955" indent="-348615">
              <a:lnSpc>
                <a:spcPct val="100000"/>
              </a:lnSpc>
              <a:spcBef>
                <a:spcPts val="1989"/>
              </a:spcBef>
              <a:buFont typeface="Arial MT"/>
              <a:buChar char="•"/>
              <a:tabLst>
                <a:tab pos="528955" algn="l"/>
              </a:tabLst>
            </a:pPr>
            <a:r>
              <a:rPr dirty="0" sz="1800" b="1">
                <a:latin typeface="Calibri"/>
                <a:cs typeface="Calibri"/>
              </a:rPr>
              <a:t>This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method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adds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or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removes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computing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instances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based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current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utilization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level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allocated</a:t>
            </a:r>
            <a:r>
              <a:rPr dirty="0" sz="1800" spc="-10" b="1">
                <a:latin typeface="Calibri"/>
                <a:cs typeface="Calibri"/>
              </a:rPr>
              <a:t> resources.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4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algn="just" marL="528955" marR="5080" indent="-349250">
              <a:lnSpc>
                <a:spcPct val="150000"/>
              </a:lnSpc>
              <a:buFont typeface="Arial MT"/>
              <a:buChar char="•"/>
              <a:tabLst>
                <a:tab pos="528955" algn="l"/>
              </a:tabLst>
            </a:pP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19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demand-</a:t>
            </a:r>
            <a:r>
              <a:rPr dirty="0" sz="1800" b="1">
                <a:latin typeface="Calibri"/>
                <a:cs typeface="Calibri"/>
              </a:rPr>
              <a:t>driven</a:t>
            </a:r>
            <a:r>
              <a:rPr dirty="0" sz="1800" spc="204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method</a:t>
            </a:r>
            <a:r>
              <a:rPr dirty="0" sz="1800" spc="204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automatically</a:t>
            </a:r>
            <a:r>
              <a:rPr dirty="0" sz="1800" spc="18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allocates</a:t>
            </a:r>
            <a:r>
              <a:rPr dirty="0" sz="1800" spc="2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two</a:t>
            </a:r>
            <a:r>
              <a:rPr dirty="0" sz="1800" spc="1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Xeon</a:t>
            </a:r>
            <a:r>
              <a:rPr dirty="0" sz="1800" spc="19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processors</a:t>
            </a:r>
            <a:r>
              <a:rPr dirty="0" sz="1800" spc="204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2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2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user</a:t>
            </a:r>
            <a:r>
              <a:rPr dirty="0" sz="1800" spc="19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application,</a:t>
            </a:r>
            <a:r>
              <a:rPr dirty="0" sz="1800" spc="19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when</a:t>
            </a:r>
            <a:r>
              <a:rPr dirty="0" sz="1800" spc="204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1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user</a:t>
            </a:r>
            <a:r>
              <a:rPr dirty="0" sz="1800" spc="195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was </a:t>
            </a:r>
            <a:r>
              <a:rPr dirty="0" sz="1800" b="1">
                <a:latin typeface="Calibri"/>
                <a:cs typeface="Calibri"/>
              </a:rPr>
              <a:t>using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one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Xeon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processor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more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than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60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percent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time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extended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period.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algn="just" marL="528955" marR="5715" indent="-349250">
              <a:lnSpc>
                <a:spcPct val="156100"/>
              </a:lnSpc>
              <a:buFont typeface="Arial MT"/>
              <a:buChar char="•"/>
              <a:tabLst>
                <a:tab pos="528955" algn="l"/>
              </a:tabLst>
            </a:pP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general,</a:t>
            </a:r>
            <a:r>
              <a:rPr dirty="0" sz="1800" spc="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when</a:t>
            </a:r>
            <a:r>
              <a:rPr dirty="0" sz="1800" spc="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resource</a:t>
            </a:r>
            <a:r>
              <a:rPr dirty="0" sz="1800" spc="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has</a:t>
            </a:r>
            <a:r>
              <a:rPr dirty="0" sz="1800" spc="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surpassed</a:t>
            </a:r>
            <a:r>
              <a:rPr dirty="0" sz="1800" spc="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threshold</a:t>
            </a:r>
            <a:r>
              <a:rPr dirty="0" sz="1800" spc="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certain</a:t>
            </a:r>
            <a:r>
              <a:rPr dirty="0" sz="1800" spc="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amount</a:t>
            </a:r>
            <a:r>
              <a:rPr dirty="0" sz="1800" spc="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time,</a:t>
            </a:r>
            <a:r>
              <a:rPr dirty="0" sz="1800" spc="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scheme</a:t>
            </a:r>
            <a:r>
              <a:rPr dirty="0" sz="1800" spc="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increases</a:t>
            </a:r>
            <a:r>
              <a:rPr dirty="0" sz="1800" spc="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that</a:t>
            </a:r>
            <a:r>
              <a:rPr dirty="0" sz="1800" spc="4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resource </a:t>
            </a:r>
            <a:r>
              <a:rPr dirty="0" sz="1800" b="1">
                <a:latin typeface="Calibri"/>
                <a:cs typeface="Calibri"/>
              </a:rPr>
              <a:t>based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</a:t>
            </a:r>
            <a:r>
              <a:rPr dirty="0" sz="1800" spc="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demand.</a:t>
            </a:r>
            <a:r>
              <a:rPr dirty="0" sz="1800" spc="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When</a:t>
            </a:r>
            <a:r>
              <a:rPr dirty="0" sz="1800" spc="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resource</a:t>
            </a:r>
            <a:r>
              <a:rPr dirty="0" sz="1800" spc="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below</a:t>
            </a:r>
            <a:r>
              <a:rPr dirty="0" sz="1800" spc="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threshold</a:t>
            </a:r>
            <a:r>
              <a:rPr dirty="0" sz="1800" spc="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certain</a:t>
            </a:r>
            <a:r>
              <a:rPr dirty="0" sz="1800" spc="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amount</a:t>
            </a:r>
            <a:r>
              <a:rPr dirty="0" sz="1800" spc="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time,</a:t>
            </a:r>
            <a:r>
              <a:rPr dirty="0" sz="1800" spc="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that</a:t>
            </a:r>
            <a:r>
              <a:rPr dirty="0" sz="1800" spc="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resource</a:t>
            </a:r>
            <a:r>
              <a:rPr dirty="0" sz="1800" spc="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could</a:t>
            </a:r>
            <a:r>
              <a:rPr dirty="0" sz="1800" spc="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be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decreased accordingly.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(Defines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range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CPU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utilization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say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for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eg: 30%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70%.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CPU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utilization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below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30%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decreases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CPU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capacity.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If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CPU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utilization</a:t>
            </a:r>
            <a:r>
              <a:rPr dirty="0" sz="1100" spc="-5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above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70%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increases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CPU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capacity)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80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528955" indent="-348615">
              <a:lnSpc>
                <a:spcPct val="100000"/>
              </a:lnSpc>
              <a:buFont typeface="Arial MT"/>
              <a:buChar char="•"/>
              <a:tabLst>
                <a:tab pos="528955" algn="l"/>
              </a:tabLst>
            </a:pPr>
            <a:r>
              <a:rPr dirty="0" sz="1800" b="1">
                <a:latin typeface="Calibri"/>
                <a:cs typeface="Calibri"/>
              </a:rPr>
              <a:t>Amazon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implements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such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auto-</a:t>
            </a:r>
            <a:r>
              <a:rPr dirty="0" sz="1800" b="1">
                <a:latin typeface="Calibri"/>
                <a:cs typeface="Calibri"/>
              </a:rPr>
              <a:t>scale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feature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its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EC2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platform.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80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528955" indent="-3486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28955" algn="l"/>
              </a:tabLst>
            </a:pPr>
            <a:r>
              <a:rPr dirty="0" sz="1800" b="1">
                <a:latin typeface="Calibri"/>
                <a:cs typeface="Calibri"/>
              </a:rPr>
              <a:t>This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method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easy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implement.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80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528955" indent="-34861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528955" algn="l"/>
              </a:tabLst>
            </a:pPr>
            <a:r>
              <a:rPr dirty="0" sz="1800" spc="-10" b="1">
                <a:latin typeface="Calibri"/>
                <a:cs typeface="Calibri"/>
              </a:rPr>
              <a:t>Disadvantage: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scheme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does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not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work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out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right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if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workload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changes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abruptly.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7124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49960"/>
            <a:ext cx="12037060" cy="6277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Resource</a:t>
            </a:r>
            <a:r>
              <a:rPr dirty="0" sz="2400" spc="-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Provisioning</a:t>
            </a:r>
            <a:r>
              <a:rPr dirty="0" sz="2400" spc="-1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Platform</a:t>
            </a:r>
            <a:r>
              <a:rPr dirty="0" sz="24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Deployment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solidFill>
                  <a:srgbClr val="416429"/>
                </a:solidFill>
                <a:latin typeface="Arial Black"/>
                <a:cs typeface="Arial Black"/>
              </a:rPr>
              <a:t>Event</a:t>
            </a:r>
            <a:r>
              <a:rPr dirty="0" sz="2400" spc="-85">
                <a:solidFill>
                  <a:srgbClr val="416429"/>
                </a:solidFill>
                <a:latin typeface="Arial Black"/>
                <a:cs typeface="Arial Black"/>
              </a:rPr>
              <a:t> </a:t>
            </a:r>
            <a:r>
              <a:rPr dirty="0" sz="2400">
                <a:solidFill>
                  <a:srgbClr val="416429"/>
                </a:solidFill>
                <a:latin typeface="Arial Black"/>
                <a:cs typeface="Arial Black"/>
              </a:rPr>
              <a:t>Driven</a:t>
            </a:r>
            <a:r>
              <a:rPr dirty="0" sz="2400" spc="-105">
                <a:solidFill>
                  <a:srgbClr val="416429"/>
                </a:solidFill>
                <a:latin typeface="Arial Black"/>
                <a:cs typeface="Arial Black"/>
              </a:rPr>
              <a:t> </a:t>
            </a:r>
            <a:r>
              <a:rPr dirty="0" sz="2400" spc="-10">
                <a:solidFill>
                  <a:srgbClr val="416429"/>
                </a:solidFill>
                <a:latin typeface="Arial Black"/>
                <a:cs typeface="Arial Black"/>
              </a:rPr>
              <a:t>method</a:t>
            </a:r>
            <a:endParaRPr sz="2400">
              <a:latin typeface="Arial Black"/>
              <a:cs typeface="Arial Black"/>
            </a:endParaRPr>
          </a:p>
          <a:p>
            <a:pPr marL="354965" indent="-342265">
              <a:lnSpc>
                <a:spcPct val="100000"/>
              </a:lnSpc>
              <a:spcBef>
                <a:spcPts val="182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scheme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adds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removes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instances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specific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time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event.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9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scheme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works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better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seasonal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1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predicted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events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such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Christmastime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West</a:t>
            </a:r>
            <a:r>
              <a:rPr dirty="0" sz="2000" spc="1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Lunar </a:t>
            </a:r>
            <a:r>
              <a:rPr dirty="0" sz="2000" b="1">
                <a:latin typeface="Calibri"/>
                <a:cs typeface="Calibri"/>
              </a:rPr>
              <a:t>New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Year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East.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5600" marR="8255" indent="-342900">
              <a:lnSpc>
                <a:spcPct val="15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During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these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events,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number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grows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before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event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period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then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decreases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during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event period.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scheme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anticipates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peak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traffic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before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happens.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method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results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minimal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loss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QoS,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if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event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predicted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correctly.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Otherwise,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wasted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5"/>
              </a:spcBef>
            </a:pP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even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greater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due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events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not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follow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fixed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pattern.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7124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49960"/>
            <a:ext cx="12035790" cy="4361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Resource</a:t>
            </a:r>
            <a:r>
              <a:rPr dirty="0" sz="2400" spc="-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Provisioning</a:t>
            </a:r>
            <a:r>
              <a:rPr dirty="0" sz="2400" spc="-1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Platform</a:t>
            </a:r>
            <a:r>
              <a:rPr dirty="0" sz="24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Deployment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dirty="0" sz="2000" spc="-10">
                <a:solidFill>
                  <a:srgbClr val="416429"/>
                </a:solidFill>
                <a:latin typeface="Arial Black"/>
                <a:cs typeface="Arial Black"/>
              </a:rPr>
              <a:t>Popularity-</a:t>
            </a:r>
            <a:r>
              <a:rPr dirty="0" sz="2000">
                <a:solidFill>
                  <a:srgbClr val="416429"/>
                </a:solidFill>
                <a:latin typeface="Arial Black"/>
                <a:cs typeface="Arial Black"/>
              </a:rPr>
              <a:t>Driven</a:t>
            </a:r>
            <a:r>
              <a:rPr dirty="0" sz="2000" spc="-114">
                <a:solidFill>
                  <a:srgbClr val="416429"/>
                </a:solidFill>
                <a:latin typeface="Arial Black"/>
                <a:cs typeface="Arial Black"/>
              </a:rPr>
              <a:t> </a:t>
            </a:r>
            <a:r>
              <a:rPr dirty="0" sz="2000" spc="-10">
                <a:solidFill>
                  <a:srgbClr val="416429"/>
                </a:solidFill>
                <a:latin typeface="Arial Black"/>
                <a:cs typeface="Arial Black"/>
              </a:rPr>
              <a:t>method</a:t>
            </a:r>
            <a:endParaRPr sz="2000">
              <a:latin typeface="Arial Black"/>
              <a:cs typeface="Arial Black"/>
            </a:endParaRPr>
          </a:p>
          <a:p>
            <a:pPr marL="355600" marR="6350" indent="-342900">
              <a:lnSpc>
                <a:spcPct val="150000"/>
              </a:lnSpc>
              <a:spcBef>
                <a:spcPts val="18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method,</a:t>
            </a:r>
            <a:r>
              <a:rPr dirty="0" sz="2000" spc="3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Internet</a:t>
            </a:r>
            <a:r>
              <a:rPr dirty="0" sz="2000" spc="3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searches</a:t>
            </a:r>
            <a:r>
              <a:rPr dirty="0" sz="2000" spc="3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3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popularity</a:t>
            </a:r>
            <a:r>
              <a:rPr dirty="0" sz="2000" spc="3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3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certain</a:t>
            </a:r>
            <a:r>
              <a:rPr dirty="0" sz="2000" spc="3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3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3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creates</a:t>
            </a:r>
            <a:r>
              <a:rPr dirty="0" sz="2000" spc="3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instances</a:t>
            </a:r>
            <a:r>
              <a:rPr dirty="0" sz="2000" spc="38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by </a:t>
            </a:r>
            <a:r>
              <a:rPr dirty="0" sz="2000" b="1">
                <a:latin typeface="Calibri"/>
                <a:cs typeface="Calibri"/>
              </a:rPr>
              <a:t>popularity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demand.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(Currently </a:t>
            </a:r>
            <a:r>
              <a:rPr dirty="0" sz="1400" b="1">
                <a:latin typeface="Calibri"/>
                <a:cs typeface="Calibri"/>
              </a:rPr>
              <a:t>popular</a:t>
            </a:r>
            <a:r>
              <a:rPr dirty="0" sz="1400" spc="-20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applications</a:t>
            </a:r>
            <a:r>
              <a:rPr dirty="0" sz="1400" spc="-10">
                <a:latin typeface="Wingdings"/>
                <a:cs typeface="Wingdings"/>
              </a:rPr>
              <a:t></a:t>
            </a:r>
            <a:r>
              <a:rPr dirty="0" sz="1400" spc="-50">
                <a:latin typeface="Times New Roman"/>
                <a:cs typeface="Times New Roman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Facebook, Instagram,</a:t>
            </a:r>
            <a:r>
              <a:rPr dirty="0" sz="1400" spc="-25" b="1">
                <a:latin typeface="Calibri"/>
                <a:cs typeface="Calibri"/>
              </a:rPr>
              <a:t> </a:t>
            </a:r>
            <a:r>
              <a:rPr dirty="0" sz="1400" spc="-10" b="1">
                <a:latin typeface="Calibri"/>
                <a:cs typeface="Calibri"/>
              </a:rPr>
              <a:t>Twitter)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scheme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anticipates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increased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traffic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popularity.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Again,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scheme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minimal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loss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QoS,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if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predicted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popularity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correct.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may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wasted</a:t>
            </a:r>
            <a:r>
              <a:rPr dirty="0" sz="2000" spc="-25" b="1">
                <a:latin typeface="Calibri"/>
                <a:cs typeface="Calibri"/>
              </a:rPr>
              <a:t> if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traffic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does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occur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expected.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102615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245109"/>
            <a:ext cx="9837420" cy="5937885"/>
          </a:xfrm>
          <a:prstGeom prst="rect">
            <a:avLst/>
          </a:prstGeom>
        </p:spPr>
        <p:txBody>
          <a:bodyPr wrap="square" lIns="0" tIns="60325" rIns="0" bIns="0" rtlCol="0" vert="horz">
            <a:spAutoFit/>
          </a:bodyPr>
          <a:lstStyle/>
          <a:p>
            <a:pPr marL="12700" marR="5080" indent="3691254">
              <a:lnSpc>
                <a:spcPts val="2530"/>
              </a:lnSpc>
              <a:spcBef>
                <a:spcPts val="475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Resource</a:t>
            </a:r>
            <a:r>
              <a:rPr dirty="0" sz="2400" spc="-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Provisioning</a:t>
            </a:r>
            <a:r>
              <a:rPr dirty="0" sz="2400" spc="-1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Platform</a:t>
            </a:r>
            <a:r>
              <a:rPr dirty="0" sz="24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Deployment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Dynamic</a:t>
            </a:r>
            <a:r>
              <a:rPr dirty="0" sz="24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Resource</a:t>
            </a:r>
            <a:r>
              <a:rPr dirty="0" sz="24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Deployment</a:t>
            </a:r>
            <a:endParaRPr sz="2400">
              <a:latin typeface="Calibri"/>
              <a:cs typeface="Calibri"/>
            </a:endParaRPr>
          </a:p>
          <a:p>
            <a:pPr algn="just" marL="241300" marR="3571875" indent="-228600">
              <a:lnSpc>
                <a:spcPct val="100000"/>
              </a:lnSpc>
              <a:spcBef>
                <a:spcPts val="535"/>
              </a:spcBef>
              <a:buFont typeface="Arial MT"/>
              <a:buChar char="•"/>
              <a:tabLst>
                <a:tab pos="241300" algn="l"/>
                <a:tab pos="243204" algn="l"/>
              </a:tabLst>
            </a:pPr>
            <a:r>
              <a:rPr dirty="0" sz="1200">
                <a:latin typeface="Calibri"/>
                <a:cs typeface="Calibri"/>
              </a:rPr>
              <a:t>	(Grid</a:t>
            </a:r>
            <a:r>
              <a:rPr dirty="0" sz="1200" spc="37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is</a:t>
            </a:r>
            <a:r>
              <a:rPr dirty="0" sz="1200" spc="37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</a:t>
            </a:r>
            <a:r>
              <a:rPr dirty="0" sz="1200" spc="3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distributed</a:t>
            </a:r>
            <a:r>
              <a:rPr dirty="0" sz="1200" spc="3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high</a:t>
            </a:r>
            <a:r>
              <a:rPr dirty="0" sz="1200" spc="36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performance</a:t>
            </a:r>
            <a:r>
              <a:rPr dirty="0" sz="1200" spc="3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computing</a:t>
            </a:r>
            <a:r>
              <a:rPr dirty="0" sz="1200" spc="3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paradigm</a:t>
            </a:r>
            <a:r>
              <a:rPr dirty="0" sz="1200" spc="3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3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offers</a:t>
            </a:r>
            <a:r>
              <a:rPr dirty="0" sz="1200" spc="35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various</a:t>
            </a:r>
            <a:r>
              <a:rPr dirty="0" sz="1200" spc="36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types</a:t>
            </a:r>
            <a:r>
              <a:rPr dirty="0" sz="1200" spc="365">
                <a:latin typeface="Calibri"/>
                <a:cs typeface="Calibri"/>
              </a:rPr>
              <a:t> </a:t>
            </a:r>
            <a:r>
              <a:rPr dirty="0" sz="1200" spc="-25">
                <a:latin typeface="Calibri"/>
                <a:cs typeface="Calibri"/>
              </a:rPr>
              <a:t>of </a:t>
            </a:r>
            <a:r>
              <a:rPr dirty="0" sz="1200">
                <a:latin typeface="Calibri"/>
                <a:cs typeface="Calibri"/>
              </a:rPr>
              <a:t>resources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(like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computing,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storage,</a:t>
            </a:r>
            <a:r>
              <a:rPr dirty="0" sz="1200" spc="9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communication)</a:t>
            </a:r>
            <a:r>
              <a:rPr dirty="0" sz="1200" spc="8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resource-</a:t>
            </a:r>
            <a:r>
              <a:rPr dirty="0" sz="1200">
                <a:latin typeface="Calibri"/>
                <a:cs typeface="Calibri"/>
              </a:rPr>
              <a:t>intensive</a:t>
            </a:r>
            <a:r>
              <a:rPr dirty="0" sz="1200" spc="9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tasks.)</a:t>
            </a:r>
            <a:r>
              <a:rPr dirty="0" sz="1200" spc="8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Grid</a:t>
            </a:r>
            <a:r>
              <a:rPr dirty="0" sz="1200">
                <a:latin typeface="Wingdings"/>
                <a:cs typeface="Wingdings"/>
              </a:rPr>
              <a:t></a:t>
            </a:r>
            <a:r>
              <a:rPr dirty="0" sz="1200" spc="60">
                <a:latin typeface="Times New Roman"/>
                <a:cs typeface="Times New Roman"/>
              </a:rPr>
              <a:t> </a:t>
            </a:r>
            <a:r>
              <a:rPr dirty="0" sz="1200" spc="-50">
                <a:latin typeface="Calibri"/>
                <a:cs typeface="Calibri"/>
              </a:rPr>
              <a:t>a </a:t>
            </a:r>
            <a:r>
              <a:rPr dirty="0" sz="1200">
                <a:latin typeface="Calibri"/>
                <a:cs typeface="Calibri"/>
              </a:rPr>
              <a:t>site</a:t>
            </a:r>
            <a:r>
              <a:rPr dirty="0" sz="1200" spc="-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which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provides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some</a:t>
            </a:r>
            <a:r>
              <a:rPr dirty="0" sz="1200" spc="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 of</a:t>
            </a:r>
            <a:r>
              <a:rPr dirty="0" sz="1200" spc="-10">
                <a:latin typeface="Calibri"/>
                <a:cs typeface="Calibri"/>
              </a:rPr>
              <a:t> resources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for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</a:t>
            </a:r>
            <a:r>
              <a:rPr dirty="0" sz="1200" spc="-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applications)</a:t>
            </a:r>
            <a:endParaRPr sz="1200">
              <a:latin typeface="Calibri"/>
              <a:cs typeface="Calibri"/>
            </a:endParaRPr>
          </a:p>
          <a:p>
            <a:pPr algn="just" marL="352425" marR="3574415" indent="-339725">
              <a:lnSpc>
                <a:spcPct val="150000"/>
              </a:lnSpc>
              <a:spcBef>
                <a:spcPts val="77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4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4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uses</a:t>
            </a:r>
            <a:r>
              <a:rPr dirty="0" sz="2000" spc="48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VMs</a:t>
            </a:r>
            <a:r>
              <a:rPr dirty="0" sz="2000" spc="4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4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building</a:t>
            </a:r>
            <a:r>
              <a:rPr dirty="0" sz="2000" spc="4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blocks</a:t>
            </a:r>
            <a:r>
              <a:rPr dirty="0" sz="2000" spc="4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4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create</a:t>
            </a:r>
            <a:r>
              <a:rPr dirty="0" sz="2000" spc="48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an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execution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environment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across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sites.</a:t>
            </a:r>
            <a:endParaRPr sz="2000">
              <a:latin typeface="Calibri"/>
              <a:cs typeface="Calibri"/>
            </a:endParaRPr>
          </a:p>
          <a:p>
            <a:pPr algn="just" marL="352425" marR="3574415" indent="-339725">
              <a:lnSpc>
                <a:spcPct val="150000"/>
              </a:lnSpc>
              <a:spcBef>
                <a:spcPts val="18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5" b="1">
                <a:latin typeface="Calibri"/>
                <a:cs typeface="Calibri"/>
              </a:rPr>
              <a:t>  </a:t>
            </a:r>
            <a:r>
              <a:rPr dirty="0" sz="2000" spc="-20" b="1">
                <a:latin typeface="Calibri"/>
                <a:cs typeface="Calibri"/>
              </a:rPr>
              <a:t>InterGrid-</a:t>
            </a:r>
            <a:r>
              <a:rPr dirty="0" sz="2000" b="1">
                <a:latin typeface="Calibri"/>
                <a:cs typeface="Calibri"/>
              </a:rPr>
              <a:t>managed</a:t>
            </a:r>
            <a:r>
              <a:rPr dirty="0" sz="2000" spc="4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infrastructure</a:t>
            </a:r>
            <a:r>
              <a:rPr dirty="0" sz="2000" spc="4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was</a:t>
            </a:r>
            <a:r>
              <a:rPr dirty="0" sz="2000" spc="35" b="1">
                <a:latin typeface="Calibri"/>
                <a:cs typeface="Calibri"/>
              </a:rPr>
              <a:t>  </a:t>
            </a:r>
            <a:r>
              <a:rPr dirty="0" sz="2000" spc="-10" b="1">
                <a:latin typeface="Calibri"/>
                <a:cs typeface="Calibri"/>
              </a:rPr>
              <a:t>developed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Melbourne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University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group.</a:t>
            </a:r>
            <a:endParaRPr sz="2000">
              <a:latin typeface="Calibri"/>
              <a:cs typeface="Calibri"/>
            </a:endParaRPr>
          </a:p>
          <a:p>
            <a:pPr algn="just" marL="351790" marR="3571240" indent="-339090">
              <a:lnSpc>
                <a:spcPct val="147700"/>
              </a:lnSpc>
              <a:spcBef>
                <a:spcPts val="185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InterGrid</a:t>
            </a:r>
            <a:r>
              <a:rPr dirty="0" sz="2000" spc="3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3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35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Java-</a:t>
            </a:r>
            <a:r>
              <a:rPr dirty="0" sz="2000" b="1">
                <a:latin typeface="Calibri"/>
                <a:cs typeface="Calibri"/>
              </a:rPr>
              <a:t>implemented</a:t>
            </a:r>
            <a:r>
              <a:rPr dirty="0" sz="2000" spc="3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3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system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lets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create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execution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environments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on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top</a:t>
            </a:r>
            <a:r>
              <a:rPr dirty="0" sz="2000" spc="10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11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all</a:t>
            </a:r>
            <a:r>
              <a:rPr dirty="0" sz="2000" spc="9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participating</a:t>
            </a:r>
            <a:r>
              <a:rPr dirty="0" sz="2000" spc="10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grid</a:t>
            </a:r>
            <a:r>
              <a:rPr dirty="0" sz="2000" spc="11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resources.</a:t>
            </a:r>
            <a:r>
              <a:rPr dirty="0" sz="2000" spc="105" b="1">
                <a:latin typeface="Calibri"/>
                <a:cs typeface="Calibri"/>
              </a:rPr>
              <a:t>  </a:t>
            </a:r>
            <a:r>
              <a:rPr dirty="0" sz="1200" spc="-10">
                <a:latin typeface="Calibri"/>
                <a:cs typeface="Calibri"/>
              </a:rPr>
              <a:t>(Framework/Software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designed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by</a:t>
            </a:r>
            <a:r>
              <a:rPr dirty="0" sz="1200" spc="1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Melbourne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University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group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114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runs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1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grid(organization</a:t>
            </a:r>
            <a:r>
              <a:rPr dirty="0" sz="1200" spc="12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site/cloud</a:t>
            </a:r>
            <a:r>
              <a:rPr dirty="0" sz="1200" spc="12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site)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that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allows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users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create</a:t>
            </a:r>
            <a:r>
              <a:rPr dirty="0" sz="1200" spc="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VMs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on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top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all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participating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grid,</a:t>
            </a:r>
            <a:r>
              <a:rPr dirty="0" sz="1200" spc="4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where</a:t>
            </a:r>
            <a:r>
              <a:rPr dirty="0" sz="1200" spc="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each</a:t>
            </a:r>
            <a:r>
              <a:rPr dirty="0" sz="1200" spc="5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grid</a:t>
            </a:r>
            <a:r>
              <a:rPr dirty="0" sz="1200" spc="4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maintains </a:t>
            </a:r>
            <a:r>
              <a:rPr dirty="0" sz="1200" spc="-10">
                <a:latin typeface="Calibri"/>
                <a:cs typeface="Calibri"/>
              </a:rPr>
              <a:t>	</a:t>
            </a:r>
            <a:r>
              <a:rPr dirty="0" sz="1200">
                <a:latin typeface="Calibri"/>
                <a:cs typeface="Calibri"/>
              </a:rPr>
              <a:t>the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set</a:t>
            </a:r>
            <a:r>
              <a:rPr dirty="0" sz="1200" spc="1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of</a:t>
            </a:r>
            <a:r>
              <a:rPr dirty="0" sz="1200" spc="-15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resources)</a:t>
            </a:r>
            <a:endParaRPr sz="12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9819" y="1276173"/>
            <a:ext cx="5551343" cy="5503865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102615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46709"/>
            <a:ext cx="9837420" cy="6268085"/>
          </a:xfrm>
          <a:prstGeom prst="rect">
            <a:avLst/>
          </a:prstGeom>
        </p:spPr>
        <p:txBody>
          <a:bodyPr wrap="square" lIns="0" tIns="137160" rIns="0" bIns="0" rtlCol="0" vert="horz">
            <a:spAutoFit/>
          </a:bodyPr>
          <a:lstStyle/>
          <a:p>
            <a:pPr marL="12700" marR="5080" indent="3691254">
              <a:lnSpc>
                <a:spcPct val="66000"/>
              </a:lnSpc>
              <a:spcBef>
                <a:spcPts val="108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Resource</a:t>
            </a:r>
            <a:r>
              <a:rPr dirty="0" sz="2400" spc="-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Provisioning</a:t>
            </a:r>
            <a:r>
              <a:rPr dirty="0" sz="2400" spc="-1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Platform</a:t>
            </a:r>
            <a:r>
              <a:rPr dirty="0" sz="24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Deployment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Dynamic</a:t>
            </a:r>
            <a:r>
              <a:rPr dirty="0" sz="24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Resource</a:t>
            </a:r>
            <a:r>
              <a:rPr dirty="0" sz="24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Deployment</a:t>
            </a:r>
            <a:endParaRPr sz="240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1160"/>
              </a:spcBef>
              <a:buFont typeface="Arial MT"/>
              <a:buChar char="•"/>
              <a:tabLst>
                <a:tab pos="241300" algn="l"/>
                <a:tab pos="1198245" algn="l"/>
                <a:tab pos="2825750" algn="l"/>
                <a:tab pos="4185920" algn="l"/>
                <a:tab pos="5275580" algn="l"/>
              </a:tabLst>
            </a:pPr>
            <a:r>
              <a:rPr dirty="0" sz="2000" spc="-10" b="1">
                <a:latin typeface="Calibri"/>
                <a:cs typeface="Calibri"/>
              </a:rPr>
              <a:t>Peering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arrangements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established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between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gateways</a:t>
            </a:r>
            <a:endParaRPr sz="2000">
              <a:latin typeface="Calibri"/>
              <a:cs typeface="Calibri"/>
            </a:endParaRPr>
          </a:p>
          <a:p>
            <a:pPr marL="241300" marR="3575050">
              <a:lnSpc>
                <a:spcPct val="150000"/>
              </a:lnSpc>
              <a:spcBef>
                <a:spcPts val="5"/>
              </a:spcBef>
            </a:pPr>
            <a:r>
              <a:rPr dirty="0" sz="2000" b="1">
                <a:latin typeface="Calibri"/>
                <a:cs typeface="Calibri"/>
              </a:rPr>
              <a:t>enable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allocation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resources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grids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to </a:t>
            </a:r>
            <a:r>
              <a:rPr dirty="0" sz="2000" b="1">
                <a:latin typeface="Calibri"/>
                <a:cs typeface="Calibri"/>
              </a:rPr>
              <a:t>establish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execution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environment.</a:t>
            </a:r>
            <a:endParaRPr sz="2000">
              <a:latin typeface="Calibri"/>
              <a:cs typeface="Calibri"/>
            </a:endParaRPr>
          </a:p>
          <a:p>
            <a:pPr algn="just" marL="239395" marR="3571240" indent="-226695">
              <a:lnSpc>
                <a:spcPct val="150000"/>
              </a:lnSpc>
              <a:spcBef>
                <a:spcPts val="24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Figure,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scenario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illustrated</a:t>
            </a:r>
            <a:r>
              <a:rPr dirty="0" sz="2000" spc="2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20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which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intergrid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gateway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(IGG)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allocates</a:t>
            </a:r>
            <a:r>
              <a:rPr dirty="0" sz="2000" spc="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resources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local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cluster</a:t>
            </a:r>
            <a:r>
              <a:rPr dirty="0" sz="2000" spc="4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to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deploy</a:t>
            </a:r>
            <a:r>
              <a:rPr dirty="0" sz="2000" spc="45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4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4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three</a:t>
            </a:r>
            <a:r>
              <a:rPr dirty="0" sz="2000" spc="4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steps:</a:t>
            </a:r>
            <a:r>
              <a:rPr dirty="0" sz="2000" spc="45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(1)</a:t>
            </a:r>
            <a:r>
              <a:rPr dirty="0" sz="2000" spc="4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requesting</a:t>
            </a:r>
            <a:r>
              <a:rPr dirty="0" sz="2000" spc="45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the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VMs,</a:t>
            </a:r>
            <a:r>
              <a:rPr dirty="0" sz="2000" spc="18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(2)</a:t>
            </a:r>
            <a:r>
              <a:rPr dirty="0" sz="2000" spc="18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enacting</a:t>
            </a:r>
            <a:r>
              <a:rPr dirty="0" sz="2000" spc="18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9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leases</a:t>
            </a:r>
            <a:r>
              <a:rPr dirty="0" sz="2000" spc="19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(sanctioning),</a:t>
            </a:r>
            <a:r>
              <a:rPr dirty="0" sz="2000" spc="18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90" b="1">
                <a:latin typeface="Calibri"/>
                <a:cs typeface="Calibri"/>
              </a:rPr>
              <a:t>  </a:t>
            </a:r>
            <a:r>
              <a:rPr dirty="0" sz="2000" spc="-25" b="1">
                <a:latin typeface="Calibri"/>
                <a:cs typeface="Calibri"/>
              </a:rPr>
              <a:t>(3)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deploying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requested.</a:t>
            </a:r>
            <a:endParaRPr sz="2000">
              <a:latin typeface="Calibri"/>
              <a:cs typeface="Calibri"/>
            </a:endParaRPr>
          </a:p>
          <a:p>
            <a:pPr algn="just" marL="239395" marR="3571875" indent="-226695">
              <a:lnSpc>
                <a:spcPct val="150100"/>
              </a:lnSpc>
              <a:spcBef>
                <a:spcPts val="24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2000" b="1">
                <a:latin typeface="Calibri"/>
                <a:cs typeface="Calibri"/>
              </a:rPr>
              <a:t>Under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peak demand, this IGG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interacts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another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IGG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9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11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allocate</a:t>
            </a:r>
            <a:r>
              <a:rPr dirty="0" sz="2000" spc="10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resources</a:t>
            </a:r>
            <a:r>
              <a:rPr dirty="0" sz="2000" spc="11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10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00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110" b="1">
                <a:latin typeface="Calibri"/>
                <a:cs typeface="Calibri"/>
              </a:rPr>
              <a:t>  </a:t>
            </a:r>
            <a:r>
              <a:rPr dirty="0" sz="2000" spc="-10" b="1">
                <a:latin typeface="Calibri"/>
                <a:cs typeface="Calibri"/>
              </a:rPr>
              <a:t>computing 	provider.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9819" y="1276173"/>
            <a:ext cx="5551343" cy="5503865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31947" y="-29464"/>
            <a:ext cx="6145530" cy="5899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algn="ctr" marR="205104">
              <a:lnSpc>
                <a:spcPts val="1980"/>
              </a:lnSpc>
              <a:spcBef>
                <a:spcPts val="100"/>
              </a:spcBef>
            </a:pPr>
            <a:r>
              <a:rPr dirty="0" sz="2000" spc="-20" b="0">
                <a:latin typeface="Calibri Light"/>
                <a:cs typeface="Calibri Light"/>
              </a:rPr>
              <a:t>INTER-</a:t>
            </a:r>
            <a:r>
              <a:rPr dirty="0" sz="2000" spc="-35" b="0">
                <a:latin typeface="Calibri Light"/>
                <a:cs typeface="Calibri Light"/>
              </a:rPr>
              <a:t>CLOUD</a:t>
            </a:r>
            <a:r>
              <a:rPr dirty="0" sz="2000" spc="-45" b="0">
                <a:latin typeface="Calibri Light"/>
                <a:cs typeface="Calibri Light"/>
              </a:rPr>
              <a:t> </a:t>
            </a:r>
            <a:r>
              <a:rPr dirty="0" sz="2000" spc="-25" b="0">
                <a:latin typeface="Calibri Light"/>
                <a:cs typeface="Calibri Light"/>
              </a:rPr>
              <a:t>RESOURCE</a:t>
            </a:r>
            <a:r>
              <a:rPr dirty="0" sz="2000" spc="-50" b="0">
                <a:latin typeface="Calibri Light"/>
                <a:cs typeface="Calibri Light"/>
              </a:rPr>
              <a:t> </a:t>
            </a:r>
            <a:r>
              <a:rPr dirty="0" sz="2000" spc="-10" b="0">
                <a:latin typeface="Calibri Light"/>
                <a:cs typeface="Calibri Light"/>
              </a:rPr>
              <a:t>MANAGEMENT</a:t>
            </a:r>
            <a:endParaRPr sz="2000">
              <a:latin typeface="Calibri Light"/>
              <a:cs typeface="Calibri Light"/>
            </a:endParaRPr>
          </a:p>
          <a:p>
            <a:pPr marL="12700">
              <a:lnSpc>
                <a:spcPts val="2460"/>
              </a:lnSpc>
            </a:pPr>
            <a:r>
              <a:rPr dirty="0" sz="2400"/>
              <a:t>Resource</a:t>
            </a:r>
            <a:r>
              <a:rPr dirty="0" sz="2400" spc="-100"/>
              <a:t> </a:t>
            </a:r>
            <a:r>
              <a:rPr dirty="0" sz="2400"/>
              <a:t>Provisioning</a:t>
            </a:r>
            <a:r>
              <a:rPr dirty="0" sz="2400" spc="-120"/>
              <a:t> </a:t>
            </a:r>
            <a:r>
              <a:rPr dirty="0" sz="2400"/>
              <a:t>and</a:t>
            </a:r>
            <a:r>
              <a:rPr dirty="0" sz="2400" spc="-90"/>
              <a:t> </a:t>
            </a:r>
            <a:r>
              <a:rPr dirty="0" sz="2400"/>
              <a:t>Platform</a:t>
            </a:r>
            <a:r>
              <a:rPr dirty="0" sz="2400" spc="-90"/>
              <a:t> </a:t>
            </a:r>
            <a:r>
              <a:rPr dirty="0" sz="2400" spc="-10"/>
              <a:t>Deployment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78739" y="656335"/>
            <a:ext cx="7907020" cy="6177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Dynamic</a:t>
            </a:r>
            <a:r>
              <a:rPr dirty="0" sz="24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Resource</a:t>
            </a:r>
            <a:r>
              <a:rPr dirty="0" sz="24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Deployment</a:t>
            </a:r>
            <a:endParaRPr sz="2400">
              <a:latin typeface="Calibri"/>
              <a:cs typeface="Calibri"/>
            </a:endParaRPr>
          </a:p>
          <a:p>
            <a:pPr marL="241300" marR="9525" indent="-228600">
              <a:lnSpc>
                <a:spcPct val="150100"/>
              </a:lnSpc>
              <a:spcBef>
                <a:spcPts val="665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3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grid</a:t>
            </a:r>
            <a:r>
              <a:rPr dirty="0" sz="1800" spc="3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has</a:t>
            </a:r>
            <a:r>
              <a:rPr dirty="0" sz="1800" spc="30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predefined</a:t>
            </a:r>
            <a:r>
              <a:rPr dirty="0" sz="1800" spc="3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peering</a:t>
            </a:r>
            <a:r>
              <a:rPr dirty="0" sz="1800" spc="3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arrangements</a:t>
            </a:r>
            <a:r>
              <a:rPr dirty="0" sz="1800" spc="28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with</a:t>
            </a:r>
            <a:r>
              <a:rPr dirty="0" sz="1800" spc="30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other</a:t>
            </a:r>
            <a:r>
              <a:rPr dirty="0" sz="1800" spc="3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grids,</a:t>
            </a:r>
            <a:r>
              <a:rPr dirty="0" sz="1800" spc="30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which</a:t>
            </a:r>
            <a:r>
              <a:rPr dirty="0" sz="1800" spc="3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310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IGG </a:t>
            </a:r>
            <a:r>
              <a:rPr dirty="0" sz="1800" spc="-10" b="1">
                <a:latin typeface="Calibri"/>
                <a:cs typeface="Calibri"/>
              </a:rPr>
              <a:t>manages.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07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b="1">
                <a:latin typeface="Calibri"/>
                <a:cs typeface="Calibri"/>
              </a:rPr>
              <a:t>Through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multiple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IGGs,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system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coordinates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use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InterGrid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resources.</a:t>
            </a:r>
            <a:endParaRPr sz="1800">
              <a:latin typeface="Calibri"/>
              <a:cs typeface="Calibri"/>
            </a:endParaRPr>
          </a:p>
          <a:p>
            <a:pPr marL="241300" marR="5080" indent="-228600">
              <a:lnSpc>
                <a:spcPct val="1501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b="1">
                <a:latin typeface="Calibri"/>
                <a:cs typeface="Calibri"/>
              </a:rPr>
              <a:t>An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IGG</a:t>
            </a:r>
            <a:r>
              <a:rPr dirty="0" sz="1800" spc="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aware</a:t>
            </a:r>
            <a:r>
              <a:rPr dirty="0" sz="1800" spc="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peering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terms</a:t>
            </a:r>
            <a:r>
              <a:rPr dirty="0" sz="1800" spc="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with</a:t>
            </a:r>
            <a:r>
              <a:rPr dirty="0" sz="1800" spc="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other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grids,</a:t>
            </a:r>
            <a:r>
              <a:rPr dirty="0" sz="1800" spc="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selects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suitable</a:t>
            </a:r>
            <a:r>
              <a:rPr dirty="0" sz="1800" spc="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grids</a:t>
            </a:r>
            <a:r>
              <a:rPr dirty="0" sz="1800" spc="3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that </a:t>
            </a:r>
            <a:r>
              <a:rPr dirty="0" sz="1800" b="1">
                <a:latin typeface="Calibri"/>
                <a:cs typeface="Calibri"/>
              </a:rPr>
              <a:t>can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provide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required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resources,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replies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requests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from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other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IGGs.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090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b="1">
                <a:latin typeface="Calibri"/>
                <a:cs typeface="Calibri"/>
              </a:rPr>
              <a:t>An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IGG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can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also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allocate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resources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from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provider.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2075"/>
              </a:spcBef>
              <a:buFont typeface="Arial MT"/>
              <a:buChar char="•"/>
              <a:tabLst>
                <a:tab pos="240665" algn="l"/>
              </a:tabLst>
            </a:pP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4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4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system</a:t>
            </a:r>
            <a:r>
              <a:rPr dirty="0" sz="1800" spc="4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creates</a:t>
            </a:r>
            <a:r>
              <a:rPr dirty="0" sz="1800" spc="4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459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virtual</a:t>
            </a:r>
            <a:r>
              <a:rPr dirty="0" sz="1800" spc="459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environment</a:t>
            </a:r>
            <a:r>
              <a:rPr dirty="0" sz="1800" spc="4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459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help</a:t>
            </a:r>
            <a:r>
              <a:rPr dirty="0" sz="1800" spc="4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users</a:t>
            </a:r>
            <a:r>
              <a:rPr dirty="0" sz="1800" spc="459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deploy</a:t>
            </a:r>
            <a:r>
              <a:rPr dirty="0" sz="1800" spc="46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their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080"/>
              </a:spcBef>
            </a:pPr>
            <a:r>
              <a:rPr dirty="0" sz="1800" b="1">
                <a:latin typeface="Calibri"/>
                <a:cs typeface="Calibri"/>
              </a:rPr>
              <a:t>applications.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These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applications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use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distributed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grid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resources.</a:t>
            </a:r>
            <a:endParaRPr sz="1800">
              <a:latin typeface="Calibri"/>
              <a:cs typeface="Calibri"/>
            </a:endParaRPr>
          </a:p>
          <a:p>
            <a:pPr marL="241300" marR="5080" indent="-228600">
              <a:lnSpc>
                <a:spcPct val="15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InterGrid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allocates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provides</a:t>
            </a:r>
            <a:r>
              <a:rPr dirty="0" sz="1800" spc="-3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-40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distributed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virtual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environment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(DVE).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This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virtual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cluster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VMs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that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runs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isolated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from other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virtual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clusters.</a:t>
            </a:r>
            <a:endParaRPr sz="1800">
              <a:latin typeface="Calibri"/>
              <a:cs typeface="Calibri"/>
            </a:endParaRPr>
          </a:p>
          <a:p>
            <a:pPr marL="292735" indent="-280035">
              <a:lnSpc>
                <a:spcPct val="100000"/>
              </a:lnSpc>
              <a:spcBef>
                <a:spcPts val="2085"/>
              </a:spcBef>
              <a:buFont typeface="Arial MT"/>
              <a:buChar char="•"/>
              <a:tabLst>
                <a:tab pos="292735" algn="l"/>
                <a:tab pos="577850" algn="l"/>
                <a:tab pos="1806575" algn="l"/>
                <a:tab pos="2508885" algn="l"/>
                <a:tab pos="2970530" algn="l"/>
                <a:tab pos="3504565" algn="l"/>
                <a:tab pos="4484370" algn="l"/>
                <a:tab pos="5497830" algn="l"/>
                <a:tab pos="6459855" algn="l"/>
                <a:tab pos="7537450" algn="l"/>
              </a:tabLst>
            </a:pPr>
            <a:r>
              <a:rPr dirty="0" sz="1800" spc="-50" b="1">
                <a:latin typeface="Calibri"/>
                <a:cs typeface="Calibri"/>
              </a:rPr>
              <a:t>A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10" b="1">
                <a:latin typeface="Calibri"/>
                <a:cs typeface="Calibri"/>
              </a:rPr>
              <a:t>component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10" b="1">
                <a:latin typeface="Calibri"/>
                <a:cs typeface="Calibri"/>
              </a:rPr>
              <a:t>called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25" b="1">
                <a:latin typeface="Calibri"/>
                <a:cs typeface="Calibri"/>
              </a:rPr>
              <a:t>the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25" b="1">
                <a:latin typeface="Calibri"/>
                <a:cs typeface="Calibri"/>
              </a:rPr>
              <a:t>DVE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10" b="1">
                <a:latin typeface="Calibri"/>
                <a:cs typeface="Calibri"/>
              </a:rPr>
              <a:t>manager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10" b="1">
                <a:latin typeface="Calibri"/>
                <a:cs typeface="Calibri"/>
              </a:rPr>
              <a:t>performs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10" b="1">
                <a:latin typeface="Calibri"/>
                <a:cs typeface="Calibri"/>
              </a:rPr>
              <a:t>resource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10" b="1">
                <a:latin typeface="Calibri"/>
                <a:cs typeface="Calibri"/>
              </a:rPr>
              <a:t>allocation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25" b="1"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  <a:spcBef>
                <a:spcPts val="1085"/>
              </a:spcBef>
            </a:pPr>
            <a:r>
              <a:rPr dirty="0" sz="1800" spc="-10" b="1">
                <a:latin typeface="Calibri"/>
                <a:cs typeface="Calibri"/>
              </a:rPr>
              <a:t>management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behalf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 specific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user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applications.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07956" y="1276173"/>
            <a:ext cx="4046983" cy="5503865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182036"/>
            <a:ext cx="9088755" cy="1517015"/>
          </a:xfrm>
          <a:prstGeom prst="rect"/>
        </p:spPr>
        <p:txBody>
          <a:bodyPr wrap="square" lIns="0" tIns="122555" rIns="0" bIns="0" rtlCol="0" vert="horz">
            <a:spAutoFit/>
          </a:bodyPr>
          <a:lstStyle/>
          <a:p>
            <a:pPr marL="3145155">
              <a:lnSpc>
                <a:spcPct val="100000"/>
              </a:lnSpc>
              <a:spcBef>
                <a:spcPts val="96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  <a:p>
            <a:pPr marL="12700" marR="5080" indent="2942590">
              <a:lnSpc>
                <a:spcPts val="3890"/>
              </a:lnSpc>
            </a:pPr>
            <a:r>
              <a:rPr dirty="0" sz="2400"/>
              <a:t>Resource</a:t>
            </a:r>
            <a:r>
              <a:rPr dirty="0" sz="2400" spc="-100"/>
              <a:t> </a:t>
            </a:r>
            <a:r>
              <a:rPr dirty="0" sz="2400"/>
              <a:t>Provisioning</a:t>
            </a:r>
            <a:r>
              <a:rPr dirty="0" sz="2400" spc="-120"/>
              <a:t> </a:t>
            </a:r>
            <a:r>
              <a:rPr dirty="0" sz="2400"/>
              <a:t>and</a:t>
            </a:r>
            <a:r>
              <a:rPr dirty="0" sz="2400" spc="-90"/>
              <a:t> </a:t>
            </a:r>
            <a:r>
              <a:rPr dirty="0" sz="2400"/>
              <a:t>Platform</a:t>
            </a:r>
            <a:r>
              <a:rPr dirty="0" sz="2400" spc="-90"/>
              <a:t> </a:t>
            </a:r>
            <a:r>
              <a:rPr dirty="0" sz="2400" spc="-10"/>
              <a:t>Deployment </a:t>
            </a:r>
            <a:r>
              <a:rPr dirty="0" sz="2400"/>
              <a:t>Provisioning</a:t>
            </a:r>
            <a:r>
              <a:rPr dirty="0" sz="2400" spc="-85"/>
              <a:t> </a:t>
            </a:r>
            <a:r>
              <a:rPr dirty="0" sz="2400"/>
              <a:t>of</a:t>
            </a:r>
            <a:r>
              <a:rPr dirty="0" sz="2400" spc="-85"/>
              <a:t> </a:t>
            </a:r>
            <a:r>
              <a:rPr dirty="0" sz="2400" spc="-10"/>
              <a:t>Storage</a:t>
            </a:r>
            <a:r>
              <a:rPr dirty="0" sz="2400" spc="-80"/>
              <a:t> </a:t>
            </a:r>
            <a:r>
              <a:rPr dirty="0" sz="2400" spc="-10"/>
              <a:t>Resources</a:t>
            </a:r>
            <a:endParaRPr sz="2400"/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7124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49960"/>
            <a:ext cx="12033250" cy="1388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825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Virtual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Machine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Creation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Management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85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Figure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shows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interactions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among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managers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creation</a:t>
            </a:r>
            <a:r>
              <a:rPr dirty="0" sz="2000" spc="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management.</a:t>
            </a:r>
            <a:r>
              <a:rPr dirty="0" sz="2000" spc="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managers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provide</a:t>
            </a:r>
            <a:r>
              <a:rPr dirty="0" sz="2000" spc="70">
                <a:latin typeface="Calibri"/>
                <a:cs typeface="Calibri"/>
              </a:rPr>
              <a:t> </a:t>
            </a:r>
            <a:r>
              <a:rPr dirty="0" sz="2000" spc="-50">
                <a:latin typeface="Calibri"/>
                <a:cs typeface="Calibri"/>
              </a:rPr>
              <a:t>a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>
                <a:latin typeface="Calibri"/>
                <a:cs typeface="Calibri"/>
              </a:rPr>
              <a:t>public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API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4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users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submit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control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VMs.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58240" y="2081793"/>
            <a:ext cx="6944530" cy="3929768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7124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21944"/>
            <a:ext cx="12034520" cy="5652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260090" indent="3262629">
              <a:lnSpc>
                <a:spcPct val="135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Virtual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Machine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Creation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Management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Independent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Service</a:t>
            </a:r>
            <a:r>
              <a:rPr dirty="0" sz="2400" spc="-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Management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64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 b="1">
                <a:latin typeface="Calibri"/>
                <a:cs typeface="Calibri"/>
              </a:rPr>
              <a:t>Independent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request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facilities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execute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many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unrelated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tasks.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spc="-10" b="1">
                <a:latin typeface="Calibri"/>
                <a:cs typeface="Calibri"/>
              </a:rPr>
              <a:t>Commonly,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APIs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some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web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developer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conveniently.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5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Amazon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computing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infrastructure,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SQS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constructed</a:t>
            </a:r>
            <a:r>
              <a:rPr dirty="0" sz="2000" spc="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providing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reliable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communication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service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between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different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providers.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Even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endpoint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does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not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while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another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entity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has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posted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message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in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spc="-20" b="1">
                <a:latin typeface="Calibri"/>
                <a:cs typeface="Calibri"/>
              </a:rPr>
              <a:t>SQS.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using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independent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providers,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different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services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at</a:t>
            </a:r>
            <a:r>
              <a:rPr dirty="0" sz="2000" spc="1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same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time.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994"/>
              </a:spcBef>
            </a:pPr>
            <a:r>
              <a:rPr dirty="0" sz="1400" spc="-10">
                <a:latin typeface="Calibri"/>
                <a:cs typeface="Calibri"/>
              </a:rPr>
              <a:t>(providing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compute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or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storage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services).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7124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49960"/>
            <a:ext cx="12035790" cy="640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261995" indent="3262629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Virtual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Machine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Creation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Management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Running</a:t>
            </a:r>
            <a:r>
              <a:rPr dirty="0" sz="2400" spc="-3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20" b="1">
                <a:solidFill>
                  <a:srgbClr val="C00000"/>
                </a:solidFill>
                <a:latin typeface="Calibri"/>
                <a:cs typeface="Calibri"/>
              </a:rPr>
              <a:t>Third-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Party</a:t>
            </a:r>
            <a:r>
              <a:rPr dirty="0" sz="24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Applications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50100"/>
              </a:lnSpc>
              <a:spcBef>
                <a:spcPts val="309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2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platforms</a:t>
            </a:r>
            <a:r>
              <a:rPr dirty="0" sz="1800" spc="2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have</a:t>
            </a:r>
            <a:r>
              <a:rPr dirty="0" sz="1800" spc="229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2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support</a:t>
            </a:r>
            <a:r>
              <a:rPr dirty="0" sz="1800" spc="229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2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building</a:t>
            </a:r>
            <a:r>
              <a:rPr dirty="0" sz="1800" spc="2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applications</a:t>
            </a:r>
            <a:r>
              <a:rPr dirty="0" sz="1800" spc="2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2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providing</a:t>
            </a:r>
            <a:r>
              <a:rPr dirty="0" sz="1800" spc="2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applications</a:t>
            </a:r>
            <a:r>
              <a:rPr dirty="0" sz="1800" spc="2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that</a:t>
            </a:r>
            <a:r>
              <a:rPr dirty="0" sz="1800" spc="2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are</a:t>
            </a:r>
            <a:r>
              <a:rPr dirty="0" sz="1800" spc="2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constructed</a:t>
            </a:r>
            <a:r>
              <a:rPr dirty="0" sz="1800" spc="229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2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third-party </a:t>
            </a:r>
            <a:r>
              <a:rPr dirty="0" sz="1800" b="1">
                <a:latin typeface="Calibri"/>
                <a:cs typeface="Calibri"/>
              </a:rPr>
              <a:t>application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providers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or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programmers.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80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  <a:tab pos="2060575" algn="l"/>
                <a:tab pos="3763645" algn="l"/>
                <a:tab pos="5369560" algn="l"/>
                <a:tab pos="6913880" algn="l"/>
                <a:tab pos="10483215" algn="l"/>
              </a:tabLst>
            </a:pPr>
            <a:r>
              <a:rPr dirty="0" sz="1800" b="1">
                <a:latin typeface="Calibri"/>
                <a:cs typeface="Calibri"/>
              </a:rPr>
              <a:t>As</a:t>
            </a:r>
            <a:r>
              <a:rPr dirty="0" sz="1800" spc="65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current</a:t>
            </a:r>
            <a:r>
              <a:rPr dirty="0" sz="1800" spc="70" b="1">
                <a:latin typeface="Calibri"/>
                <a:cs typeface="Calibri"/>
              </a:rPr>
              <a:t>  </a:t>
            </a:r>
            <a:r>
              <a:rPr dirty="0" sz="1800" spc="-25" b="1">
                <a:latin typeface="Calibri"/>
                <a:cs typeface="Calibri"/>
              </a:rPr>
              <a:t>web</a:t>
            </a:r>
            <a:r>
              <a:rPr dirty="0" sz="1800" b="1">
                <a:latin typeface="Calibri"/>
                <a:cs typeface="Calibri"/>
              </a:rPr>
              <a:t>	applications</a:t>
            </a:r>
            <a:r>
              <a:rPr dirty="0" sz="1800" spc="45" b="1">
                <a:latin typeface="Calibri"/>
                <a:cs typeface="Calibri"/>
              </a:rPr>
              <a:t>  </a:t>
            </a:r>
            <a:r>
              <a:rPr dirty="0" sz="1800" spc="-25" b="1">
                <a:latin typeface="Calibri"/>
                <a:cs typeface="Calibri"/>
              </a:rPr>
              <a:t>are</a:t>
            </a:r>
            <a:r>
              <a:rPr dirty="0" sz="1800" b="1">
                <a:latin typeface="Calibri"/>
                <a:cs typeface="Calibri"/>
              </a:rPr>
              <a:t>	often</a:t>
            </a:r>
            <a:r>
              <a:rPr dirty="0" sz="1800" spc="60" b="1">
                <a:latin typeface="Calibri"/>
                <a:cs typeface="Calibri"/>
              </a:rPr>
              <a:t>  </a:t>
            </a:r>
            <a:r>
              <a:rPr dirty="0" sz="1800" spc="-10" b="1">
                <a:latin typeface="Calibri"/>
                <a:cs typeface="Calibri"/>
              </a:rPr>
              <a:t>provided</a:t>
            </a:r>
            <a:r>
              <a:rPr dirty="0" sz="1800" b="1">
                <a:latin typeface="Calibri"/>
                <a:cs typeface="Calibri"/>
              </a:rPr>
              <a:t>	by</a:t>
            </a:r>
            <a:r>
              <a:rPr dirty="0" sz="1800" spc="75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using</a:t>
            </a:r>
            <a:r>
              <a:rPr dirty="0" sz="1800" spc="75" b="1">
                <a:latin typeface="Calibri"/>
                <a:cs typeface="Calibri"/>
              </a:rPr>
              <a:t>  </a:t>
            </a:r>
            <a:r>
              <a:rPr dirty="0" sz="1800" spc="-25" b="1">
                <a:latin typeface="Calibri"/>
                <a:cs typeface="Calibri"/>
              </a:rPr>
              <a:t>Web</a:t>
            </a:r>
            <a:r>
              <a:rPr dirty="0" sz="1800" b="1">
                <a:latin typeface="Calibri"/>
                <a:cs typeface="Calibri"/>
              </a:rPr>
              <a:t>	2.0</a:t>
            </a:r>
            <a:r>
              <a:rPr dirty="0" sz="1800" spc="50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forms</a:t>
            </a:r>
            <a:r>
              <a:rPr dirty="0" sz="1800" spc="50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(interactive</a:t>
            </a:r>
            <a:r>
              <a:rPr dirty="0" sz="1800" spc="55" b="1">
                <a:latin typeface="Calibri"/>
                <a:cs typeface="Calibri"/>
              </a:rPr>
              <a:t>  </a:t>
            </a:r>
            <a:r>
              <a:rPr dirty="0" sz="1800" spc="-10" b="1">
                <a:latin typeface="Calibri"/>
                <a:cs typeface="Calibri"/>
              </a:rPr>
              <a:t>applications</a:t>
            </a:r>
            <a:r>
              <a:rPr dirty="0" sz="1800" b="1">
                <a:latin typeface="Calibri"/>
                <a:cs typeface="Calibri"/>
              </a:rPr>
              <a:t>	with</a:t>
            </a:r>
            <a:r>
              <a:rPr dirty="0" sz="1800" spc="80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Ajax),</a:t>
            </a:r>
            <a:r>
              <a:rPr dirty="0" sz="1800" spc="75" b="1">
                <a:latin typeface="Calibri"/>
                <a:cs typeface="Calibri"/>
              </a:rPr>
              <a:t>  </a:t>
            </a:r>
            <a:r>
              <a:rPr dirty="0" sz="1800" spc="-25" b="1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80"/>
              </a:spcBef>
            </a:pPr>
            <a:r>
              <a:rPr dirty="0" sz="1800" spc="-10" b="1">
                <a:latin typeface="Calibri"/>
                <a:cs typeface="Calibri"/>
              </a:rPr>
              <a:t>programming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interfaces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are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different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from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traditional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programming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interfaces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such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as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functions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runtime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libraries.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85"/>
              </a:spcBef>
            </a:pP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APIs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are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often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form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10" b="1">
                <a:latin typeface="Calibri"/>
                <a:cs typeface="Calibri"/>
              </a:rPr>
              <a:t> services.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85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800" b="1">
                <a:latin typeface="Calibri"/>
                <a:cs typeface="Calibri"/>
              </a:rPr>
              <a:t>Web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service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application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engines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are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often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used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programmers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building</a:t>
            </a:r>
            <a:r>
              <a:rPr dirty="0" sz="1800" spc="-7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applications.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85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800" b="1">
                <a:latin typeface="Calibri"/>
                <a:cs typeface="Calibri"/>
              </a:rPr>
              <a:t>As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examples,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GAE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Microsoft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Azure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apply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their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own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APIs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get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special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services.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80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4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WebSphere</a:t>
            </a:r>
            <a:r>
              <a:rPr dirty="0" sz="1800" spc="3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application</a:t>
            </a:r>
            <a:r>
              <a:rPr dirty="0" sz="1800" spc="4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engine</a:t>
            </a:r>
            <a:r>
              <a:rPr dirty="0" sz="1800" spc="40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39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deployed</a:t>
            </a:r>
            <a:r>
              <a:rPr dirty="0" sz="1800" spc="40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3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IBM</a:t>
            </a:r>
            <a:r>
              <a:rPr dirty="0" sz="1800" spc="39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3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Blue</a:t>
            </a:r>
            <a:r>
              <a:rPr dirty="0" sz="1800" spc="40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Cloud.</a:t>
            </a:r>
            <a:r>
              <a:rPr dirty="0" sz="1800" spc="39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It</a:t>
            </a:r>
            <a:r>
              <a:rPr dirty="0" sz="1800" spc="38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can</a:t>
            </a:r>
            <a:r>
              <a:rPr dirty="0" sz="1800" spc="3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be</a:t>
            </a:r>
            <a:r>
              <a:rPr dirty="0" sz="1800" spc="3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used</a:t>
            </a:r>
            <a:r>
              <a:rPr dirty="0" sz="1800" spc="40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3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develop</a:t>
            </a:r>
            <a:r>
              <a:rPr dirty="0" sz="1800" spc="4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any</a:t>
            </a:r>
            <a:r>
              <a:rPr dirty="0" sz="1800" spc="4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kind</a:t>
            </a:r>
            <a:r>
              <a:rPr dirty="0" sz="1800" spc="38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395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web</a:t>
            </a:r>
            <a:endParaRPr sz="1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85"/>
              </a:spcBef>
            </a:pPr>
            <a:r>
              <a:rPr dirty="0" sz="1800" b="1">
                <a:latin typeface="Calibri"/>
                <a:cs typeface="Calibri"/>
              </a:rPr>
              <a:t>application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written</a:t>
            </a:r>
            <a:r>
              <a:rPr dirty="0" sz="1800" spc="-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Java.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71247"/>
            <a:ext cx="577913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5" b="0">
                <a:latin typeface="Calibri Light"/>
                <a:cs typeface="Calibri Light"/>
              </a:rPr>
              <a:t>INTER-</a:t>
            </a:r>
            <a:r>
              <a:rPr dirty="0" sz="2800" spc="-4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80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21944"/>
            <a:ext cx="12035155" cy="64712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6534150">
              <a:lnSpc>
                <a:spcPct val="135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Virtual</a:t>
            </a:r>
            <a:r>
              <a:rPr dirty="0" sz="24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Machine</a:t>
            </a:r>
            <a:r>
              <a:rPr dirty="0" sz="24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Creation</a:t>
            </a:r>
            <a:r>
              <a:rPr dirty="0" sz="24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8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Management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Virtual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Machine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Manager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1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manager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link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between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gateway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resources.</a:t>
            </a:r>
            <a:endParaRPr sz="2000">
              <a:latin typeface="Calibri"/>
              <a:cs typeface="Calibri"/>
            </a:endParaRPr>
          </a:p>
          <a:p>
            <a:pPr algn="just" marL="352425" marR="5715" indent="-339725">
              <a:lnSpc>
                <a:spcPct val="150000"/>
              </a:lnSpc>
              <a:spcBef>
                <a:spcPts val="20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gateway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doesn’t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share</a:t>
            </a:r>
            <a:r>
              <a:rPr dirty="0" sz="2000" spc="3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physical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resources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directly,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but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relies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virtualization</a:t>
            </a:r>
            <a:r>
              <a:rPr dirty="0" sz="2000" spc="3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technology.</a:t>
            </a:r>
            <a:r>
              <a:rPr dirty="0" sz="2000" spc="3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Hence,</a:t>
            </a:r>
            <a:r>
              <a:rPr dirty="0" sz="2000" spc="33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the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actual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VMs.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(VIE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runs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at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each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cloud,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VMM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connects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different </a:t>
            </a:r>
            <a:r>
              <a:rPr dirty="0" sz="2000" spc="-20" b="1">
                <a:latin typeface="Calibri"/>
                <a:cs typeface="Calibri"/>
              </a:rPr>
              <a:t>VIE.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deployed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set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physical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algn="just" marL="352425" marR="5080" indent="-339725">
              <a:lnSpc>
                <a:spcPct val="1458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implementation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generic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connect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different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VIEs.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Typically,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VIEs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create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stop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VMs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physical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cluster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16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(If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OpenNebula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platform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running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at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one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cloud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create</a:t>
            </a:r>
            <a:r>
              <a:rPr dirty="0" sz="1400" spc="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VMs,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then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VIE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can communicate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VIE</a:t>
            </a:r>
            <a:r>
              <a:rPr dirty="0" sz="1400" spc="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other </a:t>
            </a:r>
            <a:r>
              <a:rPr dirty="0" sz="1400" spc="-10">
                <a:latin typeface="Calibri"/>
                <a:cs typeface="Calibri"/>
              </a:rPr>
              <a:t>	</a:t>
            </a:r>
            <a:r>
              <a:rPr dirty="0" sz="1400">
                <a:latin typeface="Calibri"/>
                <a:cs typeface="Calibri"/>
              </a:rPr>
              <a:t>cloud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running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Amazon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EC2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platform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create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VMs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50">
                <a:latin typeface="Calibri"/>
                <a:cs typeface="Calibri"/>
              </a:rPr>
              <a:t>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Melbourne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group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developed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managers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OpenNebula,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Amazon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EC2,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French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Grid’5000.</a:t>
            </a:r>
            <a:endParaRPr sz="2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80" b="1">
                <a:latin typeface="Calibri"/>
                <a:cs typeface="Calibri"/>
              </a:rPr>
              <a:t>To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deploy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VM,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manager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needs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template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54032" y="109679"/>
            <a:ext cx="4046983" cy="2037729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7124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21944"/>
            <a:ext cx="12035790" cy="4931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261995" indent="3262629">
              <a:lnSpc>
                <a:spcPct val="135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Virtual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Machine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Creation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Management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Virtual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Machine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Templates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85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template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is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analogous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computer’s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configuration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contains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description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for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VM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with</a:t>
            </a:r>
            <a:r>
              <a:rPr dirty="0" sz="2000" spc="-2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-2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following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5"/>
              </a:spcBef>
            </a:pPr>
            <a:r>
              <a:rPr dirty="0" sz="2000">
                <a:latin typeface="Calibri"/>
                <a:cs typeface="Calibri"/>
              </a:rPr>
              <a:t>static</a:t>
            </a:r>
            <a:r>
              <a:rPr dirty="0" sz="2000" spc="-9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information:</a:t>
            </a:r>
            <a:endParaRPr sz="2000">
              <a:latin typeface="Calibri"/>
              <a:cs typeface="Calibri"/>
            </a:endParaRPr>
          </a:p>
          <a:p>
            <a:pPr lvl="1" marL="695325" indent="-339725">
              <a:lnSpc>
                <a:spcPct val="100000"/>
              </a:lnSpc>
              <a:spcBef>
                <a:spcPts val="2195"/>
              </a:spcBef>
              <a:buFont typeface="Wingdings"/>
              <a:buChar char=""/>
              <a:tabLst>
                <a:tab pos="695325" algn="l"/>
              </a:tabLst>
            </a:pP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The</a:t>
            </a:r>
            <a:r>
              <a:rPr dirty="0" sz="2000" spc="-3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number</a:t>
            </a:r>
            <a:r>
              <a:rPr dirty="0" sz="2000" spc="-5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of</a:t>
            </a:r>
            <a:r>
              <a:rPr dirty="0" sz="2000" spc="-3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cores</a:t>
            </a:r>
            <a:r>
              <a:rPr dirty="0" sz="2000" spc="-2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or</a:t>
            </a:r>
            <a:r>
              <a:rPr dirty="0" sz="2000" spc="-4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processors</a:t>
            </a:r>
            <a:r>
              <a:rPr dirty="0" sz="2000" spc="-2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to</a:t>
            </a:r>
            <a:r>
              <a:rPr dirty="0" sz="2000" spc="-4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be</a:t>
            </a:r>
            <a:r>
              <a:rPr dirty="0" sz="2000" spc="-3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assigned</a:t>
            </a:r>
            <a:r>
              <a:rPr dirty="0" sz="2000" spc="-4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to</a:t>
            </a:r>
            <a:r>
              <a:rPr dirty="0" sz="2000" spc="-3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the</a:t>
            </a:r>
            <a:r>
              <a:rPr dirty="0" sz="2000" spc="-3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spc="-25" b="1">
                <a:solidFill>
                  <a:srgbClr val="416429"/>
                </a:solidFill>
                <a:latin typeface="Calibri"/>
                <a:cs typeface="Calibri"/>
              </a:rPr>
              <a:t>VM</a:t>
            </a:r>
            <a:endParaRPr sz="2000">
              <a:latin typeface="Calibri"/>
              <a:cs typeface="Calibri"/>
            </a:endParaRPr>
          </a:p>
          <a:p>
            <a:pPr lvl="1" marL="695325" indent="-339725">
              <a:lnSpc>
                <a:spcPct val="100000"/>
              </a:lnSpc>
              <a:spcBef>
                <a:spcPts val="2200"/>
              </a:spcBef>
              <a:buFont typeface="Wingdings"/>
              <a:buChar char=""/>
              <a:tabLst>
                <a:tab pos="695325" algn="l"/>
              </a:tabLst>
            </a:pP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The</a:t>
            </a:r>
            <a:r>
              <a:rPr dirty="0" sz="2000" spc="-2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amount</a:t>
            </a:r>
            <a:r>
              <a:rPr dirty="0" sz="2000" spc="-4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of</a:t>
            </a:r>
            <a:r>
              <a:rPr dirty="0" sz="2000" spc="-1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memory</a:t>
            </a:r>
            <a:r>
              <a:rPr dirty="0" sz="2000" spc="-4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the</a:t>
            </a:r>
            <a:r>
              <a:rPr dirty="0" sz="2000" spc="-1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VM</a:t>
            </a:r>
            <a:r>
              <a:rPr dirty="0" sz="2000" spc="-2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16429"/>
                </a:solidFill>
                <a:latin typeface="Calibri"/>
                <a:cs typeface="Calibri"/>
              </a:rPr>
              <a:t>requires</a:t>
            </a:r>
            <a:endParaRPr sz="2000">
              <a:latin typeface="Calibri"/>
              <a:cs typeface="Calibri"/>
            </a:endParaRPr>
          </a:p>
          <a:p>
            <a:pPr lvl="1" marL="695325" indent="-339725">
              <a:lnSpc>
                <a:spcPct val="100000"/>
              </a:lnSpc>
              <a:spcBef>
                <a:spcPts val="2205"/>
              </a:spcBef>
              <a:buFont typeface="Wingdings"/>
              <a:buChar char=""/>
              <a:tabLst>
                <a:tab pos="695325" algn="l"/>
              </a:tabLst>
            </a:pP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The</a:t>
            </a:r>
            <a:r>
              <a:rPr dirty="0" sz="2000" spc="-3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16429"/>
                </a:solidFill>
                <a:latin typeface="Calibri"/>
                <a:cs typeface="Calibri"/>
              </a:rPr>
              <a:t>kernel</a:t>
            </a:r>
            <a:r>
              <a:rPr dirty="0" sz="2000" spc="-3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used</a:t>
            </a:r>
            <a:r>
              <a:rPr dirty="0" sz="2000" spc="-3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to</a:t>
            </a:r>
            <a:r>
              <a:rPr dirty="0" sz="2000" spc="-3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boot</a:t>
            </a:r>
            <a:r>
              <a:rPr dirty="0" sz="2000" spc="-6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the</a:t>
            </a:r>
            <a:r>
              <a:rPr dirty="0" sz="2000" spc="-2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spc="-20" b="1">
                <a:solidFill>
                  <a:srgbClr val="416429"/>
                </a:solidFill>
                <a:latin typeface="Calibri"/>
                <a:cs typeface="Calibri"/>
              </a:rPr>
              <a:t>VM’s</a:t>
            </a:r>
            <a:r>
              <a:rPr dirty="0" sz="2000" spc="-4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16429"/>
                </a:solidFill>
                <a:latin typeface="Calibri"/>
                <a:cs typeface="Calibri"/>
              </a:rPr>
              <a:t>operating</a:t>
            </a:r>
            <a:r>
              <a:rPr dirty="0" sz="2000" spc="-3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16429"/>
                </a:solidFill>
                <a:latin typeface="Calibri"/>
                <a:cs typeface="Calibri"/>
              </a:rPr>
              <a:t>system</a:t>
            </a:r>
            <a:endParaRPr sz="2000">
              <a:latin typeface="Calibri"/>
              <a:cs typeface="Calibri"/>
            </a:endParaRPr>
          </a:p>
          <a:p>
            <a:pPr lvl="1" marL="695325" indent="-339725">
              <a:lnSpc>
                <a:spcPct val="100000"/>
              </a:lnSpc>
              <a:spcBef>
                <a:spcPts val="2195"/>
              </a:spcBef>
              <a:buFont typeface="Wingdings"/>
              <a:buChar char=""/>
              <a:tabLst>
                <a:tab pos="695325" algn="l"/>
              </a:tabLst>
            </a:pP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The</a:t>
            </a:r>
            <a:r>
              <a:rPr dirty="0" sz="2000" spc="-4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disk</a:t>
            </a:r>
            <a:r>
              <a:rPr dirty="0" sz="2000" spc="-5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image</a:t>
            </a:r>
            <a:r>
              <a:rPr dirty="0" sz="2000" spc="-3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containing</a:t>
            </a:r>
            <a:r>
              <a:rPr dirty="0" sz="2000" spc="-5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the</a:t>
            </a:r>
            <a:r>
              <a:rPr dirty="0" sz="2000" spc="-5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spc="-20" b="1">
                <a:solidFill>
                  <a:srgbClr val="416429"/>
                </a:solidFill>
                <a:latin typeface="Calibri"/>
                <a:cs typeface="Calibri"/>
              </a:rPr>
              <a:t>VM’s</a:t>
            </a:r>
            <a:r>
              <a:rPr dirty="0" sz="2000" spc="-4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file</a:t>
            </a:r>
            <a:r>
              <a:rPr dirty="0" sz="2000" spc="-4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16429"/>
                </a:solidFill>
                <a:latin typeface="Calibri"/>
                <a:cs typeface="Calibri"/>
              </a:rPr>
              <a:t>system</a:t>
            </a:r>
            <a:r>
              <a:rPr dirty="0" sz="2000" spc="-5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416429"/>
                </a:solidFill>
                <a:latin typeface="Calibri"/>
                <a:cs typeface="Calibri"/>
              </a:rPr>
              <a:t>(Files)</a:t>
            </a:r>
            <a:endParaRPr sz="2000">
              <a:latin typeface="Calibri"/>
              <a:cs typeface="Calibri"/>
            </a:endParaRPr>
          </a:p>
          <a:p>
            <a:pPr lvl="1" marL="695325" indent="-339725">
              <a:lnSpc>
                <a:spcPct val="100000"/>
              </a:lnSpc>
              <a:spcBef>
                <a:spcPts val="2200"/>
              </a:spcBef>
              <a:buFont typeface="Wingdings"/>
              <a:buChar char=""/>
              <a:tabLst>
                <a:tab pos="695325" algn="l"/>
              </a:tabLst>
            </a:pP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The</a:t>
            </a:r>
            <a:r>
              <a:rPr dirty="0" sz="2000" spc="-2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price</a:t>
            </a:r>
            <a:r>
              <a:rPr dirty="0" sz="2000" spc="-1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per</a:t>
            </a:r>
            <a:r>
              <a:rPr dirty="0" sz="2000" spc="-1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hour</a:t>
            </a:r>
            <a:r>
              <a:rPr dirty="0" sz="2000" spc="-3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of</a:t>
            </a:r>
            <a:r>
              <a:rPr dirty="0" sz="2000" spc="-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using</a:t>
            </a:r>
            <a:r>
              <a:rPr dirty="0" sz="2000" spc="-3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416429"/>
                </a:solidFill>
                <a:latin typeface="Calibri"/>
                <a:cs typeface="Calibri"/>
              </a:rPr>
              <a:t>a</a:t>
            </a:r>
            <a:r>
              <a:rPr dirty="0" sz="2000" spc="-1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2000" spc="-35" b="1">
                <a:solidFill>
                  <a:srgbClr val="416429"/>
                </a:solidFill>
                <a:latin typeface="Calibri"/>
                <a:cs typeface="Calibri"/>
              </a:rPr>
              <a:t>VM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7124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49960"/>
            <a:ext cx="12033250" cy="6460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258820" indent="3262629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Virtual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Machine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Creation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Management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Virtual</a:t>
            </a:r>
            <a:r>
              <a:rPr dirty="0" sz="24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Machine</a:t>
            </a:r>
            <a:r>
              <a:rPr dirty="0" sz="24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Templates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50100"/>
              </a:lnSpc>
              <a:spcBef>
                <a:spcPts val="280"/>
              </a:spcBef>
              <a:buFont typeface="Arial MT"/>
              <a:buChar char="•"/>
              <a:tabLst>
                <a:tab pos="355600" algn="l"/>
                <a:tab pos="868680" algn="l"/>
                <a:tab pos="1847214" algn="l"/>
                <a:tab pos="3357879" algn="l"/>
                <a:tab pos="4363720" algn="l"/>
                <a:tab pos="4845685" algn="l"/>
                <a:tab pos="5340985" algn="l"/>
                <a:tab pos="6395720" algn="l"/>
                <a:tab pos="7730490" algn="l"/>
                <a:tab pos="8435340" algn="l"/>
                <a:tab pos="8915400" algn="l"/>
                <a:tab pos="10437495" algn="l"/>
                <a:tab pos="10736580" algn="l"/>
                <a:tab pos="11181715" algn="l"/>
                <a:tab pos="11649710" algn="l"/>
              </a:tabLst>
            </a:pPr>
            <a:r>
              <a:rPr dirty="0" sz="1900" spc="-25" b="1">
                <a:latin typeface="Calibri"/>
                <a:cs typeface="Calibri"/>
              </a:rPr>
              <a:t>The</a:t>
            </a:r>
            <a:r>
              <a:rPr dirty="0" sz="1900" b="1">
                <a:latin typeface="Calibri"/>
                <a:cs typeface="Calibri"/>
              </a:rPr>
              <a:t>	</a:t>
            </a:r>
            <a:r>
              <a:rPr dirty="0" sz="1900" spc="-10" b="1">
                <a:latin typeface="Calibri"/>
                <a:cs typeface="Calibri"/>
              </a:rPr>
              <a:t>gateway</a:t>
            </a:r>
            <a:r>
              <a:rPr dirty="0" sz="1900" b="1">
                <a:latin typeface="Calibri"/>
                <a:cs typeface="Calibri"/>
              </a:rPr>
              <a:t>	</a:t>
            </a:r>
            <a:r>
              <a:rPr dirty="0" sz="1900" spc="-10" b="1">
                <a:latin typeface="Calibri"/>
                <a:cs typeface="Calibri"/>
              </a:rPr>
              <a:t>administrator</a:t>
            </a:r>
            <a:r>
              <a:rPr dirty="0" sz="1900" b="1">
                <a:latin typeface="Calibri"/>
                <a:cs typeface="Calibri"/>
              </a:rPr>
              <a:t>	</a:t>
            </a:r>
            <a:r>
              <a:rPr dirty="0" sz="1900" spc="-10" b="1">
                <a:latin typeface="Calibri"/>
                <a:cs typeface="Calibri"/>
              </a:rPr>
              <a:t>provides</a:t>
            </a:r>
            <a:r>
              <a:rPr dirty="0" sz="1900" b="1">
                <a:latin typeface="Calibri"/>
                <a:cs typeface="Calibri"/>
              </a:rPr>
              <a:t>	</a:t>
            </a:r>
            <a:r>
              <a:rPr dirty="0" sz="1900" spc="-25" b="1">
                <a:latin typeface="Calibri"/>
                <a:cs typeface="Calibri"/>
              </a:rPr>
              <a:t>the</a:t>
            </a:r>
            <a:r>
              <a:rPr dirty="0" sz="1900" b="1">
                <a:latin typeface="Calibri"/>
                <a:cs typeface="Calibri"/>
              </a:rPr>
              <a:t>	</a:t>
            </a:r>
            <a:r>
              <a:rPr dirty="0" sz="1900" spc="-25" b="1">
                <a:latin typeface="Calibri"/>
                <a:cs typeface="Calibri"/>
              </a:rPr>
              <a:t>VM</a:t>
            </a:r>
            <a:r>
              <a:rPr dirty="0" sz="1900" b="1">
                <a:latin typeface="Calibri"/>
                <a:cs typeface="Calibri"/>
              </a:rPr>
              <a:t>	</a:t>
            </a:r>
            <a:r>
              <a:rPr dirty="0" sz="1900" spc="-10" b="1">
                <a:latin typeface="Calibri"/>
                <a:cs typeface="Calibri"/>
              </a:rPr>
              <a:t>template</a:t>
            </a:r>
            <a:r>
              <a:rPr dirty="0" sz="1900" b="1">
                <a:latin typeface="Calibri"/>
                <a:cs typeface="Calibri"/>
              </a:rPr>
              <a:t>	</a:t>
            </a:r>
            <a:r>
              <a:rPr dirty="0" sz="1900" spc="-10" b="1">
                <a:latin typeface="Calibri"/>
                <a:cs typeface="Calibri"/>
              </a:rPr>
              <a:t>information</a:t>
            </a:r>
            <a:r>
              <a:rPr dirty="0" sz="1900" b="1">
                <a:latin typeface="Calibri"/>
                <a:cs typeface="Calibri"/>
              </a:rPr>
              <a:t>	</a:t>
            </a:r>
            <a:r>
              <a:rPr dirty="0" sz="1900" spc="-20" b="1">
                <a:latin typeface="Calibri"/>
                <a:cs typeface="Calibri"/>
              </a:rPr>
              <a:t>when</a:t>
            </a:r>
            <a:r>
              <a:rPr dirty="0" sz="1900" b="1">
                <a:latin typeface="Calibri"/>
                <a:cs typeface="Calibri"/>
              </a:rPr>
              <a:t>	</a:t>
            </a:r>
            <a:r>
              <a:rPr dirty="0" sz="1900" spc="-25" b="1">
                <a:latin typeface="Calibri"/>
                <a:cs typeface="Calibri"/>
              </a:rPr>
              <a:t>the</a:t>
            </a:r>
            <a:r>
              <a:rPr dirty="0" sz="1900" b="1">
                <a:latin typeface="Calibri"/>
                <a:cs typeface="Calibri"/>
              </a:rPr>
              <a:t>	</a:t>
            </a:r>
            <a:r>
              <a:rPr dirty="0" sz="1900" spc="-10" b="1">
                <a:latin typeface="Calibri"/>
                <a:cs typeface="Calibri"/>
              </a:rPr>
              <a:t>infrastructure</a:t>
            </a:r>
            <a:r>
              <a:rPr dirty="0" sz="1900" b="1">
                <a:latin typeface="Calibri"/>
                <a:cs typeface="Calibri"/>
              </a:rPr>
              <a:t>	</a:t>
            </a:r>
            <a:r>
              <a:rPr dirty="0" sz="1900" spc="-25" b="1">
                <a:latin typeface="Calibri"/>
                <a:cs typeface="Calibri"/>
              </a:rPr>
              <a:t>is</a:t>
            </a:r>
            <a:r>
              <a:rPr dirty="0" sz="1900" b="1">
                <a:latin typeface="Calibri"/>
                <a:cs typeface="Calibri"/>
              </a:rPr>
              <a:t>	</a:t>
            </a:r>
            <a:r>
              <a:rPr dirty="0" sz="1900" spc="-25" b="1">
                <a:latin typeface="Calibri"/>
                <a:cs typeface="Calibri"/>
              </a:rPr>
              <a:t>set</a:t>
            </a:r>
            <a:r>
              <a:rPr dirty="0" sz="1900" b="1">
                <a:latin typeface="Calibri"/>
                <a:cs typeface="Calibri"/>
              </a:rPr>
              <a:t>	</a:t>
            </a:r>
            <a:r>
              <a:rPr dirty="0" sz="1900" spc="-25" b="1">
                <a:latin typeface="Calibri"/>
                <a:cs typeface="Calibri"/>
              </a:rPr>
              <a:t>up.</a:t>
            </a:r>
            <a:r>
              <a:rPr dirty="0" sz="1900" b="1">
                <a:latin typeface="Calibri"/>
                <a:cs typeface="Calibri"/>
              </a:rPr>
              <a:t>	</a:t>
            </a:r>
            <a:r>
              <a:rPr dirty="0" sz="1900" spc="-25" b="1">
                <a:latin typeface="Calibri"/>
                <a:cs typeface="Calibri"/>
              </a:rPr>
              <a:t>The </a:t>
            </a:r>
            <a:r>
              <a:rPr dirty="0" sz="1900" spc="-10" b="1">
                <a:latin typeface="Calibri"/>
                <a:cs typeface="Calibri"/>
              </a:rPr>
              <a:t>administrator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can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update,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add,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and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delete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templates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at</a:t>
            </a:r>
            <a:r>
              <a:rPr dirty="0" sz="1900" spc="-6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any</a:t>
            </a:r>
            <a:r>
              <a:rPr dirty="0" sz="1900" spc="-5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time.</a:t>
            </a:r>
            <a:endParaRPr sz="1900">
              <a:latin typeface="Calibri"/>
              <a:cs typeface="Calibri"/>
            </a:endParaRPr>
          </a:p>
          <a:p>
            <a:pPr marL="355600" marR="6350" indent="-342900">
              <a:lnSpc>
                <a:spcPct val="150000"/>
              </a:lnSpc>
              <a:spcBef>
                <a:spcPts val="994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900" b="1">
                <a:latin typeface="Calibri"/>
                <a:cs typeface="Calibri"/>
              </a:rPr>
              <a:t>In</a:t>
            </a:r>
            <a:r>
              <a:rPr dirty="0" sz="1900" spc="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addition,</a:t>
            </a:r>
            <a:r>
              <a:rPr dirty="0" sz="1900" spc="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each</a:t>
            </a:r>
            <a:r>
              <a:rPr dirty="0" sz="1900" spc="4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gateway</a:t>
            </a:r>
            <a:r>
              <a:rPr dirty="0" sz="1900" spc="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in</a:t>
            </a:r>
            <a:r>
              <a:rPr dirty="0" sz="1900" spc="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InterGrid</a:t>
            </a:r>
            <a:r>
              <a:rPr dirty="0" sz="1900" spc="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network</a:t>
            </a:r>
            <a:r>
              <a:rPr dirty="0" sz="1900" spc="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must</a:t>
            </a:r>
            <a:r>
              <a:rPr dirty="0" sz="1900" spc="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agree</a:t>
            </a:r>
            <a:r>
              <a:rPr dirty="0" sz="1900" spc="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on</a:t>
            </a:r>
            <a:r>
              <a:rPr dirty="0" sz="1900" spc="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templates</a:t>
            </a:r>
            <a:r>
              <a:rPr dirty="0" sz="1900" spc="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to</a:t>
            </a:r>
            <a:r>
              <a:rPr dirty="0" sz="1900" spc="3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provide</a:t>
            </a:r>
            <a:r>
              <a:rPr dirty="0" sz="1900" spc="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same</a:t>
            </a:r>
            <a:r>
              <a:rPr dirty="0" sz="1900" spc="5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configuration </a:t>
            </a:r>
            <a:r>
              <a:rPr dirty="0" sz="1900" b="1">
                <a:latin typeface="Calibri"/>
                <a:cs typeface="Calibri"/>
              </a:rPr>
              <a:t>on</a:t>
            </a:r>
            <a:r>
              <a:rPr dirty="0" sz="1900" spc="-2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each</a:t>
            </a:r>
            <a:r>
              <a:rPr dirty="0" sz="1900" spc="-15" b="1">
                <a:latin typeface="Calibri"/>
                <a:cs typeface="Calibri"/>
              </a:rPr>
              <a:t> </a:t>
            </a:r>
            <a:r>
              <a:rPr dirty="0" sz="1900" spc="-20" b="1">
                <a:latin typeface="Calibri"/>
                <a:cs typeface="Calibri"/>
              </a:rPr>
              <a:t>site.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1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900" spc="-90" b="1">
                <a:latin typeface="Calibri"/>
                <a:cs typeface="Calibri"/>
              </a:rPr>
              <a:t>To</a:t>
            </a:r>
            <a:r>
              <a:rPr dirty="0" sz="1900" spc="-2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deploy</a:t>
            </a:r>
            <a:r>
              <a:rPr dirty="0" sz="1900" spc="-6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instance</a:t>
            </a:r>
            <a:r>
              <a:rPr dirty="0" sz="1900" spc="-2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of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</a:t>
            </a:r>
            <a:r>
              <a:rPr dirty="0" sz="1900" spc="-6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given</a:t>
            </a:r>
            <a:r>
              <a:rPr dirty="0" sz="1900" spc="-5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VM,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VMM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generates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</a:t>
            </a:r>
            <a:r>
              <a:rPr dirty="0" sz="1900" spc="-5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descriptor</a:t>
            </a:r>
            <a:r>
              <a:rPr dirty="0" sz="1900" spc="-2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from</a:t>
            </a:r>
            <a:r>
              <a:rPr dirty="0" sz="1900" spc="-4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30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template.</a:t>
            </a:r>
            <a:endParaRPr sz="190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spcBef>
                <a:spcPts val="10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900" b="1">
                <a:latin typeface="Calibri"/>
                <a:cs typeface="Calibri"/>
              </a:rPr>
              <a:t>This</a:t>
            </a:r>
            <a:r>
              <a:rPr dirty="0" sz="1900" spc="38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descriptor</a:t>
            </a:r>
            <a:r>
              <a:rPr dirty="0" sz="1900" spc="40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contains</a:t>
            </a:r>
            <a:r>
              <a:rPr dirty="0" sz="1900" spc="39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40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same</a:t>
            </a:r>
            <a:r>
              <a:rPr dirty="0" sz="1900" spc="39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fields</a:t>
            </a:r>
            <a:r>
              <a:rPr dirty="0" sz="1900" spc="39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as</a:t>
            </a:r>
            <a:r>
              <a:rPr dirty="0" sz="1900" spc="38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39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template</a:t>
            </a:r>
            <a:r>
              <a:rPr dirty="0" sz="1900" spc="40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and</a:t>
            </a:r>
            <a:r>
              <a:rPr dirty="0" sz="1900" spc="39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additional</a:t>
            </a:r>
            <a:r>
              <a:rPr dirty="0" sz="1900" spc="38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information</a:t>
            </a:r>
            <a:r>
              <a:rPr dirty="0" sz="1900" spc="38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related</a:t>
            </a:r>
            <a:r>
              <a:rPr dirty="0" sz="1900" spc="39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to</a:t>
            </a:r>
            <a:r>
              <a:rPr dirty="0" sz="1900" spc="39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</a:t>
            </a:r>
            <a:r>
              <a:rPr dirty="0" sz="1900" spc="36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specific</a:t>
            </a:r>
            <a:r>
              <a:rPr dirty="0" sz="1900" spc="395" b="1">
                <a:latin typeface="Calibri"/>
                <a:cs typeface="Calibri"/>
              </a:rPr>
              <a:t> </a:t>
            </a:r>
            <a:r>
              <a:rPr dirty="0" sz="1900" spc="-25" b="1">
                <a:latin typeface="Calibri"/>
                <a:cs typeface="Calibri"/>
              </a:rPr>
              <a:t>VM </a:t>
            </a:r>
            <a:r>
              <a:rPr dirty="0" sz="1900" spc="-10" b="1">
                <a:latin typeface="Calibri"/>
                <a:cs typeface="Calibri"/>
              </a:rPr>
              <a:t>instance.</a:t>
            </a:r>
            <a:endParaRPr sz="19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14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900" spc="-10" b="1">
                <a:latin typeface="Calibri"/>
                <a:cs typeface="Calibri"/>
              </a:rPr>
              <a:t>Typically</a:t>
            </a:r>
            <a:r>
              <a:rPr dirty="0" sz="1900" spc="-45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the</a:t>
            </a:r>
            <a:r>
              <a:rPr dirty="0" sz="1900" spc="-20" b="1">
                <a:latin typeface="Calibri"/>
                <a:cs typeface="Calibri"/>
              </a:rPr>
              <a:t> </a:t>
            </a:r>
            <a:r>
              <a:rPr dirty="0" sz="1900" b="1">
                <a:latin typeface="Calibri"/>
                <a:cs typeface="Calibri"/>
              </a:rPr>
              <a:t>additional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information</a:t>
            </a:r>
            <a:r>
              <a:rPr dirty="0" sz="1900" spc="-35" b="1">
                <a:latin typeface="Calibri"/>
                <a:cs typeface="Calibri"/>
              </a:rPr>
              <a:t> </a:t>
            </a:r>
            <a:r>
              <a:rPr dirty="0" sz="1900" spc="-10" b="1">
                <a:latin typeface="Calibri"/>
                <a:cs typeface="Calibri"/>
              </a:rPr>
              <a:t>includes:</a:t>
            </a:r>
            <a:endParaRPr sz="1900">
              <a:latin typeface="Calibri"/>
              <a:cs typeface="Calibri"/>
            </a:endParaRPr>
          </a:p>
          <a:p>
            <a:pPr lvl="1" marL="864235" indent="-508634">
              <a:lnSpc>
                <a:spcPct val="100000"/>
              </a:lnSpc>
              <a:spcBef>
                <a:spcPts val="2135"/>
              </a:spcBef>
              <a:buFont typeface="Wingdings"/>
              <a:buChar char=""/>
              <a:tabLst>
                <a:tab pos="864235" algn="l"/>
              </a:tabLst>
            </a:pPr>
            <a:r>
              <a:rPr dirty="0" sz="1900" b="1">
                <a:solidFill>
                  <a:srgbClr val="416429"/>
                </a:solidFill>
                <a:latin typeface="Calibri"/>
                <a:cs typeface="Calibri"/>
              </a:rPr>
              <a:t>The</a:t>
            </a:r>
            <a:r>
              <a:rPr dirty="0" sz="1900" spc="-4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416429"/>
                </a:solidFill>
                <a:latin typeface="Calibri"/>
                <a:cs typeface="Calibri"/>
              </a:rPr>
              <a:t>disk</a:t>
            </a:r>
            <a:r>
              <a:rPr dirty="0" sz="1900" spc="-5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416429"/>
                </a:solidFill>
                <a:latin typeface="Calibri"/>
                <a:cs typeface="Calibri"/>
              </a:rPr>
              <a:t>image</a:t>
            </a:r>
            <a:r>
              <a:rPr dirty="0" sz="1900" spc="-6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416429"/>
                </a:solidFill>
                <a:latin typeface="Calibri"/>
                <a:cs typeface="Calibri"/>
              </a:rPr>
              <a:t>that</a:t>
            </a:r>
            <a:r>
              <a:rPr dirty="0" sz="1900" spc="-5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416429"/>
                </a:solidFill>
                <a:latin typeface="Calibri"/>
                <a:cs typeface="Calibri"/>
              </a:rPr>
              <a:t>contains</a:t>
            </a:r>
            <a:r>
              <a:rPr dirty="0" sz="1900" spc="-3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416429"/>
                </a:solidFill>
                <a:latin typeface="Calibri"/>
                <a:cs typeface="Calibri"/>
              </a:rPr>
              <a:t>the</a:t>
            </a:r>
            <a:r>
              <a:rPr dirty="0" sz="1900" spc="-4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416429"/>
                </a:solidFill>
                <a:latin typeface="Calibri"/>
                <a:cs typeface="Calibri"/>
              </a:rPr>
              <a:t>VM’s</a:t>
            </a:r>
            <a:r>
              <a:rPr dirty="0" sz="1900" spc="-5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416429"/>
                </a:solidFill>
                <a:latin typeface="Calibri"/>
                <a:cs typeface="Calibri"/>
              </a:rPr>
              <a:t>file</a:t>
            </a:r>
            <a:r>
              <a:rPr dirty="0" sz="1900" spc="-6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416429"/>
                </a:solidFill>
                <a:latin typeface="Calibri"/>
                <a:cs typeface="Calibri"/>
              </a:rPr>
              <a:t>system</a:t>
            </a:r>
            <a:endParaRPr sz="1900">
              <a:latin typeface="Calibri"/>
              <a:cs typeface="Calibri"/>
            </a:endParaRPr>
          </a:p>
          <a:p>
            <a:pPr lvl="1" marL="810895" indent="-455295">
              <a:lnSpc>
                <a:spcPct val="100000"/>
              </a:lnSpc>
              <a:spcBef>
                <a:spcPts val="2150"/>
              </a:spcBef>
              <a:buFont typeface="Wingdings"/>
              <a:buChar char=""/>
              <a:tabLst>
                <a:tab pos="810895" algn="l"/>
              </a:tabLst>
            </a:pPr>
            <a:r>
              <a:rPr dirty="0" sz="1900" b="1">
                <a:solidFill>
                  <a:srgbClr val="416429"/>
                </a:solidFill>
                <a:latin typeface="Calibri"/>
                <a:cs typeface="Calibri"/>
              </a:rPr>
              <a:t>The</a:t>
            </a:r>
            <a:r>
              <a:rPr dirty="0" sz="1900" spc="-6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416429"/>
                </a:solidFill>
                <a:latin typeface="Calibri"/>
                <a:cs typeface="Calibri"/>
              </a:rPr>
              <a:t>address</a:t>
            </a:r>
            <a:r>
              <a:rPr dirty="0" sz="1900" spc="-3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416429"/>
                </a:solidFill>
                <a:latin typeface="Calibri"/>
                <a:cs typeface="Calibri"/>
              </a:rPr>
              <a:t>of</a:t>
            </a:r>
            <a:r>
              <a:rPr dirty="0" sz="1900" spc="-6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416429"/>
                </a:solidFill>
                <a:latin typeface="Calibri"/>
                <a:cs typeface="Calibri"/>
              </a:rPr>
              <a:t>the</a:t>
            </a:r>
            <a:r>
              <a:rPr dirty="0" sz="1900" spc="-5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416429"/>
                </a:solidFill>
                <a:latin typeface="Calibri"/>
                <a:cs typeface="Calibri"/>
              </a:rPr>
              <a:t>physical</a:t>
            </a:r>
            <a:r>
              <a:rPr dirty="0" sz="1900" spc="-45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416429"/>
                </a:solidFill>
                <a:latin typeface="Calibri"/>
                <a:cs typeface="Calibri"/>
              </a:rPr>
              <a:t>machine</a:t>
            </a:r>
            <a:r>
              <a:rPr dirty="0" sz="1900" spc="-4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416429"/>
                </a:solidFill>
                <a:latin typeface="Calibri"/>
                <a:cs typeface="Calibri"/>
              </a:rPr>
              <a:t>hosting</a:t>
            </a:r>
            <a:r>
              <a:rPr dirty="0" sz="1900" spc="-4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416429"/>
                </a:solidFill>
                <a:latin typeface="Calibri"/>
                <a:cs typeface="Calibri"/>
              </a:rPr>
              <a:t>the</a:t>
            </a:r>
            <a:r>
              <a:rPr dirty="0" sz="1900" spc="-5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1900" spc="-25" b="1">
                <a:solidFill>
                  <a:srgbClr val="416429"/>
                </a:solidFill>
                <a:latin typeface="Calibri"/>
                <a:cs typeface="Calibri"/>
              </a:rPr>
              <a:t>VM</a:t>
            </a:r>
            <a:endParaRPr sz="1900">
              <a:latin typeface="Calibri"/>
              <a:cs typeface="Calibri"/>
            </a:endParaRPr>
          </a:p>
          <a:p>
            <a:pPr lvl="1" marL="810895" indent="-455295">
              <a:lnSpc>
                <a:spcPct val="100000"/>
              </a:lnSpc>
              <a:spcBef>
                <a:spcPts val="2140"/>
              </a:spcBef>
              <a:buFont typeface="Wingdings"/>
              <a:buChar char=""/>
              <a:tabLst>
                <a:tab pos="810895" algn="l"/>
              </a:tabLst>
            </a:pPr>
            <a:r>
              <a:rPr dirty="0" sz="1900" b="1">
                <a:solidFill>
                  <a:srgbClr val="416429"/>
                </a:solidFill>
                <a:latin typeface="Calibri"/>
                <a:cs typeface="Calibri"/>
              </a:rPr>
              <a:t>The</a:t>
            </a:r>
            <a:r>
              <a:rPr dirty="0" sz="1900" spc="-7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416429"/>
                </a:solidFill>
                <a:latin typeface="Calibri"/>
                <a:cs typeface="Calibri"/>
              </a:rPr>
              <a:t>VM’s</a:t>
            </a:r>
            <a:r>
              <a:rPr dirty="0" sz="1900" spc="-7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1900" b="1">
                <a:solidFill>
                  <a:srgbClr val="416429"/>
                </a:solidFill>
                <a:latin typeface="Calibri"/>
                <a:cs typeface="Calibri"/>
              </a:rPr>
              <a:t>network</a:t>
            </a:r>
            <a:r>
              <a:rPr dirty="0" sz="1900" spc="-80" b="1">
                <a:solidFill>
                  <a:srgbClr val="416429"/>
                </a:solidFill>
                <a:latin typeface="Calibri"/>
                <a:cs typeface="Calibri"/>
              </a:rPr>
              <a:t> </a:t>
            </a:r>
            <a:r>
              <a:rPr dirty="0" sz="1900" spc="-10" b="1">
                <a:solidFill>
                  <a:srgbClr val="416429"/>
                </a:solidFill>
                <a:latin typeface="Calibri"/>
                <a:cs typeface="Calibri"/>
              </a:rPr>
              <a:t>configuration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53447" y="4433949"/>
            <a:ext cx="5378050" cy="2390192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8739" y="-182036"/>
            <a:ext cx="8905240" cy="1517015"/>
          </a:xfrm>
          <a:prstGeom prst="rect"/>
        </p:spPr>
        <p:txBody>
          <a:bodyPr wrap="square" lIns="0" tIns="122555" rIns="0" bIns="0" rtlCol="0" vert="horz">
            <a:spAutoFit/>
          </a:bodyPr>
          <a:lstStyle/>
          <a:p>
            <a:pPr marL="3145155">
              <a:lnSpc>
                <a:spcPct val="100000"/>
              </a:lnSpc>
              <a:spcBef>
                <a:spcPts val="96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  <a:p>
            <a:pPr marL="12700" marR="131445" indent="3262629">
              <a:lnSpc>
                <a:spcPts val="3890"/>
              </a:lnSpc>
            </a:pPr>
            <a:r>
              <a:rPr dirty="0" sz="2400"/>
              <a:t>Virtual</a:t>
            </a:r>
            <a:r>
              <a:rPr dirty="0" sz="2400" spc="-65"/>
              <a:t> </a:t>
            </a:r>
            <a:r>
              <a:rPr dirty="0" sz="2400"/>
              <a:t>Machine</a:t>
            </a:r>
            <a:r>
              <a:rPr dirty="0" sz="2400" spc="-65"/>
              <a:t> </a:t>
            </a:r>
            <a:r>
              <a:rPr dirty="0" sz="2400"/>
              <a:t>Creation</a:t>
            </a:r>
            <a:r>
              <a:rPr dirty="0" sz="2400" spc="-70"/>
              <a:t> </a:t>
            </a:r>
            <a:r>
              <a:rPr dirty="0" sz="2400"/>
              <a:t>and</a:t>
            </a:r>
            <a:r>
              <a:rPr dirty="0" sz="2400" spc="-70"/>
              <a:t> </a:t>
            </a:r>
            <a:r>
              <a:rPr dirty="0" sz="2400" spc="-10"/>
              <a:t>Management Distributed</a:t>
            </a:r>
            <a:r>
              <a:rPr dirty="0" sz="2400" spc="-35"/>
              <a:t> </a:t>
            </a:r>
            <a:r>
              <a:rPr dirty="0" sz="2400"/>
              <a:t>VM</a:t>
            </a:r>
            <a:r>
              <a:rPr dirty="0" sz="2400" spc="-50"/>
              <a:t> </a:t>
            </a:r>
            <a:r>
              <a:rPr dirty="0" sz="2400" spc="-10"/>
              <a:t>Management</a:t>
            </a:r>
            <a:endParaRPr sz="2400"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7124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449960"/>
            <a:ext cx="12036425" cy="6419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3745229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Global</a:t>
            </a:r>
            <a:r>
              <a:rPr dirty="0" sz="24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Exchange</a:t>
            </a:r>
            <a:r>
              <a:rPr dirty="0" sz="24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4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4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Resources</a:t>
            </a:r>
            <a:endParaRPr sz="2400">
              <a:latin typeface="Calibri"/>
              <a:cs typeface="Calibri"/>
            </a:endParaRPr>
          </a:p>
          <a:p>
            <a:pPr algn="just" marL="352425" marR="6350" indent="-339725">
              <a:lnSpc>
                <a:spcPct val="150100"/>
              </a:lnSpc>
              <a:spcBef>
                <a:spcPts val="25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order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support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large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number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consumers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around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world,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infrastructure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providers</a:t>
            </a:r>
            <a:r>
              <a:rPr dirty="0" sz="2000" spc="6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have </a:t>
            </a:r>
            <a:r>
              <a:rPr dirty="0" sz="2000" spc="-2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established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centers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2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geographical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locations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2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redundancy</a:t>
            </a:r>
            <a:r>
              <a:rPr dirty="0" sz="2000" spc="22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ensure</a:t>
            </a:r>
            <a:r>
              <a:rPr dirty="0" sz="2000" spc="2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reliability</a:t>
            </a:r>
            <a:r>
              <a:rPr dirty="0" sz="2000" spc="235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in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case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site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failures.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example,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Amazon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has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centers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United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States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(e.g.,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one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East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Coast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another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the</a:t>
            </a:r>
            <a:endParaRPr sz="2000">
              <a:latin typeface="Calibri"/>
              <a:cs typeface="Calibri"/>
            </a:endParaRPr>
          </a:p>
          <a:p>
            <a:pPr algn="just" marL="355600">
              <a:lnSpc>
                <a:spcPct val="100000"/>
              </a:lnSpc>
              <a:spcBef>
                <a:spcPts val="1200"/>
              </a:spcBef>
            </a:pPr>
            <a:r>
              <a:rPr dirty="0" sz="2000" spc="-10" b="1">
                <a:latin typeface="Calibri"/>
                <a:cs typeface="Calibri"/>
              </a:rPr>
              <a:t>West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Coast)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Europe.</a:t>
            </a:r>
            <a:endParaRPr sz="2000">
              <a:latin typeface="Calibri"/>
              <a:cs typeface="Calibri"/>
            </a:endParaRPr>
          </a:p>
          <a:p>
            <a:pPr algn="just" marL="352425" marR="7620" indent="-339725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spc="-20" b="1">
                <a:latin typeface="Calibri"/>
                <a:cs typeface="Calibri"/>
              </a:rPr>
              <a:t>However,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it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difficult</a:t>
            </a:r>
            <a:r>
              <a:rPr dirty="0" sz="2000" spc="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customers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determine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advance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best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location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hosting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their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services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they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may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not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know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origin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consumers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their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services.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1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Also,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SaaS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providers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may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not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able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meet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QoS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expectations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their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consumers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originating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from</a:t>
            </a:r>
            <a:endParaRPr sz="2000">
              <a:latin typeface="Calibri"/>
              <a:cs typeface="Calibri"/>
            </a:endParaRPr>
          </a:p>
          <a:p>
            <a:pPr algn="just" marL="3556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geographical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locations.</a:t>
            </a:r>
            <a:endParaRPr sz="2000">
              <a:latin typeface="Calibri"/>
              <a:cs typeface="Calibri"/>
            </a:endParaRPr>
          </a:p>
          <a:p>
            <a:pPr algn="just" marL="352425" marR="6350" indent="-339725">
              <a:lnSpc>
                <a:spcPct val="150100"/>
              </a:lnSpc>
              <a:spcBef>
                <a:spcPts val="994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This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necessitates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building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mechanisms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 seamless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federation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 centers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 a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provider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10" b="1">
                <a:latin typeface="Calibri"/>
                <a:cs typeface="Calibri"/>
              </a:rPr>
              <a:t> providers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supporting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dynamic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scaling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2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across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domains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order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meet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QoS</a:t>
            </a:r>
            <a:r>
              <a:rPr dirty="0" sz="2000" spc="2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targets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27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cloud 	customers.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(Creating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VMs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multiple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centers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multiple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places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all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over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world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that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satisfies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customer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QoS),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8521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131971"/>
            <a:ext cx="6614159" cy="6764020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marL="269875">
              <a:lnSpc>
                <a:spcPct val="100000"/>
              </a:lnSpc>
              <a:spcBef>
                <a:spcPts val="120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Global</a:t>
            </a:r>
            <a:r>
              <a:rPr dirty="0" sz="2400" spc="-5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Exchange</a:t>
            </a:r>
            <a:r>
              <a:rPr dirty="0" sz="24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4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4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Resources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354965" algn="l"/>
                <a:tab pos="1094740" algn="l"/>
                <a:tab pos="1844675" algn="l"/>
                <a:tab pos="2317115" algn="l"/>
                <a:tab pos="3394075" algn="l"/>
                <a:tab pos="4723765" algn="l"/>
                <a:tab pos="5074285" algn="l"/>
                <a:tab pos="5546725" algn="l"/>
              </a:tabLst>
            </a:pPr>
            <a:r>
              <a:rPr dirty="0" sz="1800" spc="-10" b="1">
                <a:latin typeface="Calibri"/>
                <a:cs typeface="Calibri"/>
              </a:rPr>
              <a:t>Figure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20" b="1">
                <a:latin typeface="Calibri"/>
                <a:cs typeface="Calibri"/>
              </a:rPr>
              <a:t>shows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25" b="1">
                <a:latin typeface="Calibri"/>
                <a:cs typeface="Calibri"/>
              </a:rPr>
              <a:t>the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10" b="1">
                <a:latin typeface="Calibri"/>
                <a:cs typeface="Calibri"/>
              </a:rPr>
              <a:t>high-</a:t>
            </a:r>
            <a:r>
              <a:rPr dirty="0" sz="1800" spc="-20" b="1">
                <a:latin typeface="Calibri"/>
                <a:cs typeface="Calibri"/>
              </a:rPr>
              <a:t>level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10" b="1">
                <a:latin typeface="Calibri"/>
                <a:cs typeface="Calibri"/>
              </a:rPr>
              <a:t>components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25" b="1">
                <a:latin typeface="Calibri"/>
                <a:cs typeface="Calibri"/>
              </a:rPr>
              <a:t>of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25" b="1">
                <a:latin typeface="Calibri"/>
                <a:cs typeface="Calibri"/>
              </a:rPr>
              <a:t>the</a:t>
            </a:r>
            <a:r>
              <a:rPr dirty="0" sz="1800" b="1">
                <a:latin typeface="Calibri"/>
                <a:cs typeface="Calibri"/>
              </a:rPr>
              <a:t>	</a:t>
            </a:r>
            <a:r>
              <a:rPr dirty="0" sz="1800" spc="-10" b="1">
                <a:latin typeface="Calibri"/>
                <a:cs typeface="Calibri"/>
              </a:rPr>
              <a:t>Melbourne</a:t>
            </a:r>
            <a:endParaRPr sz="18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080"/>
              </a:spcBef>
            </a:pPr>
            <a:r>
              <a:rPr dirty="0" sz="1800" spc="-10" b="1">
                <a:latin typeface="Calibri"/>
                <a:cs typeface="Calibri"/>
              </a:rPr>
              <a:t>group’s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proposed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InterCloud</a:t>
            </a:r>
            <a:r>
              <a:rPr dirty="0" sz="1800" spc="-8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architecture.</a:t>
            </a:r>
            <a:endParaRPr sz="18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50000"/>
              </a:lnSpc>
              <a:spcBef>
                <a:spcPts val="18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addition,</a:t>
            </a:r>
            <a:r>
              <a:rPr dirty="0" sz="1800" spc="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no</a:t>
            </a:r>
            <a:r>
              <a:rPr dirty="0" sz="1800" spc="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single</a:t>
            </a:r>
            <a:r>
              <a:rPr dirty="0" sz="1800" spc="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infrastructure</a:t>
            </a:r>
            <a:r>
              <a:rPr dirty="0" sz="1800" spc="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provider</a:t>
            </a:r>
            <a:r>
              <a:rPr dirty="0" sz="1800" spc="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will</a:t>
            </a:r>
            <a:r>
              <a:rPr dirty="0" sz="1800" spc="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be</a:t>
            </a:r>
            <a:r>
              <a:rPr dirty="0" sz="1800" spc="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able</a:t>
            </a:r>
            <a:r>
              <a:rPr dirty="0" sz="1800" spc="40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to </a:t>
            </a:r>
            <a:r>
              <a:rPr dirty="0" sz="1800" b="1">
                <a:latin typeface="Calibri"/>
                <a:cs typeface="Calibri"/>
              </a:rPr>
              <a:t>establish</a:t>
            </a:r>
            <a:r>
              <a:rPr dirty="0" sz="1800" spc="9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its</a:t>
            </a:r>
            <a:r>
              <a:rPr dirty="0" sz="1800" spc="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data</a:t>
            </a:r>
            <a:r>
              <a:rPr dirty="0" sz="1800" spc="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centers</a:t>
            </a:r>
            <a:r>
              <a:rPr dirty="0" sz="1800" spc="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at</a:t>
            </a:r>
            <a:r>
              <a:rPr dirty="0" sz="1800" spc="9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all</a:t>
            </a:r>
            <a:r>
              <a:rPr dirty="0" sz="1800" spc="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possible</a:t>
            </a:r>
            <a:r>
              <a:rPr dirty="0" sz="1800" spc="8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locations</a:t>
            </a:r>
            <a:r>
              <a:rPr dirty="0" sz="1800" spc="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throughout</a:t>
            </a:r>
            <a:r>
              <a:rPr dirty="0" sz="1800" spc="95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the </a:t>
            </a:r>
            <a:r>
              <a:rPr dirty="0" sz="1800" spc="-10" b="1">
                <a:latin typeface="Calibri"/>
                <a:cs typeface="Calibri"/>
              </a:rPr>
              <a:t>world.</a:t>
            </a:r>
            <a:endParaRPr sz="18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50000"/>
              </a:lnSpc>
              <a:spcBef>
                <a:spcPts val="1800"/>
              </a:spcBef>
              <a:buFont typeface="Arial MT"/>
              <a:buChar char="•"/>
              <a:tabLst>
                <a:tab pos="355600" algn="l"/>
                <a:tab pos="407034" algn="l"/>
              </a:tabLst>
            </a:pPr>
            <a:r>
              <a:rPr dirty="0" sz="1800">
                <a:latin typeface="Calibri"/>
                <a:cs typeface="Calibri"/>
              </a:rPr>
              <a:t>	</a:t>
            </a:r>
            <a:r>
              <a:rPr dirty="0" sz="1800" b="1">
                <a:latin typeface="Calibri"/>
                <a:cs typeface="Calibri"/>
              </a:rPr>
              <a:t>As</a:t>
            </a:r>
            <a:r>
              <a:rPr dirty="0" sz="1800" spc="2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2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result,</a:t>
            </a:r>
            <a:r>
              <a:rPr dirty="0" sz="1800" spc="2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2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providers</a:t>
            </a:r>
            <a:r>
              <a:rPr dirty="0" sz="1800" spc="2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will</a:t>
            </a:r>
            <a:r>
              <a:rPr dirty="0" sz="1800" spc="2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have</a:t>
            </a:r>
            <a:r>
              <a:rPr dirty="0" sz="1800" spc="2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difficulty</a:t>
            </a:r>
            <a:r>
              <a:rPr dirty="0" sz="1800" spc="2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2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meeting</a:t>
            </a:r>
            <a:r>
              <a:rPr dirty="0" sz="1800" spc="240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QoS </a:t>
            </a:r>
            <a:r>
              <a:rPr dirty="0" sz="1800" spc="-10" b="1">
                <a:latin typeface="Calibri"/>
                <a:cs typeface="Calibri"/>
              </a:rPr>
              <a:t>expectations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all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their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consumers.</a:t>
            </a:r>
            <a:endParaRPr sz="1800">
              <a:latin typeface="Calibri"/>
              <a:cs typeface="Calibri"/>
            </a:endParaRPr>
          </a:p>
          <a:p>
            <a:pPr algn="just" marL="355600" marR="5715" indent="-342900">
              <a:lnSpc>
                <a:spcPct val="150000"/>
              </a:lnSpc>
              <a:spcBef>
                <a:spcPts val="18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 b="1">
                <a:latin typeface="Calibri"/>
                <a:cs typeface="Calibri"/>
              </a:rPr>
              <a:t>Hence,</a:t>
            </a:r>
            <a:r>
              <a:rPr dirty="0" sz="1800" spc="10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they</a:t>
            </a:r>
            <a:r>
              <a:rPr dirty="0" sz="1800" spc="1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would</a:t>
            </a:r>
            <a:r>
              <a:rPr dirty="0" sz="1800" spc="1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like</a:t>
            </a:r>
            <a:r>
              <a:rPr dirty="0" sz="1800" spc="10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10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make</a:t>
            </a:r>
            <a:r>
              <a:rPr dirty="0" sz="1800" spc="9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use</a:t>
            </a:r>
            <a:r>
              <a:rPr dirty="0" sz="1800" spc="1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9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services</a:t>
            </a:r>
            <a:r>
              <a:rPr dirty="0" sz="1800" spc="9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9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multiple</a:t>
            </a:r>
            <a:r>
              <a:rPr dirty="0" sz="1800" spc="10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cloud </a:t>
            </a:r>
            <a:r>
              <a:rPr dirty="0" sz="1800" b="1">
                <a:latin typeface="Calibri"/>
                <a:cs typeface="Calibri"/>
              </a:rPr>
              <a:t>infrastructure</a:t>
            </a:r>
            <a:r>
              <a:rPr dirty="0" sz="1800" spc="204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service</a:t>
            </a:r>
            <a:r>
              <a:rPr dirty="0" sz="1800" spc="204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providers</a:t>
            </a:r>
            <a:r>
              <a:rPr dirty="0" sz="1800" spc="19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who</a:t>
            </a:r>
            <a:r>
              <a:rPr dirty="0" sz="1800" spc="2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can</a:t>
            </a:r>
            <a:r>
              <a:rPr dirty="0" sz="1800" spc="2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provide</a:t>
            </a:r>
            <a:r>
              <a:rPr dirty="0" sz="1800" spc="2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better</a:t>
            </a:r>
            <a:r>
              <a:rPr dirty="0" sz="1800" spc="19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support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their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specific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consumer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needs.</a:t>
            </a:r>
            <a:endParaRPr sz="18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50100"/>
              </a:lnSpc>
              <a:spcBef>
                <a:spcPts val="18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 b="1">
                <a:latin typeface="Calibri"/>
                <a:cs typeface="Calibri"/>
              </a:rPr>
              <a:t>This</a:t>
            </a:r>
            <a:r>
              <a:rPr dirty="0" sz="1800" spc="240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necessitates</a:t>
            </a:r>
            <a:r>
              <a:rPr dirty="0" sz="1800" spc="235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federation</a:t>
            </a:r>
            <a:r>
              <a:rPr dirty="0" sz="1800" spc="250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245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245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infrastructure</a:t>
            </a:r>
            <a:r>
              <a:rPr dirty="0" sz="1800" spc="250" b="1">
                <a:latin typeface="Calibri"/>
                <a:cs typeface="Calibri"/>
              </a:rPr>
              <a:t>  </a:t>
            </a:r>
            <a:r>
              <a:rPr dirty="0" sz="1800" spc="-10" b="1">
                <a:latin typeface="Calibri"/>
                <a:cs typeface="Calibri"/>
              </a:rPr>
              <a:t>service </a:t>
            </a:r>
            <a:r>
              <a:rPr dirty="0" sz="1800" b="1">
                <a:latin typeface="Calibri"/>
                <a:cs typeface="Calibri"/>
              </a:rPr>
              <a:t>providers</a:t>
            </a:r>
            <a:r>
              <a:rPr dirty="0" sz="1800" spc="3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3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seamless</a:t>
            </a:r>
            <a:r>
              <a:rPr dirty="0" sz="1800" spc="3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provisioning</a:t>
            </a:r>
            <a:r>
              <a:rPr dirty="0" sz="1800" spc="3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3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services</a:t>
            </a:r>
            <a:r>
              <a:rPr dirty="0" sz="1800" spc="3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across</a:t>
            </a:r>
            <a:r>
              <a:rPr dirty="0" sz="1800" spc="3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different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providers.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7751" y="615450"/>
            <a:ext cx="5296360" cy="6177015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8521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67410"/>
            <a:ext cx="6270625" cy="6287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Global</a:t>
            </a:r>
            <a:r>
              <a:rPr dirty="0" sz="24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Exchange</a:t>
            </a:r>
            <a:r>
              <a:rPr dirty="0" sz="24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4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4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Resources</a:t>
            </a:r>
            <a:endParaRPr sz="2400">
              <a:latin typeface="Calibri"/>
              <a:cs typeface="Calibri"/>
            </a:endParaRPr>
          </a:p>
          <a:p>
            <a:pPr algn="just" marL="355600" marR="6350" indent="-342900">
              <a:lnSpc>
                <a:spcPct val="150000"/>
              </a:lnSpc>
              <a:spcBef>
                <a:spcPts val="3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4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realize</a:t>
            </a:r>
            <a:r>
              <a:rPr dirty="0" sz="1800" spc="4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this,</a:t>
            </a:r>
            <a:r>
              <a:rPr dirty="0" sz="1800" spc="434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4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University</a:t>
            </a:r>
            <a:r>
              <a:rPr dirty="0" sz="1800" spc="434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434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Melbourne</a:t>
            </a:r>
            <a:r>
              <a:rPr dirty="0" sz="1800" spc="4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has</a:t>
            </a:r>
            <a:r>
              <a:rPr dirty="0" sz="1800" spc="4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proposed </a:t>
            </a:r>
            <a:r>
              <a:rPr dirty="0" sz="1800" b="1">
                <a:latin typeface="Calibri"/>
                <a:cs typeface="Calibri"/>
              </a:rPr>
              <a:t>InterCloud</a:t>
            </a:r>
            <a:r>
              <a:rPr dirty="0" sz="1800" spc="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architecture</a:t>
            </a:r>
            <a:r>
              <a:rPr dirty="0" sz="1800" spc="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supporting brokering</a:t>
            </a:r>
            <a:r>
              <a:rPr dirty="0" sz="1800" spc="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 exchange</a:t>
            </a:r>
            <a:r>
              <a:rPr dirty="0" sz="1800" spc="10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of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resources</a:t>
            </a:r>
            <a:r>
              <a:rPr dirty="0" sz="1800" spc="-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scaling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applications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across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multiple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clouds.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5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5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18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providers</a:t>
            </a:r>
            <a:r>
              <a:rPr dirty="0" sz="1800" spc="1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will</a:t>
            </a:r>
            <a:r>
              <a:rPr dirty="0" sz="1800" spc="18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be</a:t>
            </a:r>
            <a:r>
              <a:rPr dirty="0" sz="1800" spc="19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able</a:t>
            </a:r>
            <a:r>
              <a:rPr dirty="0" sz="1800" spc="1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18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dynamically</a:t>
            </a:r>
            <a:r>
              <a:rPr dirty="0" sz="1800" spc="18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expand</a:t>
            </a:r>
            <a:r>
              <a:rPr dirty="0" sz="1800" spc="18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or</a:t>
            </a:r>
            <a:r>
              <a:rPr dirty="0" sz="1800" spc="18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resize </a:t>
            </a:r>
            <a:r>
              <a:rPr dirty="0" sz="1800" b="1">
                <a:latin typeface="Calibri"/>
                <a:cs typeface="Calibri"/>
              </a:rPr>
              <a:t>their</a:t>
            </a:r>
            <a:r>
              <a:rPr dirty="0" sz="1800" spc="190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provisioning</a:t>
            </a:r>
            <a:r>
              <a:rPr dirty="0" sz="1800" spc="195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capability</a:t>
            </a:r>
            <a:r>
              <a:rPr dirty="0" sz="1800" spc="190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based</a:t>
            </a:r>
            <a:r>
              <a:rPr dirty="0" sz="1800" spc="195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on</a:t>
            </a:r>
            <a:r>
              <a:rPr dirty="0" sz="1800" spc="200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sudden</a:t>
            </a:r>
            <a:r>
              <a:rPr dirty="0" sz="1800" spc="200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spikes</a:t>
            </a:r>
            <a:r>
              <a:rPr dirty="0" sz="1800" spc="204" b="1">
                <a:latin typeface="Calibri"/>
                <a:cs typeface="Calibri"/>
              </a:rPr>
              <a:t>  </a:t>
            </a:r>
            <a:r>
              <a:rPr dirty="0" sz="1800" spc="-25" b="1">
                <a:latin typeface="Calibri"/>
                <a:cs typeface="Calibri"/>
              </a:rPr>
              <a:t>in </a:t>
            </a:r>
            <a:r>
              <a:rPr dirty="0" sz="1800" b="1">
                <a:latin typeface="Calibri"/>
                <a:cs typeface="Calibri"/>
              </a:rPr>
              <a:t>workload</a:t>
            </a:r>
            <a:r>
              <a:rPr dirty="0" sz="1800" spc="409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demands</a:t>
            </a:r>
            <a:r>
              <a:rPr dirty="0" sz="1800" spc="40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4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leasing</a:t>
            </a:r>
            <a:r>
              <a:rPr dirty="0" sz="1800" spc="40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available</a:t>
            </a:r>
            <a:r>
              <a:rPr dirty="0" sz="1800" spc="409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computational</a:t>
            </a:r>
            <a:r>
              <a:rPr dirty="0" sz="1800" spc="409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and </a:t>
            </a:r>
            <a:r>
              <a:rPr dirty="0" sz="1800" b="1">
                <a:latin typeface="Calibri"/>
                <a:cs typeface="Calibri"/>
              </a:rPr>
              <a:t>storage</a:t>
            </a:r>
            <a:r>
              <a:rPr dirty="0" sz="1800" spc="229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capabilities</a:t>
            </a:r>
            <a:r>
              <a:rPr dirty="0" sz="1800" spc="235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from</a:t>
            </a:r>
            <a:r>
              <a:rPr dirty="0" sz="1800" spc="229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other</a:t>
            </a:r>
            <a:r>
              <a:rPr dirty="0" sz="1800" spc="235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235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service</a:t>
            </a:r>
            <a:r>
              <a:rPr dirty="0" sz="1800" spc="235" b="1">
                <a:latin typeface="Calibri"/>
                <a:cs typeface="Calibri"/>
              </a:rPr>
              <a:t>  </a:t>
            </a:r>
            <a:r>
              <a:rPr dirty="0" sz="1800" spc="-10" b="1">
                <a:latin typeface="Calibri"/>
                <a:cs typeface="Calibri"/>
              </a:rPr>
              <a:t>providers; </a:t>
            </a:r>
            <a:r>
              <a:rPr dirty="0" sz="1800" b="1">
                <a:latin typeface="Calibri"/>
                <a:cs typeface="Calibri"/>
              </a:rPr>
              <a:t>operate</a:t>
            </a:r>
            <a:r>
              <a:rPr dirty="0" sz="1800" spc="385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as</a:t>
            </a:r>
            <a:r>
              <a:rPr dirty="0" sz="1800" spc="385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part</a:t>
            </a:r>
            <a:r>
              <a:rPr dirty="0" sz="1800" spc="380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385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380" b="1">
                <a:latin typeface="Calibri"/>
                <a:cs typeface="Calibri"/>
              </a:rPr>
              <a:t>  </a:t>
            </a:r>
            <a:r>
              <a:rPr dirty="0" sz="1800" spc="-20" b="1">
                <a:latin typeface="Calibri"/>
                <a:cs typeface="Calibri"/>
              </a:rPr>
              <a:t>market-</a:t>
            </a:r>
            <a:r>
              <a:rPr dirty="0" sz="1800" b="1">
                <a:latin typeface="Calibri"/>
                <a:cs typeface="Calibri"/>
              </a:rPr>
              <a:t>driven</a:t>
            </a:r>
            <a:r>
              <a:rPr dirty="0" sz="1800" spc="390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resource</a:t>
            </a:r>
            <a:r>
              <a:rPr dirty="0" sz="1800" spc="385" b="1">
                <a:latin typeface="Calibri"/>
                <a:cs typeface="Calibri"/>
              </a:rPr>
              <a:t>  </a:t>
            </a:r>
            <a:r>
              <a:rPr dirty="0" sz="1800" spc="-10" b="1">
                <a:latin typeface="Calibri"/>
                <a:cs typeface="Calibri"/>
              </a:rPr>
              <a:t>leasing federation.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405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 b="1">
                <a:latin typeface="Calibri"/>
                <a:cs typeface="Calibri"/>
              </a:rPr>
              <a:t>They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consist</a:t>
            </a:r>
            <a:r>
              <a:rPr dirty="0" sz="1800" spc="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8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client</a:t>
            </a:r>
            <a:r>
              <a:rPr dirty="0" sz="1800" spc="8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brokering</a:t>
            </a:r>
            <a:r>
              <a:rPr dirty="0" sz="1800" spc="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9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coordinator</a:t>
            </a:r>
            <a:r>
              <a:rPr dirty="0" sz="1800" spc="8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services</a:t>
            </a:r>
            <a:r>
              <a:rPr dirty="0" sz="1800" spc="9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that </a:t>
            </a:r>
            <a:r>
              <a:rPr dirty="0" sz="1800" b="1">
                <a:latin typeface="Calibri"/>
                <a:cs typeface="Calibri"/>
              </a:rPr>
              <a:t>support</a:t>
            </a:r>
            <a:r>
              <a:rPr dirty="0" sz="1800" spc="380" b="1">
                <a:latin typeface="Calibri"/>
                <a:cs typeface="Calibri"/>
              </a:rPr>
              <a:t>  </a:t>
            </a:r>
            <a:r>
              <a:rPr dirty="0" sz="1800" spc="-10" b="1">
                <a:latin typeface="Calibri"/>
                <a:cs typeface="Calibri"/>
              </a:rPr>
              <a:t>utility-</a:t>
            </a:r>
            <a:r>
              <a:rPr dirty="0" sz="1800" b="1">
                <a:latin typeface="Calibri"/>
                <a:cs typeface="Calibri"/>
              </a:rPr>
              <a:t>driven</a:t>
            </a:r>
            <a:r>
              <a:rPr dirty="0" sz="1800" spc="385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federation</a:t>
            </a:r>
            <a:r>
              <a:rPr dirty="0" sz="1800" spc="385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375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clouds:</a:t>
            </a:r>
            <a:r>
              <a:rPr dirty="0" sz="1800" spc="375" b="1">
                <a:latin typeface="Calibri"/>
                <a:cs typeface="Calibri"/>
              </a:rPr>
              <a:t>  </a:t>
            </a:r>
            <a:r>
              <a:rPr dirty="0" sz="1800" spc="-10" b="1">
                <a:latin typeface="Calibri"/>
                <a:cs typeface="Calibri"/>
              </a:rPr>
              <a:t>application </a:t>
            </a:r>
            <a:r>
              <a:rPr dirty="0" sz="1800" b="1">
                <a:latin typeface="Calibri"/>
                <a:cs typeface="Calibri"/>
              </a:rPr>
              <a:t>scheduling,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resource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allocation,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migration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workloads.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73467" y="615450"/>
            <a:ext cx="5469084" cy="6177015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448" y="-85217"/>
            <a:ext cx="5772785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30" b="0">
                <a:latin typeface="Calibri Light"/>
                <a:cs typeface="Calibri Light"/>
              </a:rPr>
              <a:t>INTER-</a:t>
            </a:r>
            <a:r>
              <a:rPr dirty="0" sz="2800" spc="-50" b="0">
                <a:latin typeface="Calibri Light"/>
                <a:cs typeface="Calibri Light"/>
              </a:rPr>
              <a:t>CLOUD</a:t>
            </a:r>
            <a:r>
              <a:rPr dirty="0" sz="2800" spc="-85" b="0">
                <a:latin typeface="Calibri Light"/>
                <a:cs typeface="Calibri Light"/>
              </a:rPr>
              <a:t> </a:t>
            </a:r>
            <a:r>
              <a:rPr dirty="0" sz="2800" spc="-25" b="0">
                <a:latin typeface="Calibri Light"/>
                <a:cs typeface="Calibri Light"/>
              </a:rPr>
              <a:t>RESOURCE</a:t>
            </a:r>
            <a:r>
              <a:rPr dirty="0" sz="2800" spc="-75" b="0">
                <a:latin typeface="Calibri Light"/>
                <a:cs typeface="Calibri Light"/>
              </a:rPr>
              <a:t> </a:t>
            </a:r>
            <a:r>
              <a:rPr dirty="0" sz="2800" spc="-10" b="0">
                <a:latin typeface="Calibri Light"/>
                <a:cs typeface="Calibri Light"/>
              </a:rPr>
              <a:t>MANAGEMENT</a:t>
            </a:r>
            <a:endParaRPr sz="2800">
              <a:latin typeface="Calibri Light"/>
              <a:cs typeface="Calibri Light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78739" y="367410"/>
            <a:ext cx="7056755" cy="6287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69875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Global</a:t>
            </a:r>
            <a:r>
              <a:rPr dirty="0" sz="24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Exchange</a:t>
            </a:r>
            <a:r>
              <a:rPr dirty="0" sz="2400" spc="-2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of</a:t>
            </a:r>
            <a:r>
              <a:rPr dirty="0" sz="2400" spc="-3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400" spc="-2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400" spc="-10" b="1">
                <a:solidFill>
                  <a:srgbClr val="C00000"/>
                </a:solidFill>
                <a:latin typeface="Calibri"/>
                <a:cs typeface="Calibri"/>
              </a:rPr>
              <a:t>Resources</a:t>
            </a:r>
            <a:endParaRPr sz="24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50000"/>
              </a:lnSpc>
              <a:spcBef>
                <a:spcPts val="3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Exchange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(CEx)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acts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as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market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maker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bringing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together </a:t>
            </a:r>
            <a:r>
              <a:rPr dirty="0" sz="1800" b="1">
                <a:latin typeface="Calibri"/>
                <a:cs typeface="Calibri"/>
              </a:rPr>
              <a:t>service</a:t>
            </a:r>
            <a:r>
              <a:rPr dirty="0" sz="1800" spc="50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producers</a:t>
            </a:r>
            <a:r>
              <a:rPr dirty="0" sz="1800" spc="55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50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consumers.</a:t>
            </a:r>
            <a:r>
              <a:rPr dirty="0" sz="1800" spc="50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It</a:t>
            </a:r>
            <a:r>
              <a:rPr dirty="0" sz="1800" spc="50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aggregates</a:t>
            </a:r>
            <a:r>
              <a:rPr dirty="0" sz="1800" spc="55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50" b="1">
                <a:latin typeface="Calibri"/>
                <a:cs typeface="Calibri"/>
              </a:rPr>
              <a:t>  </a:t>
            </a:r>
            <a:r>
              <a:rPr dirty="0" sz="1800" spc="-10" b="1">
                <a:latin typeface="Calibri"/>
                <a:cs typeface="Calibri"/>
              </a:rPr>
              <a:t>infrastructure </a:t>
            </a:r>
            <a:r>
              <a:rPr dirty="0" sz="1800" b="1">
                <a:latin typeface="Calibri"/>
                <a:cs typeface="Calibri"/>
              </a:rPr>
              <a:t>demands</a:t>
            </a:r>
            <a:r>
              <a:rPr dirty="0" sz="1800" spc="3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from</a:t>
            </a:r>
            <a:r>
              <a:rPr dirty="0" sz="1800" spc="3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application</a:t>
            </a:r>
            <a:r>
              <a:rPr dirty="0" sz="1800" spc="3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brokers</a:t>
            </a:r>
            <a:r>
              <a:rPr dirty="0" sz="1800" spc="3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3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evaluates</a:t>
            </a:r>
            <a:r>
              <a:rPr dirty="0" sz="1800" spc="3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them</a:t>
            </a:r>
            <a:r>
              <a:rPr dirty="0" sz="1800" spc="3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against</a:t>
            </a:r>
            <a:r>
              <a:rPr dirty="0" sz="1800" spc="350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the </a:t>
            </a:r>
            <a:r>
              <a:rPr dirty="0" sz="1800" b="1">
                <a:latin typeface="Calibri"/>
                <a:cs typeface="Calibri"/>
              </a:rPr>
              <a:t>available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supply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currently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published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coordinators.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4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algn="just" marL="355600" marR="6985" indent="-342900">
              <a:lnSpc>
                <a:spcPct val="15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00" b="1">
                <a:latin typeface="Calibri"/>
                <a:cs typeface="Calibri"/>
              </a:rPr>
              <a:t>It</a:t>
            </a:r>
            <a:r>
              <a:rPr dirty="0" sz="1800" spc="1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supports</a:t>
            </a:r>
            <a:r>
              <a:rPr dirty="0" sz="1800" spc="2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trading</a:t>
            </a:r>
            <a:r>
              <a:rPr dirty="0" sz="1800" spc="18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1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18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services</a:t>
            </a:r>
            <a:r>
              <a:rPr dirty="0" sz="1800" spc="204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based</a:t>
            </a:r>
            <a:r>
              <a:rPr dirty="0" sz="1800" spc="20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</a:t>
            </a:r>
            <a:r>
              <a:rPr dirty="0" sz="1800" spc="1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competitive</a:t>
            </a:r>
            <a:r>
              <a:rPr dirty="0" sz="1800" spc="19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economic </a:t>
            </a:r>
            <a:r>
              <a:rPr dirty="0" sz="1800" b="1">
                <a:latin typeface="Calibri"/>
                <a:cs typeface="Calibri"/>
              </a:rPr>
              <a:t>models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such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as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commodity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markets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auctions.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4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algn="just" marL="355600" marR="5715" indent="-342900">
              <a:lnSpc>
                <a:spcPct val="15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00" b="1">
                <a:latin typeface="Calibri"/>
                <a:cs typeface="Calibri"/>
              </a:rPr>
              <a:t>An</a:t>
            </a:r>
            <a:r>
              <a:rPr dirty="0" sz="1800" spc="1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SLA</a:t>
            </a:r>
            <a:r>
              <a:rPr dirty="0" sz="1800" spc="1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specifies</a:t>
            </a:r>
            <a:r>
              <a:rPr dirty="0" sz="1800" spc="1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1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details</a:t>
            </a:r>
            <a:r>
              <a:rPr dirty="0" sz="1800" spc="1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1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1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service</a:t>
            </a:r>
            <a:r>
              <a:rPr dirty="0" sz="1800" spc="1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1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be</a:t>
            </a:r>
            <a:r>
              <a:rPr dirty="0" sz="1800" spc="1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provided</a:t>
            </a:r>
            <a:r>
              <a:rPr dirty="0" sz="1800" spc="1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1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terms</a:t>
            </a:r>
            <a:r>
              <a:rPr dirty="0" sz="1800" spc="140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of </a:t>
            </a:r>
            <a:r>
              <a:rPr dirty="0" sz="1800" b="1">
                <a:latin typeface="Calibri"/>
                <a:cs typeface="Calibri"/>
              </a:rPr>
              <a:t>metrics</a:t>
            </a:r>
            <a:r>
              <a:rPr dirty="0" sz="1800" spc="2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agreed</a:t>
            </a:r>
            <a:r>
              <a:rPr dirty="0" sz="1800" spc="2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upon</a:t>
            </a:r>
            <a:r>
              <a:rPr dirty="0" sz="1800" spc="2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2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all</a:t>
            </a:r>
            <a:r>
              <a:rPr dirty="0" sz="1800" spc="2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parties,</a:t>
            </a:r>
            <a:r>
              <a:rPr dirty="0" sz="1800" spc="2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2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incentives</a:t>
            </a:r>
            <a:r>
              <a:rPr dirty="0" sz="1800" spc="2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2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penalties</a:t>
            </a:r>
            <a:r>
              <a:rPr dirty="0" sz="1800" spc="245" b="1">
                <a:latin typeface="Calibri"/>
                <a:cs typeface="Calibri"/>
              </a:rPr>
              <a:t> </a:t>
            </a:r>
            <a:r>
              <a:rPr dirty="0" sz="1800" spc="-25" b="1">
                <a:latin typeface="Calibri"/>
                <a:cs typeface="Calibri"/>
              </a:rPr>
              <a:t>for </a:t>
            </a:r>
            <a:r>
              <a:rPr dirty="0" sz="1800" b="1">
                <a:latin typeface="Calibri"/>
                <a:cs typeface="Calibri"/>
              </a:rPr>
              <a:t>meeting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violating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expectations,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respectively.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4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algn="just" marL="355600" marR="7620" indent="-342900">
              <a:lnSpc>
                <a:spcPct val="15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229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availability</a:t>
            </a:r>
            <a:r>
              <a:rPr dirty="0" sz="1800" spc="2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229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229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banking</a:t>
            </a:r>
            <a:r>
              <a:rPr dirty="0" sz="1800" spc="2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system</a:t>
            </a:r>
            <a:r>
              <a:rPr dirty="0" sz="1800" spc="2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within</a:t>
            </a:r>
            <a:r>
              <a:rPr dirty="0" sz="1800" spc="2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2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market</a:t>
            </a:r>
            <a:r>
              <a:rPr dirty="0" sz="1800" spc="2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ensures</a:t>
            </a:r>
            <a:r>
              <a:rPr dirty="0" sz="1800" spc="24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that </a:t>
            </a:r>
            <a:r>
              <a:rPr dirty="0" sz="1800" b="1">
                <a:latin typeface="Calibri"/>
                <a:cs typeface="Calibri"/>
              </a:rPr>
              <a:t>financial</a:t>
            </a:r>
            <a:r>
              <a:rPr dirty="0" sz="1800" spc="49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transactions</a:t>
            </a:r>
            <a:r>
              <a:rPr dirty="0" sz="1800" spc="4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pertaining</a:t>
            </a:r>
            <a:r>
              <a:rPr dirty="0" sz="1800" spc="45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49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SLAs</a:t>
            </a:r>
            <a:r>
              <a:rPr dirty="0" sz="1800" spc="484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between</a:t>
            </a:r>
            <a:r>
              <a:rPr dirty="0" sz="1800" spc="45" b="1">
                <a:latin typeface="Calibri"/>
                <a:cs typeface="Calibri"/>
              </a:rPr>
              <a:t>  </a:t>
            </a:r>
            <a:r>
              <a:rPr dirty="0" sz="1800" b="1">
                <a:latin typeface="Calibri"/>
                <a:cs typeface="Calibri"/>
              </a:rPr>
              <a:t>participants</a:t>
            </a:r>
            <a:r>
              <a:rPr dirty="0" sz="1800" spc="40" b="1">
                <a:latin typeface="Calibri"/>
                <a:cs typeface="Calibri"/>
              </a:rPr>
              <a:t>  </a:t>
            </a:r>
            <a:r>
              <a:rPr dirty="0" sz="1800" spc="-25" b="1">
                <a:latin typeface="Calibri"/>
                <a:cs typeface="Calibri"/>
              </a:rPr>
              <a:t>are </a:t>
            </a:r>
            <a:r>
              <a:rPr dirty="0" sz="1800" b="1">
                <a:latin typeface="Calibri"/>
                <a:cs typeface="Calibri"/>
              </a:rPr>
              <a:t>carried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out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secure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dependable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environment.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81962" y="615450"/>
            <a:ext cx="4866040" cy="6177015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57297" y="-71247"/>
            <a:ext cx="6678930" cy="45212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/>
              <a:t>CLOUD</a:t>
            </a:r>
            <a:r>
              <a:rPr dirty="0" sz="2800" spc="-100"/>
              <a:t> </a:t>
            </a:r>
            <a:r>
              <a:rPr dirty="0" sz="2800"/>
              <a:t>SECURITY</a:t>
            </a:r>
            <a:r>
              <a:rPr dirty="0" sz="2800" spc="-85"/>
              <a:t> </a:t>
            </a:r>
            <a:r>
              <a:rPr dirty="0" sz="2800"/>
              <a:t>AND</a:t>
            </a:r>
            <a:r>
              <a:rPr dirty="0" sz="2800" spc="-80"/>
              <a:t> </a:t>
            </a:r>
            <a:r>
              <a:rPr dirty="0" sz="2800"/>
              <a:t>TRUST</a:t>
            </a:r>
            <a:r>
              <a:rPr dirty="0" sz="2800" spc="-85"/>
              <a:t> </a:t>
            </a:r>
            <a:r>
              <a:rPr dirty="0" sz="2800" spc="-10"/>
              <a:t>MANAGEMENT</a:t>
            </a:r>
            <a:endParaRPr sz="2800"/>
          </a:p>
        </p:txBody>
      </p:sp>
      <p:sp>
        <p:nvSpPr>
          <p:cNvPr id="3" name="object 3" descr=""/>
          <p:cNvSpPr txBox="1"/>
          <p:nvPr/>
        </p:nvSpPr>
        <p:spPr>
          <a:xfrm>
            <a:off x="129031" y="406374"/>
            <a:ext cx="11985625" cy="1280160"/>
          </a:xfrm>
          <a:prstGeom prst="rect">
            <a:avLst/>
          </a:prstGeom>
        </p:spPr>
        <p:txBody>
          <a:bodyPr wrap="square" lIns="0" tIns="25400" rIns="0" bIns="0" rtlCol="0" vert="horz">
            <a:spAutoFit/>
          </a:bodyPr>
          <a:lstStyle/>
          <a:p>
            <a:pPr algn="just" marL="192405" marR="5080" indent="-180340">
              <a:lnSpc>
                <a:spcPct val="145800"/>
              </a:lnSpc>
              <a:spcBef>
                <a:spcPts val="200"/>
              </a:spcBef>
              <a:buFont typeface="Arial MT"/>
              <a:buChar char="•"/>
              <a:tabLst>
                <a:tab pos="193675" algn="l"/>
              </a:tabLst>
            </a:pPr>
            <a:r>
              <a:rPr dirty="0" sz="2000" b="1">
                <a:latin typeface="Calibri"/>
                <a:cs typeface="Calibri"/>
              </a:rPr>
              <a:t>Lacking</a:t>
            </a:r>
            <a:r>
              <a:rPr dirty="0" sz="2000" spc="4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trust</a:t>
            </a:r>
            <a:r>
              <a:rPr dirty="0" sz="2000" spc="4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between</a:t>
            </a:r>
            <a:r>
              <a:rPr dirty="0" sz="2000" spc="4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4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providers</a:t>
            </a:r>
            <a:r>
              <a:rPr dirty="0" sz="2000" spc="4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4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43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</a:t>
            </a:r>
            <a:r>
              <a:rPr dirty="0" sz="2000" spc="45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has</a:t>
            </a:r>
            <a:r>
              <a:rPr dirty="0" sz="2000" spc="4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hindered</a:t>
            </a:r>
            <a:r>
              <a:rPr dirty="0" sz="2000" spc="45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45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universal</a:t>
            </a:r>
            <a:r>
              <a:rPr dirty="0" sz="2000" spc="4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acceptance</a:t>
            </a:r>
            <a:r>
              <a:rPr dirty="0" sz="2000" spc="4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4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cloud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computing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25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2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2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on</a:t>
            </a:r>
            <a:r>
              <a:rPr dirty="0" sz="2000" spc="2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demand.</a:t>
            </a:r>
            <a:r>
              <a:rPr dirty="0" sz="2000" spc="26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(Because</a:t>
            </a:r>
            <a:r>
              <a:rPr dirty="0" sz="1400" spc="1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1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lack</a:t>
            </a:r>
            <a:r>
              <a:rPr dirty="0" sz="1400" spc="1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1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trust</a:t>
            </a:r>
            <a:r>
              <a:rPr dirty="0" sz="1400" spc="114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between</a:t>
            </a:r>
            <a:r>
              <a:rPr dirty="0" sz="1400" spc="114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providers</a:t>
            </a:r>
            <a:r>
              <a:rPr dirty="0" sz="1400" spc="1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114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users,</a:t>
            </a:r>
            <a:r>
              <a:rPr dirty="0" sz="1400" spc="1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not</a:t>
            </a:r>
            <a:r>
              <a:rPr dirty="0" sz="1400" spc="1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universally</a:t>
            </a:r>
            <a:r>
              <a:rPr dirty="0" sz="1400" spc="1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accepted</a:t>
            </a:r>
            <a:r>
              <a:rPr dirty="0" sz="1400" spc="1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by</a:t>
            </a:r>
            <a:r>
              <a:rPr dirty="0" sz="1400" spc="1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users</a:t>
            </a:r>
            <a:r>
              <a:rPr dirty="0" sz="1400" spc="1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in</a:t>
            </a:r>
            <a:r>
              <a:rPr dirty="0" sz="1400" spc="114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taking</a:t>
            </a:r>
            <a:r>
              <a:rPr dirty="0" sz="1400" spc="1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cloud 	services)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9031" y="2098395"/>
            <a:ext cx="9559290" cy="939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92405" marR="5080" indent="-18034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193675" algn="l"/>
                <a:tab pos="685800" algn="l"/>
                <a:tab pos="1290955" algn="l"/>
                <a:tab pos="1841500" algn="l"/>
                <a:tab pos="2571115" algn="l"/>
                <a:tab pos="3630929" algn="l"/>
                <a:tab pos="4284980" algn="l"/>
                <a:tab pos="4833620" algn="l"/>
                <a:tab pos="5819775" algn="l"/>
                <a:tab pos="6813550" algn="l"/>
                <a:tab pos="7474584" algn="l"/>
                <a:tab pos="8185150" algn="l"/>
              </a:tabLst>
            </a:pPr>
            <a:r>
              <a:rPr dirty="0" sz="2000" spc="-25" b="1">
                <a:latin typeface="Calibri"/>
                <a:cs typeface="Calibri"/>
              </a:rPr>
              <a:t>For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web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and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0" b="1">
                <a:latin typeface="Calibri"/>
                <a:cs typeface="Calibri"/>
              </a:rPr>
              <a:t>cloud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services,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trust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5" b="1">
                <a:latin typeface="Calibri"/>
                <a:cs typeface="Calibri"/>
              </a:rPr>
              <a:t>and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security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become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0" b="1">
                <a:latin typeface="Calibri"/>
                <a:cs typeface="Calibri"/>
              </a:rPr>
              <a:t>even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0" b="1">
                <a:latin typeface="Calibri"/>
                <a:cs typeface="Calibri"/>
              </a:rPr>
              <a:t>more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demanding,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applications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completely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providers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faced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strong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resistance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by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most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users.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9713214" y="2250186"/>
            <a:ext cx="240220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027430" algn="l"/>
                <a:tab pos="1931035" algn="l"/>
              </a:tabLst>
            </a:pPr>
            <a:r>
              <a:rPr dirty="0" sz="2000" spc="-10" b="1">
                <a:latin typeface="Calibri"/>
                <a:cs typeface="Calibri"/>
              </a:rPr>
              <a:t>because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10" b="1">
                <a:latin typeface="Calibri"/>
                <a:cs typeface="Calibri"/>
              </a:rPr>
              <a:t>leaving</a:t>
            </a:r>
            <a:r>
              <a:rPr dirty="0" sz="2000" b="1">
                <a:latin typeface="Calibri"/>
                <a:cs typeface="Calibri"/>
              </a:rPr>
              <a:t>	</a:t>
            </a:r>
            <a:r>
              <a:rPr dirty="0" sz="2000" spc="-20" b="1">
                <a:latin typeface="Calibri"/>
                <a:cs typeface="Calibri"/>
              </a:rPr>
              <a:t>user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29031" y="3470249"/>
            <a:ext cx="11986260" cy="2677795"/>
          </a:xfrm>
          <a:prstGeom prst="rect">
            <a:avLst/>
          </a:prstGeom>
        </p:spPr>
        <p:txBody>
          <a:bodyPr wrap="square" lIns="0" tIns="20955" rIns="0" bIns="0" rtlCol="0" vert="horz">
            <a:spAutoFit/>
          </a:bodyPr>
          <a:lstStyle/>
          <a:p>
            <a:pPr algn="just" marL="192405" marR="5080" indent="-180340">
              <a:lnSpc>
                <a:spcPct val="147100"/>
              </a:lnSpc>
              <a:spcBef>
                <a:spcPts val="165"/>
              </a:spcBef>
              <a:buFont typeface="Arial MT"/>
              <a:buChar char="•"/>
              <a:tabLst>
                <a:tab pos="193675" algn="l"/>
              </a:tabLst>
            </a:pP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43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platforms</a:t>
            </a:r>
            <a:r>
              <a:rPr dirty="0" sz="2000" spc="44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become</a:t>
            </a:r>
            <a:r>
              <a:rPr dirty="0" sz="2000" spc="4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worrisome</a:t>
            </a:r>
            <a:r>
              <a:rPr dirty="0" sz="2000" spc="4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to</a:t>
            </a:r>
            <a:r>
              <a:rPr dirty="0" sz="2000" spc="45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some</a:t>
            </a:r>
            <a:r>
              <a:rPr dirty="0" sz="2000" spc="4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</a:t>
            </a:r>
            <a:r>
              <a:rPr dirty="0" sz="2000" spc="4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for</a:t>
            </a:r>
            <a:r>
              <a:rPr dirty="0" sz="2000" spc="4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lack</a:t>
            </a:r>
            <a:r>
              <a:rPr dirty="0" sz="2000" spc="4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</a:t>
            </a:r>
            <a:r>
              <a:rPr dirty="0" sz="2000" spc="4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privacy</a:t>
            </a:r>
            <a:r>
              <a:rPr dirty="0" sz="2000" spc="4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protection,</a:t>
            </a:r>
            <a:r>
              <a:rPr dirty="0" sz="2000" spc="4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security</a:t>
            </a:r>
            <a:r>
              <a:rPr dirty="0" sz="2000" spc="4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assurance,</a:t>
            </a:r>
            <a:r>
              <a:rPr dirty="0" sz="2000" spc="450" b="1">
                <a:latin typeface="Calibri"/>
                <a:cs typeface="Calibri"/>
              </a:rPr>
              <a:t> </a:t>
            </a:r>
            <a:r>
              <a:rPr dirty="0" sz="2000" spc="-25" b="1">
                <a:latin typeface="Calibri"/>
                <a:cs typeface="Calibri"/>
              </a:rPr>
              <a:t>and </a:t>
            </a:r>
            <a:r>
              <a:rPr dirty="0" sz="2000" spc="-25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copyright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protection.</a:t>
            </a:r>
            <a:r>
              <a:rPr dirty="0" sz="2000" spc="220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(Some</a:t>
            </a:r>
            <a:r>
              <a:rPr dirty="0" sz="1600" spc="1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users</a:t>
            </a:r>
            <a:r>
              <a:rPr dirty="0" sz="1600" spc="15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worry</a:t>
            </a:r>
            <a:r>
              <a:rPr dirty="0" sz="1600" spc="1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1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taking</a:t>
            </a:r>
            <a:r>
              <a:rPr dirty="0" sz="1600" spc="1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cloud</a:t>
            </a:r>
            <a:r>
              <a:rPr dirty="0" sz="1600" spc="1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services</a:t>
            </a:r>
            <a:r>
              <a:rPr dirty="0" sz="1600" spc="1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because</a:t>
            </a:r>
            <a:r>
              <a:rPr dirty="0" sz="1600" spc="1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they</a:t>
            </a:r>
            <a:r>
              <a:rPr dirty="0" sz="1600" spc="1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worry</a:t>
            </a:r>
            <a:r>
              <a:rPr dirty="0" sz="1600" spc="1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on</a:t>
            </a:r>
            <a:r>
              <a:rPr dirty="0" sz="1600" spc="1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providers</a:t>
            </a:r>
            <a:r>
              <a:rPr dirty="0" sz="1600" spc="1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confidentially</a:t>
            </a:r>
            <a:r>
              <a:rPr dirty="0" sz="1600" spc="1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maintain</a:t>
            </a:r>
            <a:r>
              <a:rPr dirty="0" sz="1600" spc="1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their</a:t>
            </a:r>
            <a:r>
              <a:rPr dirty="0" sz="1600" spc="12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data, 	complete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security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given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their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with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authentication,</a:t>
            </a:r>
            <a:r>
              <a:rPr dirty="0" sz="1600" spc="-50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authorization,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accessing</a:t>
            </a:r>
            <a:r>
              <a:rPr dirty="0" sz="1600" spc="-3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method,</a:t>
            </a:r>
            <a:r>
              <a:rPr dirty="0" sz="1600" spc="-1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storing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data</a:t>
            </a:r>
            <a:r>
              <a:rPr dirty="0" sz="1600" spc="-4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so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that</a:t>
            </a:r>
            <a:r>
              <a:rPr dirty="0" sz="1600" spc="-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no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other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users</a:t>
            </a:r>
            <a:r>
              <a:rPr dirty="0" sz="1600" spc="-1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access</a:t>
            </a:r>
            <a:r>
              <a:rPr dirty="0" sz="1600" spc="-2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the</a:t>
            </a:r>
            <a:r>
              <a:rPr dirty="0" sz="1600" spc="-35">
                <a:latin typeface="Calibri"/>
                <a:cs typeface="Calibri"/>
              </a:rPr>
              <a:t> </a:t>
            </a:r>
            <a:r>
              <a:rPr dirty="0" sz="1600" spc="-10">
                <a:latin typeface="Calibri"/>
                <a:cs typeface="Calibri"/>
              </a:rPr>
              <a:t>data)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550"/>
              </a:spcBef>
              <a:buFont typeface="Arial MT"/>
              <a:buChar char="•"/>
            </a:pPr>
            <a:endParaRPr sz="1600">
              <a:latin typeface="Calibri"/>
              <a:cs typeface="Calibri"/>
            </a:endParaRPr>
          </a:p>
          <a:p>
            <a:pPr algn="just" marL="192405" marR="5080" indent="-180340">
              <a:lnSpc>
                <a:spcPct val="150000"/>
              </a:lnSpc>
              <a:buFont typeface="Arial MT"/>
              <a:buChar char="•"/>
              <a:tabLst>
                <a:tab pos="193675" algn="l"/>
              </a:tabLst>
            </a:pPr>
            <a:r>
              <a:rPr dirty="0" sz="2000" b="1">
                <a:latin typeface="Calibri"/>
                <a:cs typeface="Calibri"/>
              </a:rPr>
              <a:t>Trust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 social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problem,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not a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pure technical</a:t>
            </a:r>
            <a:r>
              <a:rPr dirty="0" sz="2000" spc="-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issue.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However,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social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problem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solved</a:t>
            </a:r>
            <a:r>
              <a:rPr dirty="0" sz="2000" spc="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technical 	approach.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52752" y="13461"/>
            <a:ext cx="928624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dirty="0" spc="-120"/>
              <a:t> </a:t>
            </a:r>
            <a:r>
              <a:rPr dirty="0"/>
              <a:t>Security</a:t>
            </a:r>
            <a:r>
              <a:rPr dirty="0" spc="-135"/>
              <a:t> </a:t>
            </a:r>
            <a:r>
              <a:rPr dirty="0" spc="-10"/>
              <a:t>Defense</a:t>
            </a:r>
            <a:r>
              <a:rPr dirty="0" spc="-125"/>
              <a:t> </a:t>
            </a:r>
            <a:r>
              <a:rPr dirty="0" spc="-10"/>
              <a:t>Strategies</a:t>
            </a:r>
            <a:r>
              <a:rPr dirty="0" spc="-75"/>
              <a:t> </a:t>
            </a:r>
            <a:r>
              <a:rPr dirty="0" sz="2400" spc="-10"/>
              <a:t>(protection</a:t>
            </a:r>
            <a:r>
              <a:rPr dirty="0" sz="2400" spc="-95"/>
              <a:t> </a:t>
            </a:r>
            <a:r>
              <a:rPr dirty="0" sz="2400" spc="-10"/>
              <a:t>strategies)</a:t>
            </a:r>
            <a:endParaRPr sz="2400"/>
          </a:p>
        </p:txBody>
      </p:sp>
      <p:sp>
        <p:nvSpPr>
          <p:cNvPr id="3" name="object 3" descr=""/>
          <p:cNvSpPr txBox="1"/>
          <p:nvPr/>
        </p:nvSpPr>
        <p:spPr>
          <a:xfrm>
            <a:off x="78739" y="527151"/>
            <a:ext cx="12036425" cy="5792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235585" marR="5080" indent="-22352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238125" algn="l"/>
              </a:tabLst>
            </a:pP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healthy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(well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defined)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ecosystem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desired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free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users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1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abuses,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violence,</a:t>
            </a:r>
            <a:r>
              <a:rPr dirty="0" sz="2000" spc="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cheating,</a:t>
            </a:r>
            <a:r>
              <a:rPr dirty="0" sz="2000" spc="1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hacking,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viruses, </a:t>
            </a:r>
            <a:r>
              <a:rPr dirty="0" sz="2000" spc="-10" b="1">
                <a:latin typeface="Calibri"/>
                <a:cs typeface="Calibri"/>
              </a:rPr>
              <a:t>	</a:t>
            </a:r>
            <a:r>
              <a:rPr dirty="0" sz="2000" b="1">
                <a:latin typeface="Calibri"/>
                <a:cs typeface="Calibri"/>
              </a:rPr>
              <a:t>rumors,</a:t>
            </a:r>
            <a:r>
              <a:rPr dirty="0" sz="2000" spc="4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pornography</a:t>
            </a:r>
            <a:r>
              <a:rPr dirty="0" sz="2000" spc="25" b="1">
                <a:latin typeface="Calibri"/>
                <a:cs typeface="Calibri"/>
              </a:rPr>
              <a:t>  </a:t>
            </a:r>
            <a:r>
              <a:rPr dirty="0" sz="1400">
                <a:latin typeface="Calibri"/>
                <a:cs typeface="Calibri"/>
              </a:rPr>
              <a:t>(spoiling)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25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spam</a:t>
            </a:r>
            <a:r>
              <a:rPr dirty="0" sz="2000" spc="49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(moving</a:t>
            </a:r>
            <a:r>
              <a:rPr dirty="0" sz="1400" spc="3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3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3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some</a:t>
            </a:r>
            <a:r>
              <a:rPr dirty="0" sz="1400" spc="34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undermined</a:t>
            </a:r>
            <a:r>
              <a:rPr dirty="0" sz="1400" spc="3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location)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25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25" b="1">
                <a:latin typeface="Calibri"/>
                <a:cs typeface="Calibri"/>
              </a:rPr>
              <a:t>  </a:t>
            </a:r>
            <a:r>
              <a:rPr dirty="0" sz="2000" b="1">
                <a:latin typeface="Calibri"/>
                <a:cs typeface="Calibri"/>
              </a:rPr>
              <a:t>privacy</a:t>
            </a:r>
            <a:r>
              <a:rPr dirty="0" sz="2000" spc="490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(confidentiality)</a:t>
            </a:r>
            <a:r>
              <a:rPr dirty="0" sz="1400" spc="34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49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copyright 	violations.</a:t>
            </a:r>
            <a:endParaRPr sz="2000">
              <a:latin typeface="Calibri"/>
              <a:cs typeface="Calibri"/>
            </a:endParaRPr>
          </a:p>
          <a:p>
            <a:pPr marL="238125" indent="-225425">
              <a:lnSpc>
                <a:spcPct val="100000"/>
              </a:lnSpc>
              <a:spcBef>
                <a:spcPts val="2195"/>
              </a:spcBef>
              <a:buFont typeface="Arial MT"/>
              <a:buChar char="•"/>
              <a:tabLst>
                <a:tab pos="23812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security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demands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at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three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service</a:t>
            </a:r>
            <a:r>
              <a:rPr dirty="0" sz="2000" spc="-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models,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IaaS,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PaaS,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SaaS</a:t>
            </a:r>
            <a:r>
              <a:rPr dirty="0" sz="1600" spc="-10" b="1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lvl="1" marL="926465" indent="-450850">
              <a:lnSpc>
                <a:spcPct val="100000"/>
              </a:lnSpc>
              <a:buAutoNum type="arabicPeriod"/>
              <a:tabLst>
                <a:tab pos="926465" algn="l"/>
              </a:tabLst>
            </a:pPr>
            <a:r>
              <a:rPr dirty="0" sz="2800" b="1">
                <a:solidFill>
                  <a:srgbClr val="00391A"/>
                </a:solidFill>
                <a:latin typeface="Calibri"/>
                <a:cs typeface="Calibri"/>
              </a:rPr>
              <a:t>Basic</a:t>
            </a:r>
            <a:r>
              <a:rPr dirty="0" sz="280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391A"/>
                </a:solidFill>
                <a:latin typeface="Calibri"/>
                <a:cs typeface="Calibri"/>
              </a:rPr>
              <a:t>Cloud</a:t>
            </a:r>
            <a:r>
              <a:rPr dirty="0" sz="280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391A"/>
                </a:solidFill>
                <a:latin typeface="Calibri"/>
                <a:cs typeface="Calibri"/>
              </a:rPr>
              <a:t>Security</a:t>
            </a:r>
            <a:endParaRPr sz="2800">
              <a:latin typeface="Calibri"/>
              <a:cs typeface="Calibri"/>
            </a:endParaRPr>
          </a:p>
          <a:p>
            <a:pPr lvl="1" marL="926465" indent="-450850">
              <a:lnSpc>
                <a:spcPct val="100000"/>
              </a:lnSpc>
              <a:spcBef>
                <a:spcPts val="2680"/>
              </a:spcBef>
              <a:buAutoNum type="arabicPeriod"/>
              <a:tabLst>
                <a:tab pos="926465" algn="l"/>
              </a:tabLst>
            </a:pPr>
            <a:r>
              <a:rPr dirty="0" sz="2800" b="1">
                <a:solidFill>
                  <a:srgbClr val="00391A"/>
                </a:solidFill>
                <a:latin typeface="Calibri"/>
                <a:cs typeface="Calibri"/>
              </a:rPr>
              <a:t>Security</a:t>
            </a:r>
            <a:r>
              <a:rPr dirty="0" sz="2800" spc="-9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391A"/>
                </a:solidFill>
                <a:latin typeface="Calibri"/>
                <a:cs typeface="Calibri"/>
              </a:rPr>
              <a:t>Challenges</a:t>
            </a:r>
            <a:r>
              <a:rPr dirty="0" sz="2800" spc="-6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391A"/>
                </a:solidFill>
                <a:latin typeface="Calibri"/>
                <a:cs typeface="Calibri"/>
              </a:rPr>
              <a:t>in</a:t>
            </a:r>
            <a:r>
              <a:rPr dirty="0" sz="2800" spc="-10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00391A"/>
                </a:solidFill>
                <a:latin typeface="Calibri"/>
                <a:cs typeface="Calibri"/>
              </a:rPr>
              <a:t>VMs</a:t>
            </a:r>
            <a:endParaRPr sz="2800">
              <a:latin typeface="Calibri"/>
              <a:cs typeface="Calibri"/>
            </a:endParaRPr>
          </a:p>
          <a:p>
            <a:pPr lvl="1" marL="926465" indent="-450850">
              <a:lnSpc>
                <a:spcPct val="100000"/>
              </a:lnSpc>
              <a:spcBef>
                <a:spcPts val="2675"/>
              </a:spcBef>
              <a:buAutoNum type="arabicPeriod"/>
              <a:tabLst>
                <a:tab pos="926465" algn="l"/>
              </a:tabLst>
            </a:pPr>
            <a:r>
              <a:rPr dirty="0" sz="2800" b="1">
                <a:solidFill>
                  <a:srgbClr val="00391A"/>
                </a:solidFill>
                <a:latin typeface="Calibri"/>
                <a:cs typeface="Calibri"/>
              </a:rPr>
              <a:t>Cloud</a:t>
            </a:r>
            <a:r>
              <a:rPr dirty="0" sz="2800" spc="-9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391A"/>
                </a:solidFill>
                <a:latin typeface="Calibri"/>
                <a:cs typeface="Calibri"/>
              </a:rPr>
              <a:t>Defense</a:t>
            </a:r>
            <a:r>
              <a:rPr dirty="0" sz="2800" spc="-7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391A"/>
                </a:solidFill>
                <a:latin typeface="Calibri"/>
                <a:cs typeface="Calibri"/>
              </a:rPr>
              <a:t>Methods</a:t>
            </a:r>
            <a:endParaRPr sz="2800">
              <a:latin typeface="Calibri"/>
              <a:cs typeface="Calibri"/>
            </a:endParaRPr>
          </a:p>
          <a:p>
            <a:pPr lvl="1" marL="926465" indent="-450850">
              <a:lnSpc>
                <a:spcPct val="100000"/>
              </a:lnSpc>
              <a:spcBef>
                <a:spcPts val="2690"/>
              </a:spcBef>
              <a:buAutoNum type="arabicPeriod"/>
              <a:tabLst>
                <a:tab pos="926465" algn="l"/>
              </a:tabLst>
            </a:pPr>
            <a:r>
              <a:rPr dirty="0" sz="2800" spc="-10" b="1">
                <a:solidFill>
                  <a:srgbClr val="00391A"/>
                </a:solidFill>
                <a:latin typeface="Calibri"/>
                <a:cs typeface="Calibri"/>
              </a:rPr>
              <a:t>Defense</a:t>
            </a:r>
            <a:r>
              <a:rPr dirty="0" sz="2800" spc="-7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391A"/>
                </a:solidFill>
                <a:latin typeface="Calibri"/>
                <a:cs typeface="Calibri"/>
              </a:rPr>
              <a:t>with</a:t>
            </a:r>
            <a:r>
              <a:rPr dirty="0" sz="2800" spc="-7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391A"/>
                </a:solidFill>
                <a:latin typeface="Calibri"/>
                <a:cs typeface="Calibri"/>
              </a:rPr>
              <a:t>Virtualization</a:t>
            </a:r>
            <a:endParaRPr sz="2800">
              <a:latin typeface="Calibri"/>
              <a:cs typeface="Calibri"/>
            </a:endParaRPr>
          </a:p>
          <a:p>
            <a:pPr lvl="1" marL="926465" indent="-450850">
              <a:lnSpc>
                <a:spcPct val="100000"/>
              </a:lnSpc>
              <a:spcBef>
                <a:spcPts val="2680"/>
              </a:spcBef>
              <a:buAutoNum type="arabicPeriod"/>
              <a:tabLst>
                <a:tab pos="926465" algn="l"/>
              </a:tabLst>
            </a:pPr>
            <a:r>
              <a:rPr dirty="0" sz="2800" b="1">
                <a:solidFill>
                  <a:srgbClr val="00391A"/>
                </a:solidFill>
                <a:latin typeface="Calibri"/>
                <a:cs typeface="Calibri"/>
              </a:rPr>
              <a:t>Privacy</a:t>
            </a:r>
            <a:r>
              <a:rPr dirty="0" sz="2800" spc="-10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391A"/>
                </a:solidFill>
                <a:latin typeface="Calibri"/>
                <a:cs typeface="Calibri"/>
              </a:rPr>
              <a:t>and</a:t>
            </a:r>
            <a:r>
              <a:rPr dirty="0" sz="2800" spc="-12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391A"/>
                </a:solidFill>
                <a:latin typeface="Calibri"/>
                <a:cs typeface="Calibri"/>
              </a:rPr>
              <a:t>Copyright</a:t>
            </a:r>
            <a:r>
              <a:rPr dirty="0" sz="2800" spc="-8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00391A"/>
                </a:solidFill>
                <a:latin typeface="Calibri"/>
                <a:cs typeface="Calibri"/>
              </a:rPr>
              <a:t>Protection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0042" rIns="0" bIns="0" rtlCol="0" vert="horz">
            <a:spAutoFit/>
          </a:bodyPr>
          <a:lstStyle/>
          <a:p>
            <a:pPr marL="2841625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dirty="0" spc="-110"/>
              <a:t> </a:t>
            </a:r>
            <a:r>
              <a:rPr dirty="0"/>
              <a:t>Security</a:t>
            </a:r>
            <a:r>
              <a:rPr dirty="0" spc="-120"/>
              <a:t> </a:t>
            </a:r>
            <a:r>
              <a:rPr dirty="0"/>
              <a:t>Defense</a:t>
            </a:r>
            <a:r>
              <a:rPr dirty="0" spc="-114"/>
              <a:t> </a:t>
            </a:r>
            <a:r>
              <a:rPr dirty="0" spc="-10"/>
              <a:t>Strategies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2475" y="715517"/>
            <a:ext cx="11863070" cy="53054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8935" indent="-356235">
              <a:lnSpc>
                <a:spcPct val="100000"/>
              </a:lnSpc>
              <a:spcBef>
                <a:spcPts val="95"/>
              </a:spcBef>
              <a:buAutoNum type="arabicPeriod"/>
              <a:tabLst>
                <a:tab pos="368935" algn="l"/>
              </a:tabLst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Basic</a:t>
            </a:r>
            <a:r>
              <a:rPr dirty="0" sz="28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8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Security</a:t>
            </a:r>
            <a:endParaRPr sz="28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23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Three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basic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security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enforcements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expected.</a:t>
            </a:r>
            <a:endParaRPr sz="20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45700"/>
              </a:lnSpc>
              <a:spcBef>
                <a:spcPts val="1305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First,</a:t>
            </a:r>
            <a:r>
              <a:rPr dirty="0" sz="2000" spc="18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facility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security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centers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demands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on-</a:t>
            </a:r>
            <a:r>
              <a:rPr dirty="0" sz="2000" b="1">
                <a:latin typeface="Calibri"/>
                <a:cs typeface="Calibri"/>
              </a:rPr>
              <a:t>site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security</a:t>
            </a:r>
            <a:r>
              <a:rPr dirty="0" sz="2000" spc="19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year</a:t>
            </a:r>
            <a:r>
              <a:rPr dirty="0" sz="2000" spc="18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round.</a:t>
            </a:r>
            <a:r>
              <a:rPr dirty="0" sz="2000" spc="17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Biometric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readers,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CCTV</a:t>
            </a:r>
            <a:r>
              <a:rPr dirty="0" sz="2000" spc="20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(close- </a:t>
            </a:r>
            <a:r>
              <a:rPr dirty="0" sz="2000" b="1">
                <a:latin typeface="Calibri"/>
                <a:cs typeface="Calibri"/>
              </a:rPr>
              <a:t>circuit</a:t>
            </a:r>
            <a:r>
              <a:rPr dirty="0" sz="2000" spc="1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TV),</a:t>
            </a:r>
            <a:r>
              <a:rPr dirty="0" sz="2000" spc="1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motion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detection,</a:t>
            </a:r>
            <a:r>
              <a:rPr dirty="0" sz="2000" spc="21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</a:t>
            </a:r>
            <a:r>
              <a:rPr dirty="0" sz="2000" spc="1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traps</a:t>
            </a:r>
            <a:r>
              <a:rPr dirty="0" sz="2000" spc="20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204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often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deployed.</a:t>
            </a:r>
            <a:r>
              <a:rPr dirty="0" sz="2000" spc="195" b="1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(on-</a:t>
            </a:r>
            <a:r>
              <a:rPr dirty="0" sz="1400">
                <a:latin typeface="Calibri"/>
                <a:cs typeface="Calibri"/>
              </a:rPr>
              <a:t>site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security</a:t>
            </a:r>
            <a:r>
              <a:rPr dirty="0" sz="1400" spc="4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at</a:t>
            </a:r>
            <a:r>
              <a:rPr dirty="0" sz="1400" spc="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data</a:t>
            </a:r>
            <a:r>
              <a:rPr dirty="0" sz="1400" spc="6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center</a:t>
            </a:r>
            <a:r>
              <a:rPr dirty="0" sz="1400">
                <a:latin typeface="Wingdings"/>
                <a:cs typeface="Wingdings"/>
              </a:rPr>
              <a:t></a:t>
            </a:r>
            <a:r>
              <a:rPr dirty="0" sz="1400" spc="25">
                <a:latin typeface="Times New Roman"/>
                <a:cs typeface="Times New Roman"/>
              </a:rPr>
              <a:t> </a:t>
            </a:r>
            <a:r>
              <a:rPr dirty="0" sz="1400">
                <a:latin typeface="Calibri"/>
                <a:cs typeface="Calibri"/>
              </a:rPr>
              <a:t>Biometric,</a:t>
            </a:r>
            <a:r>
              <a:rPr dirty="0" sz="1400" spc="7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CCTV,</a:t>
            </a:r>
            <a:r>
              <a:rPr dirty="0" sz="1400" spc="5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motion </a:t>
            </a:r>
            <a:r>
              <a:rPr dirty="0" sz="1400">
                <a:latin typeface="Calibri"/>
                <a:cs typeface="Calibri"/>
              </a:rPr>
              <a:t>detection,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man</a:t>
            </a:r>
            <a:r>
              <a:rPr dirty="0" sz="1400" spc="-7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traps)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05"/>
              </a:spcBef>
              <a:buClr>
                <a:srgbClr val="C00000"/>
              </a:buClr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"/>
              <a:tabLst>
                <a:tab pos="354965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Second,</a:t>
            </a:r>
            <a:r>
              <a:rPr dirty="0" sz="2000" spc="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security</a:t>
            </a:r>
            <a:r>
              <a:rPr dirty="0" sz="2000" spc="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demands</a:t>
            </a:r>
            <a:r>
              <a:rPr dirty="0" sz="2000" spc="30" b="1">
                <a:latin typeface="Calibri"/>
                <a:cs typeface="Calibri"/>
              </a:rPr>
              <a:t> </a:t>
            </a:r>
            <a:r>
              <a:rPr dirty="0" sz="2000" spc="-20">
                <a:latin typeface="Calibri"/>
                <a:cs typeface="Calibri"/>
              </a:rPr>
              <a:t>fault-</a:t>
            </a:r>
            <a:r>
              <a:rPr dirty="0" sz="2000">
                <a:latin typeface="Calibri"/>
                <a:cs typeface="Calibri"/>
              </a:rPr>
              <a:t>tolerant</a:t>
            </a:r>
            <a:r>
              <a:rPr dirty="0" sz="2000" spc="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external</a:t>
            </a:r>
            <a:r>
              <a:rPr dirty="0" sz="2000" spc="4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firewalls,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intrusion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detection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systems</a:t>
            </a:r>
            <a:r>
              <a:rPr dirty="0" sz="2000" spc="5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(IDSes),</a:t>
            </a:r>
            <a:r>
              <a:rPr dirty="0" sz="2000" spc="50">
                <a:latin typeface="Calibri"/>
                <a:cs typeface="Calibri"/>
              </a:rPr>
              <a:t> </a:t>
            </a:r>
            <a:r>
              <a:rPr dirty="0" sz="2000" spc="-25">
                <a:latin typeface="Calibri"/>
                <a:cs typeface="Calibri"/>
              </a:rPr>
              <a:t>and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spc="-10" b="1">
                <a:latin typeface="Calibri"/>
                <a:cs typeface="Calibri"/>
              </a:rPr>
              <a:t>third-</a:t>
            </a:r>
            <a:r>
              <a:rPr dirty="0" sz="2000" b="1">
                <a:latin typeface="Calibri"/>
                <a:cs typeface="Calibri"/>
              </a:rPr>
              <a:t>party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vulnerability</a:t>
            </a:r>
            <a:r>
              <a:rPr dirty="0" sz="200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assessment</a:t>
            </a:r>
            <a:r>
              <a:rPr dirty="0" sz="2000" spc="-1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  <a:p>
            <a:pPr algn="just" marL="355600" marR="5080" indent="-342900">
              <a:lnSpc>
                <a:spcPct val="148700"/>
              </a:lnSpc>
              <a:spcBef>
                <a:spcPts val="2430"/>
              </a:spcBef>
              <a:buFont typeface="Wingdings"/>
              <a:buChar char=""/>
              <a:tabLst>
                <a:tab pos="355600" algn="l"/>
              </a:tabLst>
            </a:pPr>
            <a:r>
              <a:rPr dirty="0" sz="2000" b="1">
                <a:solidFill>
                  <a:srgbClr val="C00000"/>
                </a:solidFill>
                <a:latin typeface="Calibri"/>
                <a:cs typeface="Calibri"/>
              </a:rPr>
              <a:t>Finally,</a:t>
            </a:r>
            <a:r>
              <a:rPr dirty="0" sz="2000" spc="434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</a:t>
            </a:r>
            <a:r>
              <a:rPr dirty="0" sz="2000" spc="4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security</a:t>
            </a:r>
            <a:r>
              <a:rPr dirty="0" sz="2000" spc="4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demands</a:t>
            </a:r>
            <a:r>
              <a:rPr dirty="0" sz="2000" spc="4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SSL</a:t>
            </a:r>
            <a:r>
              <a:rPr dirty="0" sz="2000" spc="4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459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4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decryption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45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strict</a:t>
            </a:r>
            <a:r>
              <a:rPr dirty="0" sz="2000" spc="4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password</a:t>
            </a:r>
            <a:r>
              <a:rPr dirty="0" sz="2000" spc="4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policies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4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45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system</a:t>
            </a:r>
            <a:r>
              <a:rPr dirty="0" sz="2000" spc="4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trust </a:t>
            </a:r>
            <a:r>
              <a:rPr dirty="0" sz="2000" b="1">
                <a:latin typeface="Calibri"/>
                <a:cs typeface="Calibri"/>
              </a:rPr>
              <a:t>certification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(providing</a:t>
            </a:r>
            <a:r>
              <a:rPr dirty="0" sz="1600" spc="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trust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certificate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in</a:t>
            </a:r>
            <a:r>
              <a:rPr dirty="0" sz="1600" spc="40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using</a:t>
            </a:r>
            <a:r>
              <a:rPr dirty="0" sz="1600" spc="35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platform)</a:t>
            </a:r>
            <a:r>
              <a:rPr dirty="0" sz="2000">
                <a:latin typeface="Calibri"/>
                <a:cs typeface="Calibri"/>
              </a:rPr>
              <a:t>.</a:t>
            </a:r>
            <a:r>
              <a:rPr dirty="0" sz="2000" spc="13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(SSL</a:t>
            </a:r>
            <a:r>
              <a:rPr dirty="0" sz="1800" spc="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(Secure</a:t>
            </a:r>
            <a:r>
              <a:rPr dirty="0" sz="1800" spc="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Sockets</a:t>
            </a:r>
            <a:r>
              <a:rPr dirty="0" sz="1800" spc="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Layer)</a:t>
            </a:r>
            <a:r>
              <a:rPr dirty="0" sz="1800" spc="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is</a:t>
            </a:r>
            <a:r>
              <a:rPr dirty="0" sz="1800" spc="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</a:t>
            </a:r>
            <a:r>
              <a:rPr dirty="0" sz="1800" spc="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security</a:t>
            </a:r>
            <a:r>
              <a:rPr dirty="0" sz="1800" spc="7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technology</a:t>
            </a:r>
            <a:r>
              <a:rPr dirty="0" sz="1800" spc="7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used</a:t>
            </a:r>
            <a:r>
              <a:rPr dirty="0" sz="1800" spc="80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to</a:t>
            </a:r>
            <a:r>
              <a:rPr dirty="0" sz="1800" spc="7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secure transactions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b/w</a:t>
            </a:r>
            <a:r>
              <a:rPr dirty="0" sz="1800" spc="-1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server</a:t>
            </a:r>
            <a:r>
              <a:rPr dirty="0" sz="1800" spc="-25">
                <a:latin typeface="Calibri"/>
                <a:cs typeface="Calibri"/>
              </a:rPr>
              <a:t> </a:t>
            </a:r>
            <a:r>
              <a:rPr dirty="0" sz="1800">
                <a:latin typeface="Calibri"/>
                <a:cs typeface="Calibri"/>
              </a:rPr>
              <a:t>and</a:t>
            </a:r>
            <a:r>
              <a:rPr dirty="0" sz="1800" spc="-20">
                <a:latin typeface="Calibri"/>
                <a:cs typeface="Calibri"/>
              </a:rPr>
              <a:t> </a:t>
            </a:r>
            <a:r>
              <a:rPr dirty="0" sz="1800" spc="-10">
                <a:latin typeface="Calibri"/>
                <a:cs typeface="Calibri"/>
              </a:rPr>
              <a:t>browser)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8173" y="-172466"/>
            <a:ext cx="63792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dirty="0" spc="-110"/>
              <a:t> </a:t>
            </a:r>
            <a:r>
              <a:rPr dirty="0"/>
              <a:t>Security</a:t>
            </a:r>
            <a:r>
              <a:rPr dirty="0" spc="-120"/>
              <a:t> </a:t>
            </a:r>
            <a:r>
              <a:rPr dirty="0"/>
              <a:t>Defense</a:t>
            </a:r>
            <a:r>
              <a:rPr dirty="0" spc="-114"/>
              <a:t> </a:t>
            </a:r>
            <a:r>
              <a:rPr dirty="0" spc="-10"/>
              <a:t>Strategies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2475" y="198767"/>
            <a:ext cx="11861800" cy="1482090"/>
          </a:xfrm>
          <a:prstGeom prst="rect">
            <a:avLst/>
          </a:prstGeom>
        </p:spPr>
        <p:txBody>
          <a:bodyPr wrap="square" lIns="0" tIns="1682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25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Basic</a:t>
            </a:r>
            <a:r>
              <a:rPr dirty="0" sz="28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8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Security</a:t>
            </a:r>
            <a:endParaRPr sz="2800">
              <a:latin typeface="Calibri"/>
              <a:cs typeface="Calibri"/>
            </a:endParaRPr>
          </a:p>
          <a:p>
            <a:pPr marL="355600" marR="5080" indent="-342900">
              <a:lnSpc>
                <a:spcPts val="3600"/>
              </a:lnSpc>
              <a:buFont typeface="Wingdings"/>
              <a:buChar char=""/>
              <a:tabLst>
                <a:tab pos="355600" algn="l"/>
              </a:tabLst>
            </a:pPr>
            <a:r>
              <a:rPr dirty="0" sz="2000">
                <a:latin typeface="Calibri"/>
                <a:cs typeface="Calibri"/>
              </a:rPr>
              <a:t>Below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figure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shows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the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mapping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of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cloud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models</a:t>
            </a:r>
            <a:r>
              <a:rPr dirty="0" sz="2000" spc="25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special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security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measures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deployed</a:t>
            </a:r>
            <a:r>
              <a:rPr dirty="0" sz="2000" spc="26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at</a:t>
            </a:r>
            <a:r>
              <a:rPr dirty="0" sz="2000" spc="2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various</a:t>
            </a:r>
            <a:r>
              <a:rPr dirty="0" sz="2000" spc="254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cloud </a:t>
            </a:r>
            <a:r>
              <a:rPr dirty="0" sz="2000">
                <a:latin typeface="Calibri"/>
                <a:cs typeface="Calibri"/>
              </a:rPr>
              <a:t>operating</a:t>
            </a:r>
            <a:r>
              <a:rPr dirty="0" sz="2000" spc="-85">
                <a:latin typeface="Calibri"/>
                <a:cs typeface="Calibri"/>
              </a:rPr>
              <a:t> </a:t>
            </a:r>
            <a:r>
              <a:rPr dirty="0" sz="2000" spc="-10">
                <a:latin typeface="Calibri"/>
                <a:cs typeface="Calibri"/>
              </a:rPr>
              <a:t>levels.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2224" y="1535953"/>
            <a:ext cx="8645545" cy="5125498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8173" y="-172466"/>
            <a:ext cx="63792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dirty="0" spc="-110"/>
              <a:t> </a:t>
            </a:r>
            <a:r>
              <a:rPr dirty="0"/>
              <a:t>Security</a:t>
            </a:r>
            <a:r>
              <a:rPr dirty="0" spc="-120"/>
              <a:t> </a:t>
            </a:r>
            <a:r>
              <a:rPr dirty="0"/>
              <a:t>Defense</a:t>
            </a:r>
            <a:r>
              <a:rPr dirty="0" spc="-114"/>
              <a:t> </a:t>
            </a:r>
            <a:r>
              <a:rPr dirty="0" spc="-10"/>
              <a:t>Strategies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2475" y="354837"/>
            <a:ext cx="298069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Basic</a:t>
            </a:r>
            <a:r>
              <a:rPr dirty="0" sz="2800" spc="-5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8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Security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252475" y="863853"/>
            <a:ext cx="11859895" cy="59721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Servers</a:t>
            </a:r>
            <a:r>
              <a:rPr dirty="0" sz="2000" spc="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physical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machines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VMs.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2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User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interfaces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applied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request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services.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8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security-</a:t>
            </a:r>
            <a:r>
              <a:rPr dirty="0" sz="2000" b="1">
                <a:latin typeface="Calibri"/>
                <a:cs typeface="Calibri"/>
              </a:rPr>
              <a:t>aware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architecture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demands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security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enforcement.</a:t>
            </a:r>
            <a:endParaRPr sz="200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spcBef>
                <a:spcPts val="6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spc="-20" b="1">
                <a:latin typeface="Calibri"/>
                <a:cs typeface="Calibri"/>
              </a:rPr>
              <a:t>Malware-</a:t>
            </a:r>
            <a:r>
              <a:rPr dirty="0" sz="2000" b="1">
                <a:latin typeface="Calibri"/>
                <a:cs typeface="Calibri"/>
              </a:rPr>
              <a:t>based</a:t>
            </a:r>
            <a:r>
              <a:rPr dirty="0" sz="2000" spc="1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attacks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such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network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worms,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viruses,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DDoS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attacks</a:t>
            </a:r>
            <a:r>
              <a:rPr dirty="0" sz="2000" spc="1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</a:t>
            </a:r>
            <a:r>
              <a:rPr dirty="0" sz="2000" spc="1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intruders</a:t>
            </a:r>
            <a:r>
              <a:rPr dirty="0" sz="2000" spc="17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unauthorized </a:t>
            </a:r>
            <a:r>
              <a:rPr dirty="0" sz="2000" b="1">
                <a:latin typeface="Calibri"/>
                <a:cs typeface="Calibri"/>
              </a:rPr>
              <a:t>access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critical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information.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(Virus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at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network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level,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virus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at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system</a:t>
            </a:r>
            <a:r>
              <a:rPr dirty="0" sz="1400" spc="-5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level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makes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intruders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unauthorized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access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to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critical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information)</a:t>
            </a:r>
            <a:endParaRPr sz="1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Thus,</a:t>
            </a:r>
            <a:r>
              <a:rPr dirty="0" sz="2000" spc="-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security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defenses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needed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protect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all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cluster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servers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centers.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8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Here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some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components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demand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special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security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protection:</a:t>
            </a:r>
            <a:endParaRPr sz="2000">
              <a:latin typeface="Calibri"/>
              <a:cs typeface="Calibri"/>
            </a:endParaRPr>
          </a:p>
          <a:p>
            <a:pPr lvl="1" marL="1495425" indent="-342900">
              <a:lnSpc>
                <a:spcPct val="100000"/>
              </a:lnSpc>
              <a:spcBef>
                <a:spcPts val="2180"/>
              </a:spcBef>
              <a:buFont typeface="Wingdings"/>
              <a:buChar char=""/>
              <a:tabLst>
                <a:tab pos="1495425" algn="l"/>
              </a:tabLst>
            </a:pP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Protection</a:t>
            </a:r>
            <a:r>
              <a:rPr dirty="0" sz="180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of</a:t>
            </a:r>
            <a:r>
              <a:rPr dirty="0" sz="1800" spc="-5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servers</a:t>
            </a:r>
            <a:r>
              <a:rPr dirty="0" sz="180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from</a:t>
            </a:r>
            <a:r>
              <a:rPr dirty="0" sz="1800" spc="-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malicious</a:t>
            </a:r>
            <a:r>
              <a:rPr dirty="0" sz="1800" spc="-6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software</a:t>
            </a:r>
            <a:r>
              <a:rPr dirty="0" sz="1800" spc="-3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attacks</a:t>
            </a:r>
            <a:r>
              <a:rPr dirty="0" sz="180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such</a:t>
            </a:r>
            <a:r>
              <a:rPr dirty="0" sz="1800" spc="-6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as</a:t>
            </a:r>
            <a:r>
              <a:rPr dirty="0" sz="1800" spc="-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worms,</a:t>
            </a:r>
            <a:r>
              <a:rPr dirty="0" sz="1800" spc="-5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viruses,</a:t>
            </a:r>
            <a:r>
              <a:rPr dirty="0" sz="1800" spc="-6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and</a:t>
            </a:r>
            <a:r>
              <a:rPr dirty="0" sz="1800" spc="-3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391A"/>
                </a:solidFill>
                <a:latin typeface="Calibri"/>
                <a:cs typeface="Calibri"/>
              </a:rPr>
              <a:t>malware.</a:t>
            </a:r>
            <a:endParaRPr sz="1800">
              <a:latin typeface="Calibri"/>
              <a:cs typeface="Calibri"/>
            </a:endParaRPr>
          </a:p>
          <a:p>
            <a:pPr lvl="1" marL="1495425" indent="-342900">
              <a:lnSpc>
                <a:spcPct val="100000"/>
              </a:lnSpc>
              <a:spcBef>
                <a:spcPts val="1805"/>
              </a:spcBef>
              <a:buFont typeface="Wingdings"/>
              <a:buChar char=""/>
              <a:tabLst>
                <a:tab pos="1495425" algn="l"/>
              </a:tabLst>
            </a:pP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Protection</a:t>
            </a:r>
            <a:r>
              <a:rPr dirty="0" sz="1800" spc="-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of</a:t>
            </a:r>
            <a:r>
              <a:rPr dirty="0" sz="1800" spc="-5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391A"/>
                </a:solidFill>
                <a:latin typeface="Calibri"/>
                <a:cs typeface="Calibri"/>
              </a:rPr>
              <a:t>hypervisors</a:t>
            </a:r>
            <a:r>
              <a:rPr dirty="0" sz="180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or</a:t>
            </a:r>
            <a:r>
              <a:rPr dirty="0" sz="1800" spc="-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VM</a:t>
            </a:r>
            <a:r>
              <a:rPr dirty="0" sz="1800" spc="-2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monitors</a:t>
            </a:r>
            <a:r>
              <a:rPr dirty="0" sz="1800" spc="-3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from</a:t>
            </a:r>
            <a:r>
              <a:rPr dirty="0" sz="180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391A"/>
                </a:solidFill>
                <a:latin typeface="Calibri"/>
                <a:cs typeface="Calibri"/>
              </a:rPr>
              <a:t>software-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based</a:t>
            </a:r>
            <a:r>
              <a:rPr dirty="0" sz="1800" spc="-5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attacks</a:t>
            </a:r>
            <a:r>
              <a:rPr dirty="0" sz="1800" spc="-3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and</a:t>
            </a:r>
            <a:r>
              <a:rPr dirty="0" sz="1800" spc="-3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391A"/>
                </a:solidFill>
                <a:latin typeface="Calibri"/>
                <a:cs typeface="Calibri"/>
              </a:rPr>
              <a:t>vulnerabilities.</a:t>
            </a:r>
            <a:endParaRPr sz="1800">
              <a:latin typeface="Calibri"/>
              <a:cs typeface="Calibri"/>
            </a:endParaRPr>
          </a:p>
          <a:p>
            <a:pPr lvl="1" marL="1495425" indent="-342900">
              <a:lnSpc>
                <a:spcPct val="100000"/>
              </a:lnSpc>
              <a:spcBef>
                <a:spcPts val="1800"/>
              </a:spcBef>
              <a:buFont typeface="Wingdings"/>
              <a:buChar char=""/>
              <a:tabLst>
                <a:tab pos="1495425" algn="l"/>
              </a:tabLst>
            </a:pP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Protection</a:t>
            </a:r>
            <a:r>
              <a:rPr dirty="0" sz="1800" spc="-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of</a:t>
            </a:r>
            <a:r>
              <a:rPr dirty="0" sz="1800" spc="-5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VMs</a:t>
            </a:r>
            <a:r>
              <a:rPr dirty="0" sz="1800" spc="-2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and</a:t>
            </a:r>
            <a:r>
              <a:rPr dirty="0" sz="1800" spc="-2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monitors</a:t>
            </a:r>
            <a:r>
              <a:rPr dirty="0" sz="1800" spc="-6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from</a:t>
            </a:r>
            <a:r>
              <a:rPr dirty="0" sz="1800" spc="-1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service</a:t>
            </a:r>
            <a:r>
              <a:rPr dirty="0" sz="180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disruption</a:t>
            </a:r>
            <a:r>
              <a:rPr dirty="0" sz="1800" spc="-6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and</a:t>
            </a:r>
            <a:r>
              <a:rPr dirty="0" sz="1800" spc="-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DoS</a:t>
            </a:r>
            <a:r>
              <a:rPr dirty="0" sz="1800" spc="-2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391A"/>
                </a:solidFill>
                <a:latin typeface="Calibri"/>
                <a:cs typeface="Calibri"/>
              </a:rPr>
              <a:t>attacks</a:t>
            </a:r>
            <a:endParaRPr sz="1800">
              <a:latin typeface="Calibri"/>
              <a:cs typeface="Calibri"/>
            </a:endParaRPr>
          </a:p>
          <a:p>
            <a:pPr lvl="1" marL="1495425" indent="-342900">
              <a:lnSpc>
                <a:spcPct val="100000"/>
              </a:lnSpc>
              <a:spcBef>
                <a:spcPts val="1800"/>
              </a:spcBef>
              <a:buFont typeface="Wingdings"/>
              <a:buChar char=""/>
              <a:tabLst>
                <a:tab pos="1495425" algn="l"/>
              </a:tabLst>
            </a:pP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Protection</a:t>
            </a:r>
            <a:r>
              <a:rPr dirty="0" sz="180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of</a:t>
            </a:r>
            <a:r>
              <a:rPr dirty="0" sz="1800" spc="-6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data</a:t>
            </a:r>
            <a:r>
              <a:rPr dirty="0" sz="180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and</a:t>
            </a:r>
            <a:r>
              <a:rPr dirty="0" sz="180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information</a:t>
            </a:r>
            <a:r>
              <a:rPr dirty="0" sz="1800" spc="-7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from</a:t>
            </a:r>
            <a:r>
              <a:rPr dirty="0" sz="1800" spc="-2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theft,</a:t>
            </a:r>
            <a:r>
              <a:rPr dirty="0" sz="180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corruption,</a:t>
            </a:r>
            <a:r>
              <a:rPr dirty="0" sz="1800" spc="-7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and</a:t>
            </a:r>
            <a:r>
              <a:rPr dirty="0" sz="180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natural</a:t>
            </a:r>
            <a:r>
              <a:rPr dirty="0" sz="1800" spc="-5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391A"/>
                </a:solidFill>
                <a:latin typeface="Calibri"/>
                <a:cs typeface="Calibri"/>
              </a:rPr>
              <a:t>disasters</a:t>
            </a:r>
            <a:endParaRPr sz="1800">
              <a:latin typeface="Calibri"/>
              <a:cs typeface="Calibri"/>
            </a:endParaRPr>
          </a:p>
          <a:p>
            <a:pPr lvl="1" marL="1495425" indent="-342900">
              <a:lnSpc>
                <a:spcPct val="100000"/>
              </a:lnSpc>
              <a:spcBef>
                <a:spcPts val="1800"/>
              </a:spcBef>
              <a:buFont typeface="Wingdings"/>
              <a:buChar char=""/>
              <a:tabLst>
                <a:tab pos="1495425" algn="l"/>
              </a:tabLst>
            </a:pP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Providing</a:t>
            </a:r>
            <a:r>
              <a:rPr dirty="0" sz="1800" spc="-6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authenticated</a:t>
            </a:r>
            <a:r>
              <a:rPr dirty="0" sz="1800" spc="-3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and</a:t>
            </a:r>
            <a:r>
              <a:rPr dirty="0" sz="1800" spc="-7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authorized</a:t>
            </a:r>
            <a:r>
              <a:rPr dirty="0" sz="180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access</a:t>
            </a:r>
            <a:r>
              <a:rPr dirty="0" sz="180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to</a:t>
            </a:r>
            <a:r>
              <a:rPr dirty="0" sz="1800" spc="-7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critical</a:t>
            </a:r>
            <a:r>
              <a:rPr dirty="0" sz="1800" spc="-5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data</a:t>
            </a:r>
            <a:r>
              <a:rPr dirty="0" sz="1800" spc="-5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b="1">
                <a:solidFill>
                  <a:srgbClr val="00391A"/>
                </a:solidFill>
                <a:latin typeface="Calibri"/>
                <a:cs typeface="Calibri"/>
              </a:rPr>
              <a:t>and</a:t>
            </a:r>
            <a:r>
              <a:rPr dirty="0" sz="180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00391A"/>
                </a:solidFill>
                <a:latin typeface="Calibri"/>
                <a:cs typeface="Calibri"/>
              </a:rPr>
              <a:t>services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8173" y="-172466"/>
            <a:ext cx="63792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dirty="0" spc="-110"/>
              <a:t> </a:t>
            </a:r>
            <a:r>
              <a:rPr dirty="0"/>
              <a:t>Security</a:t>
            </a:r>
            <a:r>
              <a:rPr dirty="0" spc="-120"/>
              <a:t> </a:t>
            </a:r>
            <a:r>
              <a:rPr dirty="0"/>
              <a:t>Defense</a:t>
            </a:r>
            <a:r>
              <a:rPr dirty="0" spc="-114"/>
              <a:t> </a:t>
            </a:r>
            <a:r>
              <a:rPr dirty="0" spc="-10"/>
              <a:t>Strategies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2475" y="192915"/>
            <a:ext cx="11863070" cy="6583045"/>
          </a:xfrm>
          <a:prstGeom prst="rect">
            <a:avLst/>
          </a:prstGeom>
        </p:spPr>
        <p:txBody>
          <a:bodyPr wrap="square" lIns="0" tIns="173990" rIns="0" bIns="0" rtlCol="0" vert="horz">
            <a:spAutoFit/>
          </a:bodyPr>
          <a:lstStyle/>
          <a:p>
            <a:pPr marL="368935" indent="-356235">
              <a:lnSpc>
                <a:spcPct val="100000"/>
              </a:lnSpc>
              <a:spcBef>
                <a:spcPts val="1370"/>
              </a:spcBef>
              <a:buAutoNum type="arabicPeriod" startAt="2"/>
              <a:tabLst>
                <a:tab pos="368935" algn="l"/>
              </a:tabLst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Security</a:t>
            </a:r>
            <a:r>
              <a:rPr dirty="0" sz="28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Challenges</a:t>
            </a:r>
            <a:r>
              <a:rPr dirty="0" sz="2800" spc="-7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in</a:t>
            </a:r>
            <a:r>
              <a:rPr dirty="0" sz="2800" spc="-9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25" b="1">
                <a:solidFill>
                  <a:srgbClr val="C00000"/>
                </a:solidFill>
                <a:latin typeface="Calibri"/>
                <a:cs typeface="Calibri"/>
              </a:rPr>
              <a:t>VMs</a:t>
            </a:r>
            <a:endParaRPr sz="28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 spc="-10" b="1">
                <a:latin typeface="Calibri"/>
                <a:cs typeface="Calibri"/>
              </a:rPr>
              <a:t>Traditional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network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attacks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include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buffer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overflows,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DoS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attacks,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spyware,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malware,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rootkits,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Trojan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horses,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worms.</a:t>
            </a:r>
            <a:endParaRPr sz="1800">
              <a:latin typeface="Calibri"/>
              <a:cs typeface="Calibri"/>
            </a:endParaRPr>
          </a:p>
          <a:p>
            <a:pPr algn="just" marL="355600" marR="6350">
              <a:lnSpc>
                <a:spcPct val="150000"/>
              </a:lnSpc>
              <a:spcBef>
                <a:spcPts val="200"/>
              </a:spcBef>
            </a:pPr>
            <a:r>
              <a:rPr dirty="0" sz="1000">
                <a:latin typeface="Calibri"/>
                <a:cs typeface="Calibri"/>
              </a:rPr>
              <a:t>(</a:t>
            </a:r>
            <a:r>
              <a:rPr dirty="0" sz="1000" b="1">
                <a:latin typeface="Calibri"/>
                <a:cs typeface="Calibri"/>
              </a:rPr>
              <a:t>Buffer</a:t>
            </a:r>
            <a:r>
              <a:rPr dirty="0" sz="1000" spc="-15" b="1">
                <a:latin typeface="Calibri"/>
                <a:cs typeface="Calibri"/>
              </a:rPr>
              <a:t> </a:t>
            </a:r>
            <a:r>
              <a:rPr dirty="0" sz="1000" b="1">
                <a:latin typeface="Calibri"/>
                <a:cs typeface="Calibri"/>
              </a:rPr>
              <a:t>overflow</a:t>
            </a:r>
            <a:r>
              <a:rPr dirty="0" sz="1000" spc="-5" b="1">
                <a:latin typeface="Calibri"/>
                <a:cs typeface="Calibri"/>
              </a:rPr>
              <a:t> </a:t>
            </a:r>
            <a:r>
              <a:rPr dirty="0" sz="1000" b="1">
                <a:latin typeface="Calibri"/>
                <a:cs typeface="Calibri"/>
              </a:rPr>
              <a:t>attack</a:t>
            </a:r>
            <a:r>
              <a:rPr dirty="0" sz="1000">
                <a:latin typeface="Wingdings"/>
                <a:cs typeface="Wingdings"/>
              </a:rPr>
              <a:t></a:t>
            </a:r>
            <a:r>
              <a:rPr dirty="0" sz="1000" spc="-50">
                <a:latin typeface="Times New Roman"/>
                <a:cs typeface="Times New Roman"/>
              </a:rPr>
              <a:t> </a:t>
            </a:r>
            <a:r>
              <a:rPr dirty="0" sz="1000">
                <a:latin typeface="Calibri"/>
                <a:cs typeface="Calibri"/>
              </a:rPr>
              <a:t>attackers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feed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buffer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with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some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input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that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overwrites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some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part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executable </a:t>
            </a:r>
            <a:r>
              <a:rPr dirty="0" sz="1000">
                <a:latin typeface="Calibri"/>
                <a:cs typeface="Calibri"/>
              </a:rPr>
              <a:t>code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with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attackers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code.</a:t>
            </a:r>
            <a:r>
              <a:rPr dirty="0" sz="1000" spc="204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 spc="-10" b="1">
                <a:latin typeface="Calibri"/>
                <a:cs typeface="Calibri"/>
              </a:rPr>
              <a:t>Denial-of-</a:t>
            </a:r>
            <a:r>
              <a:rPr dirty="0" sz="1000" b="1">
                <a:latin typeface="Calibri"/>
                <a:cs typeface="Calibri"/>
              </a:rPr>
              <a:t>Service</a:t>
            </a:r>
            <a:r>
              <a:rPr dirty="0" sz="1000" spc="-5" b="1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(DoS)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attack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Wingdings"/>
                <a:cs typeface="Wingdings"/>
              </a:rPr>
              <a:t></a:t>
            </a:r>
            <a:r>
              <a:rPr dirty="0" sz="1000" spc="-50">
                <a:latin typeface="Times New Roman"/>
                <a:cs typeface="Times New Roman"/>
              </a:rPr>
              <a:t> </a:t>
            </a:r>
            <a:r>
              <a:rPr dirty="0" sz="1000">
                <a:latin typeface="Calibri"/>
                <a:cs typeface="Calibri"/>
              </a:rPr>
              <a:t>is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attack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where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intruders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makes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shut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down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50">
                <a:latin typeface="Calibri"/>
                <a:cs typeface="Calibri"/>
              </a:rPr>
              <a:t>a</a:t>
            </a:r>
            <a:r>
              <a:rPr dirty="0" sz="1000">
                <a:latin typeface="Calibri"/>
                <a:cs typeface="Calibri"/>
              </a:rPr>
              <a:t> machine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or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network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and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stop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providing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service.</a:t>
            </a:r>
            <a:r>
              <a:rPr dirty="0" sz="1000" spc="310">
                <a:latin typeface="Calibri"/>
                <a:cs typeface="Calibri"/>
              </a:rPr>
              <a:t> </a:t>
            </a:r>
            <a:r>
              <a:rPr dirty="0" sz="1000" b="1">
                <a:latin typeface="Calibri"/>
                <a:cs typeface="Calibri"/>
              </a:rPr>
              <a:t>Spyware</a:t>
            </a:r>
            <a:r>
              <a:rPr dirty="0" sz="1000">
                <a:latin typeface="Wingdings"/>
                <a:cs typeface="Wingdings"/>
              </a:rPr>
              <a:t></a:t>
            </a:r>
            <a:r>
              <a:rPr dirty="0" sz="1000" spc="15">
                <a:latin typeface="Times New Roman"/>
                <a:cs typeface="Times New Roman"/>
              </a:rPr>
              <a:t> </a:t>
            </a:r>
            <a:r>
              <a:rPr dirty="0" sz="1000">
                <a:latin typeface="Calibri"/>
                <a:cs typeface="Calibri"/>
              </a:rPr>
              <a:t>software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that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enables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user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obtain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secret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information</a:t>
            </a:r>
            <a:r>
              <a:rPr dirty="0" sz="1000" spc="5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about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another's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computer</a:t>
            </a:r>
            <a:r>
              <a:rPr dirty="0" sz="1000" spc="6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activities</a:t>
            </a:r>
            <a:r>
              <a:rPr dirty="0" sz="1000" spc="3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by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transmitting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data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covertly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from</a:t>
            </a:r>
            <a:r>
              <a:rPr dirty="0" sz="1000" spc="4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their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hard</a:t>
            </a:r>
            <a:r>
              <a:rPr dirty="0" sz="1000" spc="5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drive.</a:t>
            </a:r>
            <a:r>
              <a:rPr dirty="0" sz="1000" spc="45">
                <a:latin typeface="Calibri"/>
                <a:cs typeface="Calibri"/>
              </a:rPr>
              <a:t> </a:t>
            </a:r>
            <a:r>
              <a:rPr dirty="0" sz="1000" spc="-10" b="1">
                <a:latin typeface="Calibri"/>
                <a:cs typeface="Calibri"/>
              </a:rPr>
              <a:t>Malware</a:t>
            </a:r>
            <a:r>
              <a:rPr dirty="0" sz="1000" spc="-10">
                <a:latin typeface="Wingdings"/>
                <a:cs typeface="Wingdings"/>
              </a:rPr>
              <a:t></a:t>
            </a:r>
            <a:r>
              <a:rPr dirty="0" sz="1000" spc="-10">
                <a:latin typeface="Times New Roman"/>
                <a:cs typeface="Times New Roman"/>
              </a:rPr>
              <a:t> </a:t>
            </a:r>
            <a:r>
              <a:rPr dirty="0" sz="1000">
                <a:latin typeface="Calibri"/>
                <a:cs typeface="Calibri"/>
              </a:rPr>
              <a:t>software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that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damage,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or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gain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unauthorized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access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components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of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computer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system.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 b="1">
                <a:latin typeface="Calibri"/>
                <a:cs typeface="Calibri"/>
              </a:rPr>
              <a:t>Rootkit</a:t>
            </a:r>
            <a:r>
              <a:rPr dirty="0" sz="1000" spc="-15" b="1">
                <a:latin typeface="Calibri"/>
                <a:cs typeface="Calibri"/>
              </a:rPr>
              <a:t> </a:t>
            </a:r>
            <a:r>
              <a:rPr dirty="0" sz="1000">
                <a:latin typeface="Wingdings"/>
                <a:cs typeface="Wingdings"/>
              </a:rPr>
              <a:t></a:t>
            </a:r>
            <a:r>
              <a:rPr dirty="0" sz="1000" spc="-45">
                <a:latin typeface="Times New Roman"/>
                <a:cs typeface="Times New Roman"/>
              </a:rPr>
              <a:t> </a:t>
            </a:r>
            <a:r>
              <a:rPr dirty="0" sz="1000">
                <a:latin typeface="Calibri"/>
                <a:cs typeface="Calibri"/>
              </a:rPr>
              <a:t>software,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once</a:t>
            </a:r>
            <a:r>
              <a:rPr dirty="0" sz="1000" spc="-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installed,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it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is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easy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mask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its</a:t>
            </a:r>
            <a:r>
              <a:rPr dirty="0" sz="1000" spc="-2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presence and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makes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 spc="-10">
                <a:latin typeface="Calibri"/>
                <a:cs typeface="Calibri"/>
              </a:rPr>
              <a:t>unauthorized</a:t>
            </a:r>
            <a:r>
              <a:rPr dirty="0" sz="1000" spc="-3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privileged</a:t>
            </a:r>
            <a:r>
              <a:rPr dirty="0" sz="1000" spc="10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access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to</a:t>
            </a:r>
            <a:r>
              <a:rPr dirty="0" sz="1000" spc="-1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a</a:t>
            </a:r>
            <a:r>
              <a:rPr dirty="0" sz="1000" spc="-25">
                <a:latin typeface="Calibri"/>
                <a:cs typeface="Calibri"/>
              </a:rPr>
              <a:t> </a:t>
            </a:r>
            <a:r>
              <a:rPr dirty="0" sz="1000">
                <a:latin typeface="Calibri"/>
                <a:cs typeface="Calibri"/>
              </a:rPr>
              <a:t>computer</a:t>
            </a:r>
            <a:r>
              <a:rPr dirty="0" sz="1000" spc="-5">
                <a:latin typeface="Calibri"/>
                <a:cs typeface="Calibri"/>
              </a:rPr>
              <a:t> </a:t>
            </a:r>
            <a:r>
              <a:rPr dirty="0" sz="1000" spc="-50">
                <a:latin typeface="Calibri"/>
                <a:cs typeface="Calibri"/>
              </a:rPr>
              <a:t>)</a:t>
            </a:r>
            <a:endParaRPr sz="10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10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environment,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newer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attacks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may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result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from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hypervisor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malware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or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VM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rootkits.</a:t>
            </a:r>
            <a:endParaRPr sz="18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207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1800" b="1">
                <a:latin typeface="Calibri"/>
                <a:cs typeface="Calibri"/>
              </a:rPr>
              <a:t>Another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type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attack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man-in-</a:t>
            </a:r>
            <a:r>
              <a:rPr dirty="0" sz="1800" spc="-10" b="1">
                <a:latin typeface="Calibri"/>
                <a:cs typeface="Calibri"/>
              </a:rPr>
              <a:t>the-</a:t>
            </a:r>
            <a:r>
              <a:rPr dirty="0" sz="1800" b="1">
                <a:latin typeface="Calibri"/>
                <a:cs typeface="Calibri"/>
              </a:rPr>
              <a:t>middle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attack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for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VM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migrations.</a:t>
            </a:r>
            <a:endParaRPr sz="1800">
              <a:latin typeface="Calibri"/>
              <a:cs typeface="Calibri"/>
            </a:endParaRPr>
          </a:p>
          <a:p>
            <a:pPr algn="just" lvl="1" marL="355600" marR="5715" indent="-342900">
              <a:lnSpc>
                <a:spcPct val="144300"/>
              </a:lnSpc>
              <a:spcBef>
                <a:spcPts val="11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1800">
                <a:latin typeface="Calibri"/>
                <a:cs typeface="Calibri"/>
              </a:rPr>
              <a:t>In general,</a:t>
            </a:r>
            <a:r>
              <a:rPr dirty="0" sz="1800" spc="-5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passive</a:t>
            </a:r>
            <a:r>
              <a:rPr dirty="0" sz="1800" spc="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attacks steal sensitive</a:t>
            </a:r>
            <a:r>
              <a:rPr dirty="0" sz="1800" spc="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data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or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passwords.</a:t>
            </a:r>
            <a:r>
              <a:rPr dirty="0" sz="1800" spc="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Active</a:t>
            </a:r>
            <a:r>
              <a:rPr dirty="0" sz="1800" spc="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attacks may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manipulate</a:t>
            </a:r>
            <a:r>
              <a:rPr dirty="0" sz="1800" spc="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kernel data structures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which </a:t>
            </a:r>
            <a:r>
              <a:rPr dirty="0" sz="1800" b="1">
                <a:latin typeface="Calibri"/>
                <a:cs typeface="Calibri"/>
              </a:rPr>
              <a:t>will</a:t>
            </a:r>
            <a:r>
              <a:rPr dirty="0" sz="1800" spc="1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cause</a:t>
            </a:r>
            <a:r>
              <a:rPr dirty="0" sz="1800" spc="1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major</a:t>
            </a:r>
            <a:r>
              <a:rPr dirty="0" sz="1800" spc="1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damage</a:t>
            </a:r>
            <a:r>
              <a:rPr dirty="0" sz="1800" spc="1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1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1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servers.</a:t>
            </a:r>
            <a:r>
              <a:rPr dirty="0" sz="1800" spc="17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(kernel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structures</a:t>
            </a:r>
            <a:r>
              <a:rPr dirty="0" sz="1100">
                <a:latin typeface="Wingdings"/>
                <a:cs typeface="Wingdings"/>
              </a:rPr>
              <a:t></a:t>
            </a:r>
            <a:r>
              <a:rPr dirty="0" sz="1100" spc="-30">
                <a:latin typeface="Times New Roman"/>
                <a:cs typeface="Times New Roman"/>
              </a:rPr>
              <a:t> </a:t>
            </a:r>
            <a:r>
              <a:rPr dirty="0" sz="1100">
                <a:latin typeface="Calibri"/>
                <a:cs typeface="Calibri"/>
              </a:rPr>
              <a:t>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data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structure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created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by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kernel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to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store the process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information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thread</a:t>
            </a:r>
            <a:r>
              <a:rPr dirty="0" sz="1100" spc="-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information like</a:t>
            </a:r>
            <a:r>
              <a:rPr dirty="0" sz="1100" spc="-10">
                <a:latin typeface="Calibri"/>
                <a:cs typeface="Calibri"/>
              </a:rPr>
              <a:t> current </a:t>
            </a:r>
            <a:r>
              <a:rPr dirty="0" sz="1100">
                <a:latin typeface="Calibri"/>
                <a:cs typeface="Calibri"/>
              </a:rPr>
              <a:t>status</a:t>
            </a:r>
            <a:r>
              <a:rPr dirty="0" sz="1100" spc="-4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of</a:t>
            </a:r>
            <a:r>
              <a:rPr dirty="0" sz="1100" spc="-1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process</a:t>
            </a:r>
            <a:r>
              <a:rPr dirty="0" sz="1100" spc="-3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and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threads)</a:t>
            </a:r>
            <a:endParaRPr sz="11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197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Program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shepherding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1600">
                <a:latin typeface="Calibri"/>
                <a:cs typeface="Calibri"/>
              </a:rPr>
              <a:t>(guiding)</a:t>
            </a:r>
            <a:r>
              <a:rPr dirty="0" sz="1600" spc="-6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applied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control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verify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code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execution.</a:t>
            </a:r>
            <a:endParaRPr sz="2000">
              <a:latin typeface="Calibri"/>
              <a:cs typeface="Calibri"/>
            </a:endParaRPr>
          </a:p>
          <a:p>
            <a:pPr algn="just" lvl="1" marL="352425" marR="8890" indent="-339725">
              <a:lnSpc>
                <a:spcPct val="100000"/>
              </a:lnSpc>
              <a:spcBef>
                <a:spcPts val="217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Other</a:t>
            </a:r>
            <a:r>
              <a:rPr dirty="0" sz="2000" spc="3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defense</a:t>
            </a:r>
            <a:r>
              <a:rPr dirty="0" sz="2000" spc="3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technologies</a:t>
            </a:r>
            <a:r>
              <a:rPr dirty="0" sz="2000" spc="40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include</a:t>
            </a:r>
            <a:r>
              <a:rPr dirty="0" sz="2000" spc="39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using</a:t>
            </a:r>
            <a:r>
              <a:rPr dirty="0" sz="2000" spc="3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3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RIO</a:t>
            </a:r>
            <a:r>
              <a:rPr dirty="0" sz="2000" spc="3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dynamic</a:t>
            </a:r>
            <a:r>
              <a:rPr dirty="0" sz="2000" spc="3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optimization</a:t>
            </a:r>
            <a:r>
              <a:rPr dirty="0" sz="2000" spc="3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infrastructure</a:t>
            </a:r>
            <a:r>
              <a:rPr dirty="0" sz="2000" spc="400" b="1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(Runtime</a:t>
            </a:r>
            <a:r>
              <a:rPr dirty="0" sz="1200" spc="21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Introspection</a:t>
            </a:r>
            <a:r>
              <a:rPr dirty="0" sz="1200" spc="210">
                <a:latin typeface="Calibri"/>
                <a:cs typeface="Calibri"/>
              </a:rPr>
              <a:t> </a:t>
            </a:r>
            <a:r>
              <a:rPr dirty="0" sz="1200" spc="-10">
                <a:latin typeface="Calibri"/>
                <a:cs typeface="Calibri"/>
              </a:rPr>
              <a:t>(Self 	examination)</a:t>
            </a:r>
            <a:r>
              <a:rPr dirty="0" sz="1200" spc="-35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and</a:t>
            </a:r>
            <a:r>
              <a:rPr dirty="0" sz="1200" spc="-30">
                <a:latin typeface="Calibri"/>
                <a:cs typeface="Calibri"/>
              </a:rPr>
              <a:t> </a:t>
            </a:r>
            <a:r>
              <a:rPr dirty="0" sz="1200">
                <a:latin typeface="Calibri"/>
                <a:cs typeface="Calibri"/>
              </a:rPr>
              <a:t>Optimization)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-6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-40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VMware’s </a:t>
            </a:r>
            <a:r>
              <a:rPr dirty="0" sz="2000" b="1">
                <a:latin typeface="Calibri"/>
                <a:cs typeface="Calibri"/>
              </a:rPr>
              <a:t>vSafe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0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vShield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tools</a:t>
            </a:r>
            <a:r>
              <a:rPr dirty="0" sz="2000">
                <a:latin typeface="Calibri"/>
                <a:cs typeface="Calibri"/>
              </a:rPr>
              <a:t>,</a:t>
            </a:r>
            <a:r>
              <a:rPr dirty="0" sz="2000" spc="-5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-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Intel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vPro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technology.</a:t>
            </a:r>
            <a:endParaRPr sz="20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183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>
                <a:latin typeface="Calibri"/>
                <a:cs typeface="Calibri"/>
              </a:rPr>
              <a:t>Others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apply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hardened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OS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environment</a:t>
            </a:r>
            <a:r>
              <a:rPr dirty="0" sz="2000" spc="320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or</a:t>
            </a:r>
            <a:r>
              <a:rPr dirty="0" sz="2000" spc="330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use</a:t>
            </a:r>
            <a:r>
              <a:rPr dirty="0" sz="2000" spc="33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isolated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execution</a:t>
            </a:r>
            <a:r>
              <a:rPr dirty="0" sz="2000" spc="325" b="1">
                <a:latin typeface="Calibri"/>
                <a:cs typeface="Calibri"/>
              </a:rPr>
              <a:t> </a:t>
            </a:r>
            <a:r>
              <a:rPr dirty="0" sz="2000">
                <a:latin typeface="Calibri"/>
                <a:cs typeface="Calibri"/>
              </a:rPr>
              <a:t>and</a:t>
            </a:r>
            <a:r>
              <a:rPr dirty="0" sz="2000" spc="325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sandboxing.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dirty="0" sz="1600" spc="6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F2023"/>
                </a:solidFill>
                <a:latin typeface="Arial MT"/>
                <a:cs typeface="Arial MT"/>
              </a:rPr>
              <a:t>sandbox</a:t>
            </a:r>
            <a:r>
              <a:rPr dirty="0" sz="1600" spc="15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600">
                <a:solidFill>
                  <a:srgbClr val="1F2023"/>
                </a:solidFill>
                <a:latin typeface="Arial MT"/>
                <a:cs typeface="Arial MT"/>
              </a:rPr>
              <a:t>is</a:t>
            </a:r>
            <a:r>
              <a:rPr dirty="0" sz="1600" spc="15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600" b="1">
                <a:solidFill>
                  <a:srgbClr val="1F2023"/>
                </a:solidFill>
                <a:latin typeface="Arial"/>
                <a:cs typeface="Arial"/>
              </a:rPr>
              <a:t>a</a:t>
            </a:r>
            <a:r>
              <a:rPr dirty="0" sz="1600" spc="15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600" spc="-10" b="1">
                <a:solidFill>
                  <a:srgbClr val="1F2023"/>
                </a:solidFill>
                <a:latin typeface="Arial"/>
                <a:cs typeface="Arial"/>
              </a:rPr>
              <a:t>tightly</a:t>
            </a:r>
            <a:endParaRPr sz="1600">
              <a:latin typeface="Arial"/>
              <a:cs typeface="Arial"/>
            </a:endParaRPr>
          </a:p>
          <a:p>
            <a:pPr algn="just" marL="355600" marR="8255">
              <a:lnSpc>
                <a:spcPct val="138900"/>
              </a:lnSpc>
              <a:spcBef>
                <a:spcPts val="310"/>
              </a:spcBef>
            </a:pPr>
            <a:r>
              <a:rPr dirty="0" sz="1600" b="1">
                <a:solidFill>
                  <a:srgbClr val="1F2023"/>
                </a:solidFill>
                <a:latin typeface="Arial"/>
                <a:cs typeface="Arial"/>
              </a:rPr>
              <a:t>controlled</a:t>
            </a:r>
            <a:r>
              <a:rPr dirty="0" sz="1600" spc="215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F2023"/>
                </a:solidFill>
                <a:latin typeface="Arial"/>
                <a:cs typeface="Arial"/>
              </a:rPr>
              <a:t>environment</a:t>
            </a:r>
            <a:r>
              <a:rPr dirty="0" sz="1600" spc="20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F2023"/>
                </a:solidFill>
                <a:latin typeface="Arial"/>
                <a:cs typeface="Arial"/>
              </a:rPr>
              <a:t>where</a:t>
            </a:r>
            <a:r>
              <a:rPr dirty="0" sz="1600" spc="21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F2023"/>
                </a:solidFill>
                <a:latin typeface="Arial"/>
                <a:cs typeface="Arial"/>
              </a:rPr>
              <a:t>programs</a:t>
            </a:r>
            <a:r>
              <a:rPr dirty="0" sz="1600" spc="204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F2023"/>
                </a:solidFill>
                <a:latin typeface="Arial"/>
                <a:cs typeface="Arial"/>
              </a:rPr>
              <a:t>can</a:t>
            </a:r>
            <a:r>
              <a:rPr dirty="0" sz="1600" spc="21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F2023"/>
                </a:solidFill>
                <a:latin typeface="Arial"/>
                <a:cs typeface="Arial"/>
              </a:rPr>
              <a:t>be</a:t>
            </a:r>
            <a:r>
              <a:rPr dirty="0" sz="1600" spc="200" b="1">
                <a:solidFill>
                  <a:srgbClr val="1F2023"/>
                </a:solidFill>
                <a:latin typeface="Arial"/>
                <a:cs typeface="Arial"/>
              </a:rPr>
              <a:t> </a:t>
            </a:r>
            <a:r>
              <a:rPr dirty="0" sz="1600" b="1">
                <a:solidFill>
                  <a:srgbClr val="1F2023"/>
                </a:solidFill>
                <a:latin typeface="Arial"/>
                <a:cs typeface="Arial"/>
              </a:rPr>
              <a:t>run</a:t>
            </a:r>
            <a:r>
              <a:rPr dirty="0" sz="1600">
                <a:solidFill>
                  <a:srgbClr val="1F2023"/>
                </a:solidFill>
                <a:latin typeface="Arial MT"/>
                <a:cs typeface="Arial MT"/>
              </a:rPr>
              <a:t>.</a:t>
            </a:r>
            <a:r>
              <a:rPr dirty="0" sz="1600" spc="2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(For</a:t>
            </a:r>
            <a:r>
              <a:rPr dirty="0" sz="1000" spc="10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example,</a:t>
            </a:r>
            <a:r>
              <a:rPr dirty="0" sz="1000" spc="10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your</a:t>
            </a:r>
            <a:r>
              <a:rPr dirty="0" sz="1000" spc="1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web</a:t>
            </a:r>
            <a:r>
              <a:rPr dirty="0" sz="1000" spc="9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browser</a:t>
            </a:r>
            <a:r>
              <a:rPr dirty="0" sz="1000" spc="9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essentially</a:t>
            </a:r>
            <a:r>
              <a:rPr dirty="0" sz="1000" spc="8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runs</a:t>
            </a:r>
            <a:r>
              <a:rPr dirty="0" sz="1000" spc="10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web</a:t>
            </a:r>
            <a:r>
              <a:rPr dirty="0" sz="1000" spc="9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pages</a:t>
            </a:r>
            <a:r>
              <a:rPr dirty="0" sz="1000" spc="114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you</a:t>
            </a:r>
            <a:r>
              <a:rPr dirty="0" sz="1000" spc="8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visit</a:t>
            </a:r>
            <a:r>
              <a:rPr dirty="0" sz="1000" spc="1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in</a:t>
            </a:r>
            <a:r>
              <a:rPr dirty="0" sz="1000" spc="9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dirty="0" sz="1000" spc="9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sandbox</a:t>
            </a:r>
            <a:r>
              <a:rPr dirty="0" sz="1000">
                <a:solidFill>
                  <a:srgbClr val="1F2023"/>
                </a:solidFill>
                <a:latin typeface="Wingdings"/>
                <a:cs typeface="Wingdings"/>
              </a:rPr>
              <a:t></a:t>
            </a:r>
            <a:r>
              <a:rPr dirty="0" sz="1000" spc="120">
                <a:solidFill>
                  <a:srgbClr val="1F2023"/>
                </a:solidFill>
                <a:latin typeface="Times New Roman"/>
                <a:cs typeface="Times New Roman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Sandbox</a:t>
            </a:r>
            <a:r>
              <a:rPr dirty="0" sz="1000" spc="9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makes</a:t>
            </a:r>
            <a:r>
              <a:rPr dirty="0" sz="1000" spc="10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web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browser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to</a:t>
            </a:r>
            <a:r>
              <a:rPr dirty="0" sz="100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run</a:t>
            </a:r>
            <a:r>
              <a:rPr dirty="0" sz="1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on</a:t>
            </a:r>
            <a:r>
              <a:rPr dirty="0" sz="1000" spc="-2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a</a:t>
            </a:r>
            <a:r>
              <a:rPr dirty="0" sz="100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tight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environment</a:t>
            </a:r>
            <a:r>
              <a:rPr dirty="0" sz="100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so</a:t>
            </a:r>
            <a:r>
              <a:rPr dirty="0" sz="100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as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to</a:t>
            </a:r>
            <a:r>
              <a:rPr dirty="0" sz="1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display</a:t>
            </a:r>
            <a:r>
              <a:rPr dirty="0" sz="1000" spc="-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web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pages</a:t>
            </a:r>
            <a:r>
              <a:rPr dirty="0" sz="1000" spc="-3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without</a:t>
            </a:r>
            <a:r>
              <a:rPr dirty="0" sz="1000" spc="-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accessing</a:t>
            </a:r>
            <a:r>
              <a:rPr dirty="0" sz="1000" spc="-3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any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of</a:t>
            </a:r>
            <a:r>
              <a:rPr dirty="0" sz="1000" spc="-2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our</a:t>
            </a:r>
            <a:r>
              <a:rPr dirty="0" sz="1000" spc="-15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>
                <a:solidFill>
                  <a:srgbClr val="1F2023"/>
                </a:solidFill>
                <a:latin typeface="Arial MT"/>
                <a:cs typeface="Arial MT"/>
              </a:rPr>
              <a:t>system</a:t>
            </a:r>
            <a:r>
              <a:rPr dirty="0" sz="1000" spc="10">
                <a:solidFill>
                  <a:srgbClr val="1F2023"/>
                </a:solidFill>
                <a:latin typeface="Arial MT"/>
                <a:cs typeface="Arial MT"/>
              </a:rPr>
              <a:t> </a:t>
            </a:r>
            <a:r>
              <a:rPr dirty="0" sz="1000" spc="-10">
                <a:solidFill>
                  <a:srgbClr val="1F2023"/>
                </a:solidFill>
                <a:latin typeface="Arial MT"/>
                <a:cs typeface="Arial MT"/>
              </a:rPr>
              <a:t>components)).</a:t>
            </a:r>
            <a:endParaRPr sz="1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8173" y="-172466"/>
            <a:ext cx="63792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dirty="0" spc="-110"/>
              <a:t> </a:t>
            </a:r>
            <a:r>
              <a:rPr dirty="0"/>
              <a:t>Security</a:t>
            </a:r>
            <a:r>
              <a:rPr dirty="0" spc="-120"/>
              <a:t> </a:t>
            </a:r>
            <a:r>
              <a:rPr dirty="0"/>
              <a:t>Defense</a:t>
            </a:r>
            <a:r>
              <a:rPr dirty="0" spc="-114"/>
              <a:t> </a:t>
            </a:r>
            <a:r>
              <a:rPr dirty="0" spc="-10"/>
              <a:t>Strategies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32079" y="354837"/>
            <a:ext cx="11983085" cy="55054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2715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3.</a:t>
            </a:r>
            <a:r>
              <a:rPr dirty="0" sz="28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8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Defense</a:t>
            </a:r>
            <a:r>
              <a:rPr dirty="0" sz="28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Methods</a:t>
            </a:r>
            <a:endParaRPr sz="2800">
              <a:latin typeface="Calibri"/>
              <a:cs typeface="Calibri"/>
            </a:endParaRPr>
          </a:p>
          <a:p>
            <a:pPr marL="251460" indent="-238760">
              <a:lnSpc>
                <a:spcPct val="100000"/>
              </a:lnSpc>
              <a:spcBef>
                <a:spcPts val="1420"/>
              </a:spcBef>
              <a:buFont typeface="Arial MT"/>
              <a:buChar char="•"/>
              <a:tabLst>
                <a:tab pos="251460" algn="l"/>
              </a:tabLst>
            </a:pPr>
            <a:r>
              <a:rPr dirty="0" sz="1800" b="1">
                <a:latin typeface="Calibri"/>
                <a:cs typeface="Calibri"/>
              </a:rPr>
              <a:t>With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virtualization,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single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physical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machine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can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be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divided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or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partitioned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into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multiple</a:t>
            </a:r>
            <a:r>
              <a:rPr dirty="0" sz="1800" spc="-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VMs.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251460" indent="-238760">
              <a:lnSpc>
                <a:spcPct val="100000"/>
              </a:lnSpc>
              <a:buFont typeface="Arial MT"/>
              <a:buChar char="•"/>
              <a:tabLst>
                <a:tab pos="251460" algn="l"/>
              </a:tabLst>
            </a:pPr>
            <a:r>
              <a:rPr dirty="0" sz="1800" b="1">
                <a:latin typeface="Calibri"/>
                <a:cs typeface="Calibri"/>
              </a:rPr>
              <a:t>This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provides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each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VM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with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better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security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isolation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each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partition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protected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from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DoS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attacks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other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partitions.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5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251460" indent="-23876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51460" algn="l"/>
              </a:tabLst>
            </a:pPr>
            <a:r>
              <a:rPr dirty="0" sz="1800" b="1">
                <a:latin typeface="Calibri"/>
                <a:cs typeface="Calibri"/>
              </a:rPr>
              <a:t>Security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attacks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one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VM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are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isolated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contained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from</a:t>
            </a:r>
            <a:r>
              <a:rPr dirty="0" sz="1800" spc="-1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affecting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other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VMs.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251460" indent="-238760">
              <a:lnSpc>
                <a:spcPct val="100000"/>
              </a:lnSpc>
              <a:buFont typeface="Arial MT"/>
              <a:buChar char="•"/>
              <a:tabLst>
                <a:tab pos="251460" algn="l"/>
              </a:tabLst>
            </a:pPr>
            <a:r>
              <a:rPr dirty="0" sz="1800" b="1">
                <a:latin typeface="Calibri"/>
                <a:cs typeface="Calibri"/>
              </a:rPr>
              <a:t>VM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failures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do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not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propagate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other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VMs.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251460" indent="-23876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51460" algn="l"/>
              </a:tabLst>
            </a:pPr>
            <a:r>
              <a:rPr dirty="0" sz="1800" b="1">
                <a:latin typeface="Calibri"/>
                <a:cs typeface="Calibri"/>
              </a:rPr>
              <a:t>Malicious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200" b="1">
                <a:latin typeface="Calibri"/>
                <a:cs typeface="Calibri"/>
              </a:rPr>
              <a:t>(cruel)</a:t>
            </a:r>
            <a:r>
              <a:rPr dirty="0" sz="12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intrusions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may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destroy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valuable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hosts,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networks,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storage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resources.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Internet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anomalies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found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routers,</a:t>
            </a:r>
            <a:endParaRPr sz="1800">
              <a:latin typeface="Calibri"/>
              <a:cs typeface="Calibri"/>
            </a:endParaRPr>
          </a:p>
          <a:p>
            <a:pPr marL="251460">
              <a:lnSpc>
                <a:spcPct val="100000"/>
              </a:lnSpc>
              <a:spcBef>
                <a:spcPts val="1080"/>
              </a:spcBef>
            </a:pPr>
            <a:r>
              <a:rPr dirty="0" sz="1800" spc="-10" b="1">
                <a:latin typeface="Calibri"/>
                <a:cs typeface="Calibri"/>
              </a:rPr>
              <a:t>gateways,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distributed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hosts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may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stop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services.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(Some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malfunctioning</a:t>
            </a:r>
            <a:r>
              <a:rPr dirty="0" sz="1100" spc="-5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at</a:t>
            </a:r>
            <a:r>
              <a:rPr dirty="0" sz="1100" spc="-1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the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internet</a:t>
            </a:r>
            <a:r>
              <a:rPr dirty="0" sz="1100" spc="-20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level</a:t>
            </a:r>
            <a:r>
              <a:rPr dirty="0" sz="1100">
                <a:latin typeface="Wingdings"/>
                <a:cs typeface="Wingdings"/>
              </a:rPr>
              <a:t></a:t>
            </a:r>
            <a:r>
              <a:rPr dirty="0" sz="1100" spc="-60">
                <a:latin typeface="Times New Roman"/>
                <a:cs typeface="Times New Roman"/>
              </a:rPr>
              <a:t> </a:t>
            </a:r>
            <a:r>
              <a:rPr dirty="0" sz="1100">
                <a:latin typeface="Calibri"/>
                <a:cs typeface="Calibri"/>
              </a:rPr>
              <a:t>routers,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gateways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may</a:t>
            </a:r>
            <a:r>
              <a:rPr dirty="0" sz="1100" spc="-2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stop</a:t>
            </a:r>
            <a:r>
              <a:rPr dirty="0" sz="1100" spc="-45">
                <a:latin typeface="Calibri"/>
                <a:cs typeface="Calibri"/>
              </a:rPr>
              <a:t> </a:t>
            </a:r>
            <a:r>
              <a:rPr dirty="0" sz="1100">
                <a:latin typeface="Calibri"/>
                <a:cs typeface="Calibri"/>
              </a:rPr>
              <a:t>cloud</a:t>
            </a:r>
            <a:r>
              <a:rPr dirty="0" sz="1100" spc="-35">
                <a:latin typeface="Calibri"/>
                <a:cs typeface="Calibri"/>
              </a:rPr>
              <a:t> </a:t>
            </a:r>
            <a:r>
              <a:rPr dirty="0" sz="1100" spc="-10">
                <a:latin typeface="Calibri"/>
                <a:cs typeface="Calibri"/>
              </a:rPr>
              <a:t>services)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1100">
              <a:latin typeface="Calibri"/>
              <a:cs typeface="Calibri"/>
            </a:endParaRPr>
          </a:p>
          <a:p>
            <a:pPr marL="251460" indent="-23876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51460" algn="l"/>
              </a:tabLst>
            </a:pPr>
            <a:r>
              <a:rPr dirty="0" sz="1800" spc="-10" b="1">
                <a:latin typeface="Calibri"/>
                <a:cs typeface="Calibri"/>
              </a:rPr>
              <a:t>Trust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negotiation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often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done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at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SLA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level.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0"/>
              </a:spcBef>
              <a:buFont typeface="Arial MT"/>
              <a:buChar char="•"/>
            </a:pPr>
            <a:endParaRPr sz="1800">
              <a:latin typeface="Calibri"/>
              <a:cs typeface="Calibri"/>
            </a:endParaRPr>
          </a:p>
          <a:p>
            <a:pPr marL="251460" indent="-238760">
              <a:lnSpc>
                <a:spcPct val="100000"/>
              </a:lnSpc>
              <a:buFont typeface="Arial MT"/>
              <a:buChar char="•"/>
              <a:tabLst>
                <a:tab pos="251460" algn="l"/>
              </a:tabLst>
            </a:pPr>
            <a:r>
              <a:rPr dirty="0" sz="1800" b="1">
                <a:latin typeface="Calibri"/>
                <a:cs typeface="Calibri"/>
              </a:rPr>
              <a:t>Public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Key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Infrastructure</a:t>
            </a:r>
            <a:r>
              <a:rPr dirty="0" sz="1800" spc="8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(PKI)</a:t>
            </a:r>
            <a:r>
              <a:rPr dirty="0" sz="1800" spc="7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services</a:t>
            </a:r>
            <a:r>
              <a:rPr dirty="0" sz="1800" spc="8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could</a:t>
            </a:r>
            <a:r>
              <a:rPr dirty="0" sz="1800" spc="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be</a:t>
            </a:r>
            <a:r>
              <a:rPr dirty="0" sz="1800" spc="7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augmented</a:t>
            </a:r>
            <a:r>
              <a:rPr dirty="0" sz="1800" spc="8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with</a:t>
            </a:r>
            <a:r>
              <a:rPr dirty="0" sz="1800" spc="75" b="1">
                <a:latin typeface="Calibri"/>
                <a:cs typeface="Calibri"/>
              </a:rPr>
              <a:t> </a:t>
            </a:r>
            <a:r>
              <a:rPr dirty="0" sz="1800" spc="-20" b="1">
                <a:latin typeface="Calibri"/>
                <a:cs typeface="Calibri"/>
              </a:rPr>
              <a:t>data-</a:t>
            </a:r>
            <a:r>
              <a:rPr dirty="0" sz="1800" b="1">
                <a:latin typeface="Calibri"/>
                <a:cs typeface="Calibri"/>
              </a:rPr>
              <a:t>center</a:t>
            </a:r>
            <a:r>
              <a:rPr dirty="0" sz="1800" spc="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reputation</a:t>
            </a:r>
            <a:r>
              <a:rPr dirty="0" sz="1800" spc="6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systems.</a:t>
            </a:r>
            <a:r>
              <a:rPr dirty="0" sz="1800" spc="60" b="1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(a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public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key</a:t>
            </a:r>
            <a:r>
              <a:rPr dirty="0" sz="1050" spc="-4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and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private</a:t>
            </a:r>
            <a:r>
              <a:rPr dirty="0" sz="1050" spc="-4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key.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...</a:t>
            </a:r>
            <a:r>
              <a:rPr dirty="0" sz="1050" spc="-4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By</a:t>
            </a:r>
            <a:r>
              <a:rPr dirty="0" sz="1050" spc="-50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using</a:t>
            </a:r>
            <a:r>
              <a:rPr dirty="0" sz="1050" spc="-50">
                <a:latin typeface="Calibri"/>
                <a:cs typeface="Calibri"/>
              </a:rPr>
              <a:t> a</a:t>
            </a:r>
            <a:endParaRPr sz="1050">
              <a:latin typeface="Calibri"/>
              <a:cs typeface="Calibri"/>
            </a:endParaRPr>
          </a:p>
          <a:p>
            <a:pPr marL="251460">
              <a:lnSpc>
                <a:spcPct val="100000"/>
              </a:lnSpc>
              <a:spcBef>
                <a:spcPts val="815"/>
              </a:spcBef>
            </a:pPr>
            <a:r>
              <a:rPr dirty="0" sz="1050" spc="-10">
                <a:latin typeface="Calibri"/>
                <a:cs typeface="Calibri"/>
              </a:rPr>
              <a:t>two-</a:t>
            </a:r>
            <a:r>
              <a:rPr dirty="0" sz="1050">
                <a:latin typeface="Calibri"/>
                <a:cs typeface="Calibri"/>
              </a:rPr>
              <a:t>key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encryption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system,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PKI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secures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sensitive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electronic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information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as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it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is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passed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back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and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forth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between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two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parties,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and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provides</a:t>
            </a:r>
            <a:r>
              <a:rPr dirty="0" sz="1050" spc="-3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each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party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with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</a:t>
            </a:r>
            <a:r>
              <a:rPr dirty="0" sz="1050" spc="-1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key</a:t>
            </a:r>
            <a:r>
              <a:rPr dirty="0" sz="1050" spc="-2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to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encrypt</a:t>
            </a:r>
            <a:r>
              <a:rPr dirty="0" sz="1050" spc="-30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and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decrypt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the</a:t>
            </a:r>
            <a:r>
              <a:rPr dirty="0" sz="1050" spc="-25">
                <a:latin typeface="Calibri"/>
                <a:cs typeface="Calibri"/>
              </a:rPr>
              <a:t> </a:t>
            </a:r>
            <a:r>
              <a:rPr dirty="0" sz="1050">
                <a:latin typeface="Calibri"/>
                <a:cs typeface="Calibri"/>
              </a:rPr>
              <a:t>digital</a:t>
            </a:r>
            <a:r>
              <a:rPr dirty="0" sz="1050" spc="-15">
                <a:latin typeface="Calibri"/>
                <a:cs typeface="Calibri"/>
              </a:rPr>
              <a:t> </a:t>
            </a:r>
            <a:r>
              <a:rPr dirty="0" sz="1050" spc="-10">
                <a:latin typeface="Calibri"/>
                <a:cs typeface="Calibri"/>
              </a:rPr>
              <a:t>data.)</a:t>
            </a:r>
            <a:endParaRPr sz="105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1050">
              <a:latin typeface="Calibri"/>
              <a:cs typeface="Calibri"/>
            </a:endParaRPr>
          </a:p>
          <a:p>
            <a:pPr marL="251460" indent="-238760">
              <a:lnSpc>
                <a:spcPct val="100000"/>
              </a:lnSpc>
              <a:buFont typeface="Arial MT"/>
              <a:buChar char="•"/>
              <a:tabLst>
                <a:tab pos="251460" algn="l"/>
              </a:tabLst>
            </a:pPr>
            <a:r>
              <a:rPr dirty="0" sz="1800" b="1">
                <a:latin typeface="Calibri"/>
                <a:cs typeface="Calibri"/>
              </a:rPr>
              <a:t>It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is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harder</a:t>
            </a:r>
            <a:r>
              <a:rPr dirty="0" sz="1800" spc="-4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to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establish</a:t>
            </a:r>
            <a:r>
              <a:rPr dirty="0" sz="1800" spc="-5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security</a:t>
            </a:r>
            <a:r>
              <a:rPr dirty="0" sz="1800" spc="-6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in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the</a:t>
            </a:r>
            <a:r>
              <a:rPr dirty="0" sz="1800" spc="-2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cloud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because</a:t>
            </a:r>
            <a:r>
              <a:rPr dirty="0" sz="1800" spc="-5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all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data</a:t>
            </a:r>
            <a:r>
              <a:rPr dirty="0" sz="1800" spc="-4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and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software</a:t>
            </a:r>
            <a:r>
              <a:rPr dirty="0" sz="1800" spc="-2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are</a:t>
            </a:r>
            <a:r>
              <a:rPr dirty="0" sz="1800" spc="-15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shared</a:t>
            </a:r>
            <a:r>
              <a:rPr dirty="0" sz="1800" spc="-30" b="1">
                <a:latin typeface="Calibri"/>
                <a:cs typeface="Calibri"/>
              </a:rPr>
              <a:t> </a:t>
            </a:r>
            <a:r>
              <a:rPr dirty="0" sz="1800" b="1">
                <a:latin typeface="Calibri"/>
                <a:cs typeface="Calibri"/>
              </a:rPr>
              <a:t>by</a:t>
            </a:r>
            <a:r>
              <a:rPr dirty="0" sz="1800" spc="-35" b="1">
                <a:latin typeface="Calibri"/>
                <a:cs typeface="Calibri"/>
              </a:rPr>
              <a:t> </a:t>
            </a:r>
            <a:r>
              <a:rPr dirty="0" sz="1800" spc="-10" b="1">
                <a:latin typeface="Calibri"/>
                <a:cs typeface="Calibri"/>
              </a:rPr>
              <a:t>default.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8173" y="-172466"/>
            <a:ext cx="63792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dirty="0" spc="-110"/>
              <a:t> </a:t>
            </a:r>
            <a:r>
              <a:rPr dirty="0"/>
              <a:t>Security</a:t>
            </a:r>
            <a:r>
              <a:rPr dirty="0" spc="-120"/>
              <a:t> </a:t>
            </a:r>
            <a:r>
              <a:rPr dirty="0"/>
              <a:t>Defense</a:t>
            </a:r>
            <a:r>
              <a:rPr dirty="0" spc="-114"/>
              <a:t> </a:t>
            </a:r>
            <a:r>
              <a:rPr dirty="0" spc="-10"/>
              <a:t>Strategies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2475" y="168999"/>
            <a:ext cx="8106409" cy="1076325"/>
          </a:xfrm>
          <a:prstGeom prst="rect">
            <a:avLst/>
          </a:prstGeom>
        </p:spPr>
        <p:txBody>
          <a:bodyPr wrap="square" lIns="0" tIns="1981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60"/>
              </a:spcBef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3.</a:t>
            </a:r>
            <a:r>
              <a:rPr dirty="0" sz="2800" spc="-6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Cloud</a:t>
            </a:r>
            <a:r>
              <a:rPr dirty="0" sz="2800" spc="-4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Defense</a:t>
            </a:r>
            <a:r>
              <a:rPr dirty="0" sz="2800" spc="-4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Methods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dirty="0" sz="2000" spc="-20" b="1">
                <a:latin typeface="Calibri"/>
                <a:cs typeface="Calibri"/>
              </a:rPr>
              <a:t>Table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lists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eight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protection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schemes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public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clouds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centers.</a:t>
            </a:r>
            <a:endParaRPr sz="2000">
              <a:latin typeface="Calibri"/>
              <a:cs typeface="Calibri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4377" y="1511116"/>
            <a:ext cx="8578917" cy="4924296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8173" y="-172466"/>
            <a:ext cx="63792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dirty="0" spc="-110"/>
              <a:t> </a:t>
            </a:r>
            <a:r>
              <a:rPr dirty="0"/>
              <a:t>Security</a:t>
            </a:r>
            <a:r>
              <a:rPr dirty="0" spc="-120"/>
              <a:t> </a:t>
            </a:r>
            <a:r>
              <a:rPr dirty="0"/>
              <a:t>Defense</a:t>
            </a:r>
            <a:r>
              <a:rPr dirty="0" spc="-114"/>
              <a:t> </a:t>
            </a:r>
            <a:r>
              <a:rPr dirty="0" spc="-10"/>
              <a:t>Strategies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2475" y="354837"/>
            <a:ext cx="11861165" cy="5609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8935" indent="-356235">
              <a:lnSpc>
                <a:spcPct val="100000"/>
              </a:lnSpc>
              <a:spcBef>
                <a:spcPts val="95"/>
              </a:spcBef>
              <a:buAutoNum type="arabicPeriod" startAt="4"/>
              <a:tabLst>
                <a:tab pos="368935" algn="l"/>
              </a:tabLst>
            </a:pP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Defense</a:t>
            </a:r>
            <a:r>
              <a:rPr dirty="0" sz="2800" spc="-6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with</a:t>
            </a:r>
            <a:r>
              <a:rPr dirty="0" sz="2800" spc="-7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Virtualization</a:t>
            </a:r>
            <a:endParaRPr sz="28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208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is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decoupled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from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physical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hardware.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entire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represented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component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regarded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binary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digital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data.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saved,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cloned,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encrypted,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moved,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or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restored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ease.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1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VMs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enable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HA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faster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disaster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recovery.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160"/>
              </a:spcBef>
              <a:buFont typeface="Arial MT"/>
              <a:buChar char="•"/>
            </a:pPr>
            <a:endParaRPr sz="2000">
              <a:latin typeface="Calibri"/>
              <a:cs typeface="Calibri"/>
            </a:endParaRPr>
          </a:p>
          <a:p>
            <a:pPr lvl="1" marL="355600" marR="5080" indent="-342900">
              <a:lnSpc>
                <a:spcPct val="1415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Multiple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IDS</a:t>
            </a:r>
            <a:r>
              <a:rPr dirty="0" sz="2000" spc="1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VMs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can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deployed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at</a:t>
            </a:r>
            <a:r>
              <a:rPr dirty="0" sz="2000" spc="1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various</a:t>
            </a:r>
            <a:r>
              <a:rPr dirty="0" sz="2000" spc="1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resource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sites</a:t>
            </a:r>
            <a:r>
              <a:rPr dirty="0" sz="2000" spc="1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including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1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centers.</a:t>
            </a:r>
            <a:r>
              <a:rPr dirty="0" sz="2000" spc="155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(distributed</a:t>
            </a:r>
            <a:r>
              <a:rPr dirty="0" sz="1400" spc="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IDS</a:t>
            </a:r>
            <a:r>
              <a:rPr dirty="0" sz="1400" spc="1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(dIDS)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consists</a:t>
            </a:r>
            <a:r>
              <a:rPr dirty="0" sz="1400" spc="5">
                <a:latin typeface="Calibri"/>
                <a:cs typeface="Calibri"/>
              </a:rPr>
              <a:t> </a:t>
            </a:r>
            <a:r>
              <a:rPr dirty="0" sz="1400" spc="-25">
                <a:latin typeface="Calibri"/>
                <a:cs typeface="Calibri"/>
              </a:rPr>
              <a:t>of </a:t>
            </a:r>
            <a:r>
              <a:rPr dirty="0" sz="1400">
                <a:latin typeface="Calibri"/>
                <a:cs typeface="Calibri"/>
              </a:rPr>
              <a:t>multiple</a:t>
            </a:r>
            <a:r>
              <a:rPr dirty="0" sz="1400" spc="-10">
                <a:latin typeface="Calibri"/>
                <a:cs typeface="Calibri"/>
              </a:rPr>
              <a:t> Intrusion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Detection</a:t>
            </a:r>
            <a:r>
              <a:rPr dirty="0" sz="1400" spc="-10">
                <a:latin typeface="Calibri"/>
                <a:cs typeface="Calibri"/>
              </a:rPr>
              <a:t> Systems</a:t>
            </a:r>
            <a:r>
              <a:rPr dirty="0" sz="1400" spc="-5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(IDS)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over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large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network,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all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of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which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communicate</a:t>
            </a:r>
            <a:r>
              <a:rPr dirty="0" sz="1400" spc="-3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with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each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other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and</a:t>
            </a:r>
            <a:r>
              <a:rPr dirty="0" sz="1400" spc="-2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monitors</a:t>
            </a:r>
            <a:r>
              <a:rPr dirty="0" sz="1400" spc="-45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intrusion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at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network)</a:t>
            </a:r>
            <a:endParaRPr sz="14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540"/>
              </a:spcBef>
              <a:buFont typeface="Arial MT"/>
              <a:buChar char="•"/>
            </a:pPr>
            <a:endParaRPr sz="1400">
              <a:latin typeface="Calibri"/>
              <a:cs typeface="Calibri"/>
            </a:endParaRPr>
          </a:p>
          <a:p>
            <a:pPr lvl="1" marL="355600" marR="6350" indent="-342900">
              <a:lnSpc>
                <a:spcPct val="150000"/>
              </a:lnSpc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Security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policy</a:t>
            </a:r>
            <a:r>
              <a:rPr dirty="0" sz="2000" spc="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conflicts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designing</a:t>
            </a:r>
            <a:r>
              <a:rPr dirty="0" sz="2000" spc="75" b="1">
                <a:latin typeface="Calibri"/>
                <a:cs typeface="Calibri"/>
              </a:rPr>
              <a:t> </a:t>
            </a:r>
            <a:r>
              <a:rPr dirty="0" sz="1600" spc="-10" b="1">
                <a:latin typeface="Calibri"/>
                <a:cs typeface="Calibri"/>
              </a:rPr>
              <a:t>distributed</a:t>
            </a:r>
            <a:r>
              <a:rPr dirty="0" sz="1600" spc="-1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intrusion detection</a:t>
            </a:r>
            <a:r>
              <a:rPr dirty="0" sz="1600" spc="-10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systems</a:t>
            </a:r>
            <a:r>
              <a:rPr dirty="0" sz="1600" spc="-15" b="1">
                <a:latin typeface="Calibri"/>
                <a:cs typeface="Calibri"/>
              </a:rPr>
              <a:t> </a:t>
            </a:r>
            <a:r>
              <a:rPr dirty="0" sz="1600" b="1">
                <a:latin typeface="Calibri"/>
                <a:cs typeface="Calibri"/>
              </a:rPr>
              <a:t>(DIDSes)</a:t>
            </a:r>
            <a:r>
              <a:rPr dirty="0" sz="1600" spc="-1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must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resolved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at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design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time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updated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periodically.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(Security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policy</a:t>
            </a:r>
            <a:r>
              <a:rPr dirty="0" sz="1400" spc="-15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conflicts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while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 spc="-10">
                <a:latin typeface="Calibri"/>
                <a:cs typeface="Calibri"/>
              </a:rPr>
              <a:t>communication</a:t>
            </a:r>
            <a:r>
              <a:rPr dirty="0" sz="1400" spc="-2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among</a:t>
            </a:r>
            <a:r>
              <a:rPr dirty="0" sz="1400" spc="-30">
                <a:latin typeface="Calibri"/>
                <a:cs typeface="Calibri"/>
              </a:rPr>
              <a:t> </a:t>
            </a:r>
            <a:r>
              <a:rPr dirty="0" sz="1400">
                <a:latin typeface="Calibri"/>
                <a:cs typeface="Calibri"/>
              </a:rPr>
              <a:t>IDS</a:t>
            </a:r>
            <a:r>
              <a:rPr dirty="0" sz="1400" spc="-40">
                <a:latin typeface="Calibri"/>
                <a:cs typeface="Calibri"/>
              </a:rPr>
              <a:t> </a:t>
            </a:r>
            <a:r>
              <a:rPr dirty="0" sz="1400" spc="-20">
                <a:latin typeface="Calibri"/>
                <a:cs typeface="Calibri"/>
              </a:rPr>
              <a:t>VMs)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8173" y="-172466"/>
            <a:ext cx="63792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dirty="0" spc="-110"/>
              <a:t> </a:t>
            </a:r>
            <a:r>
              <a:rPr dirty="0"/>
              <a:t>Security</a:t>
            </a:r>
            <a:r>
              <a:rPr dirty="0" spc="-120"/>
              <a:t> </a:t>
            </a:r>
            <a:r>
              <a:rPr dirty="0"/>
              <a:t>Defense</a:t>
            </a:r>
            <a:r>
              <a:rPr dirty="0" spc="-114"/>
              <a:t> </a:t>
            </a:r>
            <a:r>
              <a:rPr dirty="0" spc="-10"/>
              <a:t>Strategies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2475" y="354837"/>
            <a:ext cx="11862435" cy="36633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8935" indent="-356235">
              <a:lnSpc>
                <a:spcPct val="100000"/>
              </a:lnSpc>
              <a:spcBef>
                <a:spcPts val="95"/>
              </a:spcBef>
              <a:buAutoNum type="arabicPeriod" startAt="5"/>
              <a:tabLst>
                <a:tab pos="368935" algn="l"/>
              </a:tabLst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Privacy</a:t>
            </a:r>
            <a:r>
              <a:rPr dirty="0" sz="2800" spc="-10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800" spc="-11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Copyright</a:t>
            </a:r>
            <a:r>
              <a:rPr dirty="0" sz="2800" spc="-9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Protection</a:t>
            </a:r>
            <a:endParaRPr sz="28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188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With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shared</a:t>
            </a:r>
            <a:r>
              <a:rPr dirty="0" sz="2000" spc="3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files</a:t>
            </a:r>
            <a:r>
              <a:rPr dirty="0" sz="2000" spc="3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3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sets,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privacy,</a:t>
            </a:r>
            <a:r>
              <a:rPr dirty="0" sz="2000" spc="3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security,</a:t>
            </a:r>
            <a:r>
              <a:rPr dirty="0" sz="2000" spc="3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copyright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3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could</a:t>
            </a:r>
            <a:r>
              <a:rPr dirty="0" sz="2000" spc="3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be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compromised</a:t>
            </a:r>
            <a:r>
              <a:rPr dirty="0" sz="2000" spc="3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35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3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cloud</a:t>
            </a:r>
            <a:endParaRPr sz="20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200"/>
              </a:spcBef>
            </a:pPr>
            <a:r>
              <a:rPr dirty="0" sz="2000" b="1">
                <a:latin typeface="Calibri"/>
                <a:cs typeface="Calibri"/>
              </a:rPr>
              <a:t>computing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environment.</a:t>
            </a:r>
            <a:endParaRPr sz="2000">
              <a:latin typeface="Calibri"/>
              <a:cs typeface="Calibri"/>
            </a:endParaRPr>
          </a:p>
          <a:p>
            <a:pPr lvl="1" marL="355600" marR="5715" indent="-342900">
              <a:lnSpc>
                <a:spcPct val="150000"/>
              </a:lnSpc>
              <a:spcBef>
                <a:spcPts val="10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 sz="2000" b="1">
                <a:latin typeface="Calibri"/>
                <a:cs typeface="Calibri"/>
              </a:rPr>
              <a:t>Users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desire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work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environment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that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provides</a:t>
            </a:r>
            <a:r>
              <a:rPr dirty="0" sz="2000" spc="10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many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useful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tools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8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build</a:t>
            </a:r>
            <a:r>
              <a:rPr dirty="0" sz="2000" spc="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cloud</a:t>
            </a:r>
            <a:r>
              <a:rPr dirty="0" sz="2000" spc="9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applications </a:t>
            </a:r>
            <a:r>
              <a:rPr dirty="0" sz="2000" b="1">
                <a:latin typeface="Calibri"/>
                <a:cs typeface="Calibri"/>
              </a:rPr>
              <a:t>over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large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data</a:t>
            </a:r>
            <a:r>
              <a:rPr dirty="0" sz="2000" spc="-75" b="1">
                <a:latin typeface="Calibri"/>
                <a:cs typeface="Calibri"/>
              </a:rPr>
              <a:t> </a:t>
            </a:r>
            <a:r>
              <a:rPr dirty="0" sz="2000" spc="-20" b="1">
                <a:latin typeface="Calibri"/>
                <a:cs typeface="Calibri"/>
              </a:rPr>
              <a:t>sets.</a:t>
            </a:r>
            <a:endParaRPr sz="20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219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spc="-10" b="1">
                <a:latin typeface="Calibri"/>
                <a:cs typeface="Calibri"/>
              </a:rPr>
              <a:t>Google’s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platform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essentially</a:t>
            </a:r>
            <a:r>
              <a:rPr dirty="0" sz="2000" spc="-8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applies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in-</a:t>
            </a:r>
            <a:r>
              <a:rPr dirty="0" sz="2000" b="1">
                <a:latin typeface="Calibri"/>
                <a:cs typeface="Calibri"/>
              </a:rPr>
              <a:t>house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software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to</a:t>
            </a:r>
            <a:r>
              <a:rPr dirty="0" sz="2000" spc="-6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protect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resources.</a:t>
            </a:r>
            <a:endParaRPr sz="20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22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The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Amazon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EC2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applies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HMEC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and</a:t>
            </a:r>
            <a:r>
              <a:rPr dirty="0" sz="2000" spc="-3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X.509</a:t>
            </a:r>
            <a:r>
              <a:rPr dirty="0" sz="2000" spc="-5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certificates</a:t>
            </a:r>
            <a:r>
              <a:rPr dirty="0" sz="2000" spc="-2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2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securing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resources.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08173" y="-172466"/>
            <a:ext cx="6379210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Cloud</a:t>
            </a:r>
            <a:r>
              <a:rPr dirty="0" spc="-110"/>
              <a:t> </a:t>
            </a:r>
            <a:r>
              <a:rPr dirty="0"/>
              <a:t>Security</a:t>
            </a:r>
            <a:r>
              <a:rPr dirty="0" spc="-120"/>
              <a:t> </a:t>
            </a:r>
            <a:r>
              <a:rPr dirty="0"/>
              <a:t>Defense</a:t>
            </a:r>
            <a:r>
              <a:rPr dirty="0" spc="-114"/>
              <a:t> </a:t>
            </a:r>
            <a:r>
              <a:rPr dirty="0" spc="-10"/>
              <a:t>Strategies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52475" y="354837"/>
            <a:ext cx="11863070" cy="641921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68935" indent="-356235">
              <a:lnSpc>
                <a:spcPct val="100000"/>
              </a:lnSpc>
              <a:spcBef>
                <a:spcPts val="95"/>
              </a:spcBef>
              <a:buAutoNum type="arabicPeriod" startAt="5"/>
              <a:tabLst>
                <a:tab pos="368935" algn="l"/>
              </a:tabLst>
            </a:pP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Privacy</a:t>
            </a:r>
            <a:r>
              <a:rPr dirty="0" sz="2800" spc="-9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and</a:t>
            </a:r>
            <a:r>
              <a:rPr dirty="0" sz="2800" spc="-10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C00000"/>
                </a:solidFill>
                <a:latin typeface="Calibri"/>
                <a:cs typeface="Calibri"/>
              </a:rPr>
              <a:t>Copyright</a:t>
            </a:r>
            <a:r>
              <a:rPr dirty="0" sz="2800" spc="-90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Protection</a:t>
            </a:r>
            <a:r>
              <a:rPr dirty="0" sz="2800" spc="-95" b="1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dirty="0" sz="2800" spc="-10" b="1">
                <a:solidFill>
                  <a:srgbClr val="C00000"/>
                </a:solidFill>
                <a:latin typeface="Calibri"/>
                <a:cs typeface="Calibri"/>
              </a:rPr>
              <a:t>(Cont.…)</a:t>
            </a:r>
            <a:endParaRPr sz="2800">
              <a:latin typeface="Calibri"/>
              <a:cs typeface="Calibri"/>
            </a:endParaRPr>
          </a:p>
          <a:p>
            <a:pPr lvl="1" marL="354965" indent="-342265">
              <a:lnSpc>
                <a:spcPct val="100000"/>
              </a:lnSpc>
              <a:spcBef>
                <a:spcPts val="188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 sz="2000" b="1">
                <a:latin typeface="Calibri"/>
                <a:cs typeface="Calibri"/>
              </a:rPr>
              <a:t>Here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are</a:t>
            </a:r>
            <a:r>
              <a:rPr dirty="0" sz="2000" spc="-4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several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security</a:t>
            </a:r>
            <a:r>
              <a:rPr dirty="0" sz="2000" spc="-70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features</a:t>
            </a:r>
            <a:r>
              <a:rPr dirty="0" sz="2000" spc="-3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desired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in</a:t>
            </a:r>
            <a:r>
              <a:rPr dirty="0" sz="2000" spc="-5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a</a:t>
            </a:r>
            <a:r>
              <a:rPr dirty="0" sz="2000" spc="-65" b="1">
                <a:latin typeface="Calibri"/>
                <a:cs typeface="Calibri"/>
              </a:rPr>
              <a:t> </a:t>
            </a:r>
            <a:r>
              <a:rPr dirty="0" sz="2000" b="1">
                <a:latin typeface="Calibri"/>
                <a:cs typeface="Calibri"/>
              </a:rPr>
              <a:t>secure</a:t>
            </a:r>
            <a:r>
              <a:rPr dirty="0" sz="2000" spc="-45" b="1">
                <a:latin typeface="Calibri"/>
                <a:cs typeface="Calibri"/>
              </a:rPr>
              <a:t> </a:t>
            </a:r>
            <a:r>
              <a:rPr dirty="0" sz="2000" spc="-10" b="1">
                <a:latin typeface="Calibri"/>
                <a:cs typeface="Calibri"/>
              </a:rPr>
              <a:t>cloud:</a:t>
            </a:r>
            <a:endParaRPr sz="2000">
              <a:latin typeface="Calibri"/>
              <a:cs typeface="Calibri"/>
            </a:endParaRPr>
          </a:p>
          <a:p>
            <a:pPr lvl="2" marL="871855" indent="-342900">
              <a:lnSpc>
                <a:spcPct val="100000"/>
              </a:lnSpc>
              <a:spcBef>
                <a:spcPts val="2400"/>
              </a:spcBef>
              <a:buFont typeface="Wingdings"/>
              <a:buChar char=""/>
              <a:tabLst>
                <a:tab pos="871855" algn="l"/>
              </a:tabLst>
            </a:pP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Dynamic</a:t>
            </a:r>
            <a:r>
              <a:rPr dirty="0" sz="200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web</a:t>
            </a:r>
            <a:r>
              <a:rPr dirty="0" sz="2000" spc="-3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services</a:t>
            </a:r>
            <a:r>
              <a:rPr dirty="0" sz="2000" spc="-2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with</a:t>
            </a:r>
            <a:r>
              <a:rPr dirty="0" sz="200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full</a:t>
            </a:r>
            <a:r>
              <a:rPr dirty="0" sz="200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support</a:t>
            </a:r>
            <a:r>
              <a:rPr dirty="0" sz="2000" spc="-6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from</a:t>
            </a:r>
            <a:r>
              <a:rPr dirty="0" sz="2000" spc="-3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secure</a:t>
            </a:r>
            <a:r>
              <a:rPr dirty="0" sz="2000" spc="-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web</a:t>
            </a:r>
            <a:r>
              <a:rPr dirty="0" sz="200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technologies</a:t>
            </a:r>
            <a:endParaRPr sz="20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1160"/>
              </a:spcBef>
              <a:buClr>
                <a:srgbClr val="00391A"/>
              </a:buClr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lvl="2" marL="871855" indent="-342900">
              <a:lnSpc>
                <a:spcPct val="100000"/>
              </a:lnSpc>
              <a:buFont typeface="Wingdings"/>
              <a:buChar char=""/>
              <a:tabLst>
                <a:tab pos="871855" algn="l"/>
              </a:tabLst>
            </a:pP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Established</a:t>
            </a:r>
            <a:r>
              <a:rPr dirty="0" sz="2000" spc="-5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trust</a:t>
            </a:r>
            <a:r>
              <a:rPr dirty="0" sz="2000" spc="-7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between</a:t>
            </a:r>
            <a:r>
              <a:rPr dirty="0" sz="200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users</a:t>
            </a:r>
            <a:r>
              <a:rPr dirty="0" sz="200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and</a:t>
            </a:r>
            <a:r>
              <a:rPr dirty="0" sz="200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providers</a:t>
            </a:r>
            <a:r>
              <a:rPr dirty="0" sz="2000" spc="-5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through</a:t>
            </a:r>
            <a:r>
              <a:rPr dirty="0" sz="2000" spc="-5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SLAs</a:t>
            </a:r>
            <a:r>
              <a:rPr dirty="0" sz="200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and</a:t>
            </a:r>
            <a:r>
              <a:rPr dirty="0" sz="2000" spc="-5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reputation</a:t>
            </a:r>
            <a:r>
              <a:rPr dirty="0" sz="2000" spc="-5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systems</a:t>
            </a:r>
            <a:endParaRPr sz="20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1160"/>
              </a:spcBef>
              <a:buClr>
                <a:srgbClr val="00391A"/>
              </a:buClr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lvl="2" marL="871855" indent="-342900">
              <a:lnSpc>
                <a:spcPct val="100000"/>
              </a:lnSpc>
              <a:buFont typeface="Wingdings"/>
              <a:buChar char=""/>
              <a:tabLst>
                <a:tab pos="871855" algn="l"/>
              </a:tabLst>
            </a:pP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Effective</a:t>
            </a:r>
            <a:r>
              <a:rPr dirty="0" sz="2000" spc="-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user</a:t>
            </a:r>
            <a:r>
              <a:rPr dirty="0" sz="2000" spc="-3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identity</a:t>
            </a:r>
            <a:r>
              <a:rPr dirty="0" sz="2000" spc="-5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management</a:t>
            </a:r>
            <a:r>
              <a:rPr dirty="0" sz="2000" spc="-6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and</a:t>
            </a:r>
            <a:r>
              <a:rPr dirty="0" sz="2000" spc="-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20" b="1">
                <a:solidFill>
                  <a:srgbClr val="00391A"/>
                </a:solidFill>
                <a:latin typeface="Calibri"/>
                <a:cs typeface="Calibri"/>
              </a:rPr>
              <a:t>data-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access</a:t>
            </a:r>
            <a:r>
              <a:rPr dirty="0" sz="2000" spc="-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management</a:t>
            </a:r>
            <a:endParaRPr sz="20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295"/>
              </a:spcBef>
              <a:buClr>
                <a:srgbClr val="00391A"/>
              </a:buClr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lvl="2" marL="872490" marR="5080" indent="-343535">
              <a:lnSpc>
                <a:spcPct val="136100"/>
              </a:lnSpc>
              <a:buFont typeface="Wingdings"/>
              <a:buChar char=""/>
              <a:tabLst>
                <a:tab pos="872490" algn="l"/>
                <a:tab pos="930275" algn="l"/>
              </a:tabLst>
            </a:pPr>
            <a:r>
              <a:rPr dirty="0" sz="2000">
                <a:solidFill>
                  <a:srgbClr val="00391A"/>
                </a:solidFill>
                <a:latin typeface="Times New Roman"/>
                <a:cs typeface="Times New Roman"/>
              </a:rPr>
              <a:t>	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Single</a:t>
            </a:r>
            <a:r>
              <a:rPr dirty="0" sz="2000" spc="1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sign-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on</a:t>
            </a:r>
            <a:r>
              <a:rPr dirty="0" sz="2000" spc="1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and</a:t>
            </a:r>
            <a:r>
              <a:rPr dirty="0" sz="2000" spc="12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single</a:t>
            </a:r>
            <a:r>
              <a:rPr dirty="0" sz="2000" spc="13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sign-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off</a:t>
            </a:r>
            <a:r>
              <a:rPr dirty="0" sz="2000" spc="1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to</a:t>
            </a:r>
            <a:r>
              <a:rPr dirty="0" sz="2000" spc="12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reduce</a:t>
            </a:r>
            <a:r>
              <a:rPr dirty="0" sz="2000" spc="1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security</a:t>
            </a:r>
            <a:r>
              <a:rPr dirty="0" sz="2000" spc="1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enforcement</a:t>
            </a:r>
            <a:r>
              <a:rPr dirty="0" sz="2000" spc="12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overhead</a:t>
            </a:r>
            <a:r>
              <a:rPr dirty="0" sz="2000" spc="10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391A"/>
                </a:solidFill>
                <a:latin typeface="Calibri"/>
                <a:cs typeface="Calibri"/>
              </a:rPr>
              <a:t>(Single</a:t>
            </a:r>
            <a:r>
              <a:rPr dirty="0" sz="105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spc="-25" b="1">
                <a:solidFill>
                  <a:srgbClr val="00391A"/>
                </a:solidFill>
                <a:latin typeface="Calibri"/>
                <a:cs typeface="Calibri"/>
              </a:rPr>
              <a:t>sign-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on</a:t>
            </a:r>
            <a:r>
              <a:rPr dirty="0" sz="1050" spc="-3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391A"/>
                </a:solidFill>
                <a:latin typeface="Calibri"/>
                <a:cs typeface="Calibri"/>
              </a:rPr>
              <a:t>(SSO)</a:t>
            </a:r>
            <a:r>
              <a:rPr dirty="0" sz="105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is</a:t>
            </a:r>
            <a:r>
              <a:rPr dirty="0" sz="1050" spc="-3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a</a:t>
            </a:r>
            <a:r>
              <a:rPr dirty="0" sz="1050" spc="-3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391A"/>
                </a:solidFill>
                <a:latin typeface="Calibri"/>
                <a:cs typeface="Calibri"/>
              </a:rPr>
              <a:t>user</a:t>
            </a:r>
            <a:r>
              <a:rPr dirty="0" sz="105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spc="-20" b="1">
                <a:solidFill>
                  <a:srgbClr val="00391A"/>
                </a:solidFill>
                <a:latin typeface="Calibri"/>
                <a:cs typeface="Calibri"/>
              </a:rPr>
              <a:t>authentication</a:t>
            </a:r>
            <a:r>
              <a:rPr dirty="0" sz="1050" spc="-3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391A"/>
                </a:solidFill>
                <a:latin typeface="Calibri"/>
                <a:cs typeface="Calibri"/>
              </a:rPr>
              <a:t>service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that</a:t>
            </a:r>
            <a:r>
              <a:rPr dirty="0" sz="1050" spc="-2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permits</a:t>
            </a:r>
            <a:r>
              <a:rPr dirty="0" sz="1050" spc="-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a</a:t>
            </a:r>
            <a:r>
              <a:rPr dirty="0" sz="1050" spc="-2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user</a:t>
            </a:r>
            <a:r>
              <a:rPr dirty="0" sz="1050" spc="-1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to</a:t>
            </a:r>
            <a:r>
              <a:rPr dirty="0" sz="1050" spc="-2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use</a:t>
            </a:r>
            <a:r>
              <a:rPr dirty="0" sz="1050" spc="-1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one</a:t>
            </a:r>
            <a:r>
              <a:rPr dirty="0" sz="1050" spc="-2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set of</a:t>
            </a:r>
            <a:r>
              <a:rPr dirty="0" sz="1050" spc="-1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login</a:t>
            </a:r>
            <a:r>
              <a:rPr dirty="0" sz="1050" spc="-1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credentials</a:t>
            </a:r>
            <a:r>
              <a:rPr dirty="0" sz="1050" spc="-2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to</a:t>
            </a:r>
            <a:r>
              <a:rPr dirty="0" sz="1050" spc="-2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access</a:t>
            </a:r>
            <a:r>
              <a:rPr dirty="0" sz="1050" spc="-2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multiple</a:t>
            </a:r>
            <a:r>
              <a:rPr dirty="0" sz="105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391A"/>
                </a:solidFill>
                <a:latin typeface="Calibri"/>
                <a:cs typeface="Calibri"/>
              </a:rPr>
              <a:t>applications.</a:t>
            </a:r>
            <a:r>
              <a:rPr dirty="0" sz="105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For</a:t>
            </a:r>
            <a:r>
              <a:rPr dirty="0" sz="1050" spc="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Eg:</a:t>
            </a:r>
            <a:r>
              <a:rPr dirty="0" sz="1050" spc="-2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Gmail</a:t>
            </a:r>
            <a:r>
              <a:rPr dirty="0" sz="1050" spc="-2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account</a:t>
            </a:r>
            <a:r>
              <a:rPr dirty="0" sz="1050" spc="-2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with</a:t>
            </a:r>
            <a:r>
              <a:rPr dirty="0" sz="1050" spc="-2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which</a:t>
            </a:r>
            <a:r>
              <a:rPr dirty="0" sz="1050" spc="-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can</a:t>
            </a:r>
            <a:r>
              <a:rPr dirty="0" sz="1050" spc="-2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access</a:t>
            </a:r>
            <a:r>
              <a:rPr dirty="0" sz="1050" spc="-1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Google</a:t>
            </a:r>
            <a:r>
              <a:rPr dirty="0" sz="1050" spc="-2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Docs, Spread</a:t>
            </a:r>
            <a:r>
              <a:rPr dirty="0" sz="1050" spc="-1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Sheets,</a:t>
            </a:r>
            <a:r>
              <a:rPr dirty="0" sz="1050" spc="-2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Youtube,</a:t>
            </a:r>
            <a:r>
              <a:rPr dirty="0" sz="1050" spc="-2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b="1">
                <a:solidFill>
                  <a:srgbClr val="00391A"/>
                </a:solidFill>
                <a:latin typeface="Calibri"/>
                <a:cs typeface="Calibri"/>
              </a:rPr>
              <a:t>Swayam</a:t>
            </a:r>
            <a:r>
              <a:rPr dirty="0" sz="1050" spc="-3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050" spc="-10" b="1">
                <a:solidFill>
                  <a:srgbClr val="00391A"/>
                </a:solidFill>
                <a:latin typeface="Calibri"/>
                <a:cs typeface="Calibri"/>
              </a:rPr>
              <a:t>portal)</a:t>
            </a:r>
            <a:endParaRPr sz="10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buClr>
                <a:srgbClr val="00391A"/>
              </a:buClr>
              <a:buFont typeface="Wingdings"/>
              <a:buChar char=""/>
            </a:pPr>
            <a:endParaRPr sz="105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805"/>
              </a:spcBef>
              <a:buClr>
                <a:srgbClr val="00391A"/>
              </a:buClr>
              <a:buFont typeface="Wingdings"/>
              <a:buChar char=""/>
            </a:pPr>
            <a:endParaRPr sz="1050">
              <a:latin typeface="Calibri"/>
              <a:cs typeface="Calibri"/>
            </a:endParaRPr>
          </a:p>
          <a:p>
            <a:pPr lvl="2" marL="871855" indent="-3429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871855" algn="l"/>
              </a:tabLst>
            </a:pP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Auditing</a:t>
            </a:r>
            <a:r>
              <a:rPr dirty="0" sz="2000" spc="-7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and</a:t>
            </a:r>
            <a:r>
              <a:rPr dirty="0" sz="200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copyright</a:t>
            </a:r>
            <a:r>
              <a:rPr dirty="0" sz="2000" spc="-5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compliance</a:t>
            </a:r>
            <a:r>
              <a:rPr dirty="0" sz="2000" spc="-5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through</a:t>
            </a:r>
            <a:r>
              <a:rPr dirty="0" sz="2000" spc="-6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proactive</a:t>
            </a:r>
            <a:r>
              <a:rPr dirty="0" sz="2000" spc="-6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enforcement</a:t>
            </a:r>
            <a:r>
              <a:rPr dirty="0" sz="2000" spc="-5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400" b="1">
                <a:solidFill>
                  <a:srgbClr val="00391A"/>
                </a:solidFill>
                <a:latin typeface="Calibri"/>
                <a:cs typeface="Calibri"/>
              </a:rPr>
              <a:t>(Auditing</a:t>
            </a:r>
            <a:r>
              <a:rPr dirty="0" sz="1400" spc="-5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1400" spc="-10" b="1">
                <a:solidFill>
                  <a:srgbClr val="00391A"/>
                </a:solidFill>
                <a:latin typeface="Calibri"/>
                <a:cs typeface="Calibri"/>
              </a:rPr>
              <a:t>periodically)</a:t>
            </a:r>
            <a:endParaRPr sz="14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1155"/>
              </a:spcBef>
              <a:buClr>
                <a:srgbClr val="00391A"/>
              </a:buClr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lvl="2" marL="871855" indent="-342900">
              <a:lnSpc>
                <a:spcPct val="100000"/>
              </a:lnSpc>
              <a:buFont typeface="Wingdings"/>
              <a:buChar char=""/>
              <a:tabLst>
                <a:tab pos="871855" algn="l"/>
              </a:tabLst>
            </a:pP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Shifting</a:t>
            </a:r>
            <a:r>
              <a:rPr dirty="0" sz="200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of</a:t>
            </a:r>
            <a:r>
              <a:rPr dirty="0" sz="2000" spc="-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control</a:t>
            </a:r>
            <a:r>
              <a:rPr dirty="0" sz="200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of</a:t>
            </a:r>
            <a:r>
              <a:rPr dirty="0" sz="2000" spc="-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data</a:t>
            </a:r>
            <a:r>
              <a:rPr dirty="0" sz="2000" spc="-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operations</a:t>
            </a:r>
            <a:r>
              <a:rPr dirty="0" sz="2000" spc="-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from</a:t>
            </a:r>
            <a:r>
              <a:rPr dirty="0" sz="2000" spc="-3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the</a:t>
            </a:r>
            <a:r>
              <a:rPr dirty="0" sz="2000" spc="-2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client</a:t>
            </a:r>
            <a:r>
              <a:rPr dirty="0" sz="2000" spc="-5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environment</a:t>
            </a:r>
            <a:r>
              <a:rPr dirty="0" sz="2000" spc="-3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to</a:t>
            </a:r>
            <a:r>
              <a:rPr dirty="0" sz="200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cloud</a:t>
            </a:r>
            <a:r>
              <a:rPr dirty="0" sz="200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providers</a:t>
            </a:r>
            <a:endParaRPr sz="20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1160"/>
              </a:spcBef>
              <a:buClr>
                <a:srgbClr val="00391A"/>
              </a:buClr>
              <a:buFont typeface="Wingdings"/>
              <a:buChar char=""/>
            </a:pPr>
            <a:endParaRPr sz="2000">
              <a:latin typeface="Calibri"/>
              <a:cs typeface="Calibri"/>
            </a:endParaRPr>
          </a:p>
          <a:p>
            <a:pPr lvl="2" marL="871855" indent="-34290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871855" algn="l"/>
              </a:tabLst>
            </a:pP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Protection</a:t>
            </a:r>
            <a:r>
              <a:rPr dirty="0" sz="2000" spc="-8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of</a:t>
            </a:r>
            <a:r>
              <a:rPr dirty="0" sz="2000" spc="-4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sensitive</a:t>
            </a:r>
            <a:r>
              <a:rPr dirty="0" sz="2000" spc="-6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and</a:t>
            </a:r>
            <a:r>
              <a:rPr dirty="0" sz="2000" spc="-5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regulated</a:t>
            </a:r>
            <a:r>
              <a:rPr dirty="0" sz="2000" spc="-4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information</a:t>
            </a:r>
            <a:r>
              <a:rPr dirty="0" sz="2000" spc="-75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in</a:t>
            </a:r>
            <a:r>
              <a:rPr dirty="0" sz="2000" spc="-5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a</a:t>
            </a:r>
            <a:r>
              <a:rPr dirty="0" sz="2000" spc="-5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b="1">
                <a:solidFill>
                  <a:srgbClr val="00391A"/>
                </a:solidFill>
                <a:latin typeface="Calibri"/>
                <a:cs typeface="Calibri"/>
              </a:rPr>
              <a:t>shared</a:t>
            </a:r>
            <a:r>
              <a:rPr dirty="0" sz="2000" spc="-50" b="1">
                <a:solidFill>
                  <a:srgbClr val="00391A"/>
                </a:solidFill>
                <a:latin typeface="Calibri"/>
                <a:cs typeface="Calibri"/>
              </a:rPr>
              <a:t> </a:t>
            </a:r>
            <a:r>
              <a:rPr dirty="0" sz="2000" spc="-10" b="1">
                <a:solidFill>
                  <a:srgbClr val="00391A"/>
                </a:solidFill>
                <a:latin typeface="Calibri"/>
                <a:cs typeface="Calibri"/>
              </a:rPr>
              <a:t>environment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2125345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Distributed</a:t>
            </a:r>
            <a:r>
              <a:rPr dirty="0" spc="-85"/>
              <a:t> </a:t>
            </a:r>
            <a:r>
              <a:rPr dirty="0" spc="-25"/>
              <a:t>Intrusion/Anomaly</a:t>
            </a:r>
            <a:r>
              <a:rPr dirty="0" spc="-90"/>
              <a:t> </a:t>
            </a:r>
            <a:r>
              <a:rPr dirty="0" spc="-10"/>
              <a:t>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DELL</dc:creator>
  <dc:title>CLOUD COMPUTING</dc:title>
  <dcterms:created xsi:type="dcterms:W3CDTF">2025-10-04T06:03:40Z</dcterms:created>
  <dcterms:modified xsi:type="dcterms:W3CDTF">2025-10-04T06:03:40Z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2025-10-04T00:00:00Z</vt:filetime>
  </property>
  <property fmtid="{D5CDD505-2E9C-101B-9397-08002B2CF9AE}" pid="5" name="Producer">
    <vt:lpwstr>Microsoft® PowerPoint® 2019</vt:lpwstr>
  </property>
</Properties>
</file>